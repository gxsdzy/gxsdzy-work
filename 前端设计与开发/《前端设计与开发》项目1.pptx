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58"/>
  </p:notesMasterIdLst>
  <p:handoutMasterIdLst>
    <p:handoutMasterId r:id="rId59"/>
  </p:handoutMasterIdLst>
  <p:sldIdLst>
    <p:sldId id="546" r:id="rId3"/>
    <p:sldId id="548" r:id="rId4"/>
    <p:sldId id="2016" r:id="rId5"/>
    <p:sldId id="550" r:id="rId6"/>
    <p:sldId id="552" r:id="rId7"/>
    <p:sldId id="553" r:id="rId8"/>
    <p:sldId id="309" r:id="rId9"/>
    <p:sldId id="1968" r:id="rId10"/>
    <p:sldId id="1969" r:id="rId11"/>
    <p:sldId id="1971" r:id="rId12"/>
    <p:sldId id="1379" r:id="rId13"/>
    <p:sldId id="1439" r:id="rId14"/>
    <p:sldId id="1440" r:id="rId15"/>
    <p:sldId id="1441" r:id="rId16"/>
    <p:sldId id="2015" r:id="rId17"/>
    <p:sldId id="1442" r:id="rId18"/>
    <p:sldId id="1973" r:id="rId19"/>
    <p:sldId id="1445" r:id="rId20"/>
    <p:sldId id="1385" r:id="rId21"/>
    <p:sldId id="1976" r:id="rId22"/>
    <p:sldId id="1978" r:id="rId23"/>
    <p:sldId id="1979" r:id="rId24"/>
    <p:sldId id="561" r:id="rId25"/>
    <p:sldId id="1981" r:id="rId26"/>
    <p:sldId id="565" r:id="rId27"/>
    <p:sldId id="1984" r:id="rId28"/>
    <p:sldId id="570" r:id="rId29"/>
    <p:sldId id="569" r:id="rId30"/>
    <p:sldId id="1986" r:id="rId31"/>
    <p:sldId id="1987" r:id="rId32"/>
    <p:sldId id="1988" r:id="rId33"/>
    <p:sldId id="1989" r:id="rId34"/>
    <p:sldId id="1990" r:id="rId35"/>
    <p:sldId id="1993" r:id="rId36"/>
    <p:sldId id="1994" r:id="rId37"/>
    <p:sldId id="1995" r:id="rId38"/>
    <p:sldId id="1996" r:id="rId39"/>
    <p:sldId id="1997" r:id="rId40"/>
    <p:sldId id="1998" r:id="rId41"/>
    <p:sldId id="1999" r:id="rId42"/>
    <p:sldId id="1464" r:id="rId43"/>
    <p:sldId id="2001" r:id="rId44"/>
    <p:sldId id="2002" r:id="rId45"/>
    <p:sldId id="2003" r:id="rId46"/>
    <p:sldId id="2004" r:id="rId47"/>
    <p:sldId id="2005" r:id="rId48"/>
    <p:sldId id="2007" r:id="rId49"/>
    <p:sldId id="2008" r:id="rId50"/>
    <p:sldId id="2009" r:id="rId51"/>
    <p:sldId id="2010" r:id="rId52"/>
    <p:sldId id="2011" r:id="rId53"/>
    <p:sldId id="2012" r:id="rId54"/>
    <p:sldId id="2013" r:id="rId55"/>
    <p:sldId id="338" r:id="rId56"/>
    <p:sldId id="571" r:id="rId57"/>
  </p:sldIdLst>
  <p:sldSz cx="12192000" cy="6858000"/>
  <p:notesSz cx="6735763" cy="9866313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3448C"/>
    <a:srgbClr val="2469B5"/>
    <a:srgbClr val="2757A6"/>
    <a:srgbClr val="2561AF"/>
    <a:srgbClr val="2467B4"/>
    <a:srgbClr val="1D92DA"/>
    <a:srgbClr val="1D95DD"/>
    <a:srgbClr val="18B4F8"/>
    <a:srgbClr val="275AA9"/>
    <a:srgbClr val="4A7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2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165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D0A63-9040-4BB1-807C-AAD8F3981A70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A202F-DB2C-4A0A-A3E7-3150CA7E1D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【封面】《前端设计与开发》第一次课，任务 1-1 认识网页。本节 40 分钟。</a:t>
            </a:r>
          </a:p>
          <a:p>
            <a:r>
              <a:t>开场顺序：课堂规矩 → 考核方式 → AI 时代导入 → 学习建议与资源 → 课程定位与本课目标 → 正式内容。</a:t>
            </a:r>
          </a:p>
          <a:p>
            <a:r>
              <a:t>课前：提前 10 分钟到教室，投屏倒计时页面 + 播放音乐；铃响即开讲。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【课堂规矩 3 分钟】开学第一课先立规矩，语气平和但明确。</a:t>
            </a:r>
          </a:p>
          <a:p>
            <a:r>
              <a:t>1. 上课时间：本课在第五节（14:40）开始，要求提前 10 分钟进教室做准备。</a:t>
            </a:r>
          </a:p>
          <a:p>
            <a:r>
              <a:t>2. 考勤用学习通随机点名，随时可能；带教材、笔、笔记本；学院领导会巡视；不穿拖鞋。</a:t>
            </a:r>
          </a:p>
          <a:p>
            <a:r>
              <a:t>3. 考勤规定按学院文件逐条念，重点强调“累计 6 节 → 取消考核资格、总评 0 分”和处分梯度。</a:t>
            </a:r>
          </a:p>
          <a:p>
            <a:r>
              <a:t>【课前准备】请提前联系辅导员和班主任，在班群提醒学生带课本、笔、笔记本上课。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4B4BE-9BE3-D413-9736-39623B099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1CF2C-AA2F-FBB9-2DB7-38D976D0F9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AFE85-F1DF-1D69-89E0-25748B483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【课堂规矩 3 分钟】开学第一课先立规矩，语气平和但明确。</a:t>
            </a:r>
          </a:p>
          <a:p>
            <a:r>
              <a:t>1. 上课时间：本课在第五节（14:40）开始，要求提前 10 分钟进教室做准备。</a:t>
            </a:r>
          </a:p>
          <a:p>
            <a:r>
              <a:t>2. 考勤用学习通随机点名，随时可能；带教材、笔、笔记本；学院领导会巡视；不穿拖鞋。</a:t>
            </a:r>
          </a:p>
          <a:p>
            <a:r>
              <a:t>3. 考勤规定按学院文件逐条念，重点强调“累计 6 节 → 取消考核资格、总评 0 分”和处分梯度。</a:t>
            </a:r>
          </a:p>
          <a:p>
            <a:r>
              <a:t>【课前准备】请提前联系辅导员和班主任，在班群提醒学生带课本、笔、笔记本上课。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F5E74-08F7-5E7E-89EA-6F87D772C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2034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【导入 A 2 分钟】</a:t>
            </a:r>
          </a:p>
          <a:p>
            <a:r>
              <a:t>1. 先抛问题让同学举手表态（A 不用学 / B 更要学），不急着给答案。</a:t>
            </a:r>
          </a:p>
          <a:p>
            <a:r>
              <a:t>2. 亮出公式“产出 = 基础 × AI”：AI 是乘号不是加号，基础为 0 乘什么都是 0——这是本节课最想让学生记住的一句话。</a:t>
            </a:r>
          </a:p>
          <a:p>
            <a:r>
              <a:t>3. 三个理由：说得清（术语=坐标系，用“三条杠”vs“汉堡菜单”的对比）；看得懂（AI 完成了任务 ≠ 任务完成了）；基础决定天花板（全栈）。</a:t>
            </a:r>
          </a:p>
          <a:p>
            <a:r>
              <a:t>4. 有条件可现场演示：同一个网页，用模糊提示词和精准提示词各让 AI 改一次，让同学看差别——比讲道理更有说服力。</a:t>
            </a:r>
          </a:p>
          <a:p>
            <a:r>
              <a:t>类比可用：有计算器也要学算术，否则不知道结果对不对；自动驾驶再强，也得先考驾照才能监督它。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【学习建议 2 分钟】</a:t>
            </a:r>
          </a:p>
          <a:p>
            <a:r>
              <a:t>1. 带着项目学：个人博客网站是最合适的项目——学 HTML 搭骨架，学 CSS 换主题，学 JS 加功能，最后部署上线（后面讲静态 / 动态网页时会展开）。</a:t>
            </a:r>
          </a:p>
          <a:p>
            <a:r>
              <a:t>2. 无纸化笔记：每节课开始前新建一个 Markdown 文件记笔记；Obsidian（本地）/ 语雀（网页版）；笔记直接发博客。</a:t>
            </a:r>
          </a:p>
          <a:p>
            <a:r>
              <a:t>3. Git、Markdown 大学不教但必须会，课后自学，几乎没难度。</a:t>
            </a:r>
          </a:p>
          <a:p>
            <a:r>
              <a:t>4. AI 辅助学习：先想 30 秒再问；让它举例子；重要结论核对教材或问老师（幻觉）。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【学习资源 1 分钟】</a:t>
            </a:r>
          </a:p>
          <a:p>
            <a:r>
              <a:t>1. roadmap.sh 的前端路线图：让同学课后自己看一遍，知道整条路长什么样。</a:t>
            </a:r>
          </a:p>
          <a:p>
            <a:r>
              <a:t>2. 三个资源：现代 JavaScript 教程（zh.javascript.info）、MDN 学习 Web 开发（中文）、web.dev。</a:t>
            </a:r>
          </a:p>
          <a:p>
            <a:r>
              <a:t>3. 培养方案的坎：没有 Node.js；学完 HTML/CSS/JS 直接上 Vue 会遇到 ES6+/npm 的坎，需要课后自学补上。</a:t>
            </a:r>
          </a:p>
          <a:p>
            <a:r>
              <a:t>4. 点题：只学教材远远不够，终身学习。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【发展史 2 分钟】</a:t>
            </a:r>
          </a:p>
          <a:p>
            <a:r>
              <a:t>发明人是 Tim Berners-Lee（1989 提出构想，1990–91 做出第一个浏览器和 HTML），W3C 是他 1994 年创立的标准组织——所以 HTML 是人发明的，W3C 是后来管标准的。</a:t>
            </a:r>
          </a:p>
          <a:p>
            <a:r>
              <a:t>WHATWG：2004 年 6 月由 Apple、Mozilla、Opera 的工程师成立（W3C 当时拒绝了他们继续发展 HTML 的提案）；2007 年 W3C 重启 HTML 工作组采用 WHATWG 的草案；2011 年两边分道（WHATWG 活标准 vs W3C 定版快照 5.0 / 5.1 / 5.2）；2019 年 5 月 28 日签备忘录，WHATWG 成为 HTML 和 DOM 的唯一维护者，W3C 参与评审并把评审草案认可为推荐标准（2021 年做过一次）。所以 W3C 没有完全退出，只是不再自己写 HTML 规范。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【CSS 发展 2 分钟】</a:t>
            </a:r>
          </a:p>
          <a:p>
            <a:r>
              <a:t>CSS 的提出者是 Håkon Wium Lie（1994，在 CERN 与 Tim Berners-Lee 共事），Bert Bos 合作完成，1996 年 12 月 CSS1 成为 W3C 推荐标准。</a:t>
            </a:r>
          </a:p>
          <a:p>
            <a:r>
              <a:t>CSS 至今由 W3C 的 CSS 工作组维护（成员多是浏览器厂商），每年出一份 CSS Snapshot 汇总当前稳定的模块；没有官方的 CSS4。</a:t>
            </a:r>
          </a:p>
          <a:p>
            <a:r>
              <a:t>教材更新两点：没有 CSS4（模块化）；现代布局 Flex / Grid。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【JS 不只在浏览器 3 分钟】本节课最重要的“教材更新”。</a:t>
            </a:r>
          </a:p>
          <a:p>
            <a:r>
              <a:t>先读教材原话，盖“已过时”章；讲 Node.js（2009，把 V8 引擎搬出浏览器）；五个运行场景。</a:t>
            </a:r>
          </a:p>
          <a:p>
            <a:r>
              <a:t>亮点：同学们刚装的 VS Code 是 TypeScript/JS 写的；DeepSeek Harness（github.com/deepseek-ai/deepseek-harness）也是 TypeScript 写的，npx @deepseek-ai/dsh 一行命令就能跑，运行在 Node.js 上。</a:t>
            </a:r>
          </a:p>
          <a:p>
            <a:r>
              <a:t>JS 后端运行时：Node.js（2009，Ryan Dahl）、Deno（2018，同样是 Ryan Dahl，支持直接 import 网址上的模块，首次运行下载并缓存）、Bun（2022，Zig 写的，追求速度）；另外还有 Cloudflare Workers、Vercel Edge 这类“边缘运行时”，以及 AWS 的 LLRT。</a:t>
            </a:r>
          </a:p>
          <a:p>
            <a:r>
              <a:t>严谨说明：在网页里，JS 确实运行在客户端（浏览器）——教材那句话描述的是“网页里的 JS”，但作为一门语言它早已不限于此。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【JS 身世 2 分钟】</a:t>
            </a:r>
          </a:p>
          <a:p>
            <a:r>
              <a:t>讲故事：10 天写出来、改名蹭热度、浏览器大战、标准化、ES6 分水岭、每年一版。</a:t>
            </a:r>
          </a:p>
          <a:p>
            <a:r>
              <a:t>教材更新：JScript 退役；JS = ECMAScript + DOM/BOM。</a:t>
            </a:r>
          </a:p>
          <a:p>
            <a:r>
              <a:t>怎么理解“浏览器里的 JS = ECMAScript + DOM/BOM”：ECMAScript 只规定语言本身（语法、变量、函数、数组、Promise……），它不知道网页是什么；DOM 和 BOM 是浏览器额外提供给 JS 的“遥控器”——DOM 控制页面文档，BOM 控制浏览器窗口。同一套 ECMAScript 换到 Node.js 里，遥控器就换成了文件、网络等接口。</a:t>
            </a:r>
          </a:p>
          <a:p>
            <a:r>
              <a:t>Brendan Eich：1995 年在网景 10 天写出 JS，后来共同创办 Mozilla，2015 年创办 Brave 浏览器并任 CEO。</a:t>
            </a:r>
          </a:p>
          <a:p>
            <a:r>
              <a:t>JScript：微软 1996 年的 JS 实现，只活在 IE / Windows 脚本宿主里，随 IE 退役已成历史；微软现在的投入是 TypeScript（2012，Anders Hejlsberg）和 Chromium 版 Edge。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结束页。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9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1.xml"/><Relationship Id="rId4" Type="http://schemas.openxmlformats.org/officeDocument/2006/relationships/tags" Target="../tags/tag70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76.xml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48134"/>
            <a:ext cx="4069080" cy="578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653" y="169435"/>
            <a:ext cx="3154197" cy="71871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4567376" y="303371"/>
            <a:ext cx="30572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天津大学十大优势</a:t>
            </a:r>
          </a:p>
        </p:txBody>
      </p:sp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653" y="169435"/>
            <a:ext cx="3154197" cy="71871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5285521" y="303371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校园风采</a:t>
            </a:r>
          </a:p>
        </p:txBody>
      </p:sp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400938" y="3244334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三</a:t>
            </a:r>
            <a:r>
              <a:rPr lang="en-US" altLang="zh-CN" sz="1800" dirty="0"/>
              <a:t>.</a:t>
            </a:r>
            <a:r>
              <a:rPr lang="zh-CN" altLang="en-US" sz="1800" dirty="0"/>
              <a:t>校园风采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2DE9-0492-451E-AF67-9AF24A86E00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12876"/>
            <a:ext cx="5384800" cy="4392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12876"/>
            <a:ext cx="5384800" cy="4392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</a:defRPr>
            </a:lvl1pPr>
          </a:lstStyle>
          <a:p>
            <a:fld id="{C212DB16-11CA-4DC9-A6F9-37826EE1E37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0"/>
            <a:ext cx="11582400" cy="5805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50000"/>
              </a:spcBef>
              <a:defRPr sz="2000" b="0">
                <a:solidFill>
                  <a:schemeClr val="tx1"/>
                </a:solidFill>
              </a:defRPr>
            </a:lvl1pPr>
          </a:lstStyle>
          <a:p>
            <a:fld id="{677EABCA-4AD2-44D0-90C8-79F8E6FCD1E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48134"/>
            <a:ext cx="4069080" cy="578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653" y="169435"/>
            <a:ext cx="3154197" cy="71871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4567376" y="303371"/>
            <a:ext cx="30572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天津大学十大优势</a:t>
            </a:r>
          </a:p>
        </p:txBody>
      </p:sp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653" y="169435"/>
            <a:ext cx="3154197" cy="71871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5285521" y="303371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校园风采</a:t>
            </a:r>
          </a:p>
        </p:txBody>
      </p:sp>
      <p:sp>
        <p:nvSpPr>
          <p:cNvPr id="9" name="任意多边形 8"/>
          <p:cNvSpPr/>
          <p:nvPr userDrawn="1"/>
        </p:nvSpPr>
        <p:spPr>
          <a:xfrm>
            <a:off x="860840" y="898296"/>
            <a:ext cx="10764000" cy="0"/>
          </a:xfrm>
          <a:custGeom>
            <a:avLst/>
            <a:gdLst>
              <a:gd name="connsiteX0" fmla="*/ 0 w 10392228"/>
              <a:gd name="connsiteY0" fmla="*/ 0 h 0"/>
              <a:gd name="connsiteX1" fmla="*/ 10392228 w 1039222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2228">
                <a:moveTo>
                  <a:pt x="0" y="0"/>
                </a:moveTo>
                <a:lnTo>
                  <a:pt x="10392228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solid"/>
            <a:headEnd type="oval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88000" y="2700000"/>
            <a:ext cx="6300000" cy="252000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6400">
                <a:gradFill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18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88000" y="1584000"/>
            <a:ext cx="6300000" cy="864000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i="1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188000" y="756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188000" y="5580000"/>
            <a:ext cx="2088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9" name="任意多边形: 形状 8"/>
          <p:cNvSpPr/>
          <p:nvPr userDrawn="1">
            <p:custDataLst>
              <p:tags r:id="rId9"/>
            </p:custDataLst>
          </p:nvPr>
        </p:nvSpPr>
        <p:spPr>
          <a:xfrm>
            <a:off x="8303481" y="1"/>
            <a:ext cx="3888439" cy="2990663"/>
          </a:xfrm>
          <a:custGeom>
            <a:avLst/>
            <a:gdLst>
              <a:gd name="connsiteX0" fmla="*/ 701222 w 3888439"/>
              <a:gd name="connsiteY0" fmla="*/ 0 h 2990663"/>
              <a:gd name="connsiteX1" fmla="*/ 1837804 w 3888439"/>
              <a:gd name="connsiteY1" fmla="*/ 0 h 2990663"/>
              <a:gd name="connsiteX2" fmla="*/ 1073370 w 3888439"/>
              <a:gd name="connsiteY2" fmla="*/ 764434 h 2990663"/>
              <a:gd name="connsiteX3" fmla="*/ 1073369 w 3888439"/>
              <a:gd name="connsiteY3" fmla="*/ 1917293 h 2990663"/>
              <a:gd name="connsiteX4" fmla="*/ 2226228 w 3888439"/>
              <a:gd name="connsiteY4" fmla="*/ 1917293 h 2990663"/>
              <a:gd name="connsiteX5" fmla="*/ 3888439 w 3888439"/>
              <a:gd name="connsiteY5" fmla="*/ 255082 h 2990663"/>
              <a:gd name="connsiteX6" fmla="*/ 3888439 w 3888439"/>
              <a:gd name="connsiteY6" fmla="*/ 1391667 h 2990663"/>
              <a:gd name="connsiteX7" fmla="*/ 2763601 w 3888439"/>
              <a:gd name="connsiteY7" fmla="*/ 2516504 h 2990663"/>
              <a:gd name="connsiteX8" fmla="*/ 474159 w 3888439"/>
              <a:gd name="connsiteY8" fmla="*/ 2516504 h 2990663"/>
              <a:gd name="connsiteX9" fmla="*/ 474159 w 3888439"/>
              <a:gd name="connsiteY9" fmla="*/ 2516505 h 2990663"/>
              <a:gd name="connsiteX10" fmla="*/ 474159 w 3888439"/>
              <a:gd name="connsiteY10" fmla="*/ 227063 h 2990663"/>
              <a:gd name="connsiteX11" fmla="*/ 701222 w 3888439"/>
              <a:gd name="connsiteY11" fmla="*/ 0 h 2990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88439" h="2990663">
                <a:moveTo>
                  <a:pt x="701222" y="0"/>
                </a:moveTo>
                <a:lnTo>
                  <a:pt x="1837804" y="0"/>
                </a:lnTo>
                <a:lnTo>
                  <a:pt x="1073370" y="764434"/>
                </a:lnTo>
                <a:cubicBezTo>
                  <a:pt x="755017" y="1082787"/>
                  <a:pt x="755017" y="1598941"/>
                  <a:pt x="1073369" y="1917293"/>
                </a:cubicBezTo>
                <a:cubicBezTo>
                  <a:pt x="1391723" y="2235647"/>
                  <a:pt x="1907876" y="2235648"/>
                  <a:pt x="2226228" y="1917293"/>
                </a:cubicBezTo>
                <a:lnTo>
                  <a:pt x="3888439" y="255082"/>
                </a:lnTo>
                <a:lnTo>
                  <a:pt x="3888439" y="1391667"/>
                </a:lnTo>
                <a:lnTo>
                  <a:pt x="2763601" y="2516504"/>
                </a:lnTo>
                <a:cubicBezTo>
                  <a:pt x="2131388" y="3148717"/>
                  <a:pt x="1106371" y="3148716"/>
                  <a:pt x="474159" y="2516504"/>
                </a:cubicBezTo>
                <a:lnTo>
                  <a:pt x="474159" y="2516505"/>
                </a:lnTo>
                <a:cubicBezTo>
                  <a:pt x="-158053" y="1884293"/>
                  <a:pt x="-158053" y="859275"/>
                  <a:pt x="474159" y="227063"/>
                </a:cubicBezTo>
                <a:lnTo>
                  <a:pt x="701222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140" y="4031014"/>
            <a:ext cx="3367833" cy="2826723"/>
          </a:xfrm>
          <a:custGeom>
            <a:avLst/>
            <a:gdLst>
              <a:gd name="connsiteX0" fmla="*/ 1739345 w 3367833"/>
              <a:gd name="connsiteY0" fmla="*/ 27 h 2826723"/>
              <a:gd name="connsiteX1" fmla="*/ 2879022 w 3367833"/>
              <a:gd name="connsiteY1" fmla="*/ 459570 h 2826723"/>
              <a:gd name="connsiteX2" fmla="*/ 2893839 w 3367833"/>
              <a:gd name="connsiteY2" fmla="*/ 474387 h 2826723"/>
              <a:gd name="connsiteX3" fmla="*/ 2908656 w 3367833"/>
              <a:gd name="connsiteY3" fmla="*/ 489203 h 2826723"/>
              <a:gd name="connsiteX4" fmla="*/ 2893816 w 3367833"/>
              <a:gd name="connsiteY4" fmla="*/ 2763402 h 2826723"/>
              <a:gd name="connsiteX5" fmla="*/ 2830506 w 3367833"/>
              <a:gd name="connsiteY5" fmla="*/ 2826712 h 2826723"/>
              <a:gd name="connsiteX6" fmla="*/ 1693631 w 3367833"/>
              <a:gd name="connsiteY6" fmla="*/ 2826723 h 2826723"/>
              <a:gd name="connsiteX7" fmla="*/ 2294403 w 3367833"/>
              <a:gd name="connsiteY7" fmla="*/ 2225952 h 2826723"/>
              <a:gd name="connsiteX8" fmla="*/ 2294414 w 3367833"/>
              <a:gd name="connsiteY8" fmla="*/ 1073811 h 2826723"/>
              <a:gd name="connsiteX9" fmla="*/ 1141825 w 3367833"/>
              <a:gd name="connsiteY9" fmla="*/ 1073374 h 2826723"/>
              <a:gd name="connsiteX10" fmla="*/ 0 w 3367833"/>
              <a:gd name="connsiteY10" fmla="*/ 2215198 h 2826723"/>
              <a:gd name="connsiteX11" fmla="*/ 11 w 3367833"/>
              <a:gd name="connsiteY11" fmla="*/ 1078324 h 2826723"/>
              <a:gd name="connsiteX12" fmla="*/ 604375 w 3367833"/>
              <a:gd name="connsiteY12" fmla="*/ 473960 h 2826723"/>
              <a:gd name="connsiteX13" fmla="*/ 1739345 w 3367833"/>
              <a:gd name="connsiteY13" fmla="*/ 27 h 282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67833" h="2826723">
                <a:moveTo>
                  <a:pt x="1739345" y="27"/>
                </a:moveTo>
                <a:cubicBezTo>
                  <a:pt x="2150407" y="-2335"/>
                  <a:pt x="2562254" y="150884"/>
                  <a:pt x="2879022" y="459570"/>
                </a:cubicBezTo>
                <a:lnTo>
                  <a:pt x="2893839" y="474387"/>
                </a:lnTo>
                <a:lnTo>
                  <a:pt x="2908656" y="489203"/>
                </a:lnTo>
                <a:cubicBezTo>
                  <a:pt x="3525579" y="1122291"/>
                  <a:pt x="3521079" y="2136139"/>
                  <a:pt x="2893816" y="2763402"/>
                </a:cubicBezTo>
                <a:lnTo>
                  <a:pt x="2830506" y="2826712"/>
                </a:lnTo>
                <a:lnTo>
                  <a:pt x="1693631" y="2826723"/>
                </a:lnTo>
                <a:lnTo>
                  <a:pt x="2294403" y="2225952"/>
                </a:lnTo>
                <a:cubicBezTo>
                  <a:pt x="2612749" y="1907606"/>
                  <a:pt x="2612754" y="1392151"/>
                  <a:pt x="2294414" y="1073811"/>
                </a:cubicBezTo>
                <a:cubicBezTo>
                  <a:pt x="1976075" y="755471"/>
                  <a:pt x="1460171" y="755028"/>
                  <a:pt x="1141825" y="1073374"/>
                </a:cubicBezTo>
                <a:lnTo>
                  <a:pt x="0" y="2215198"/>
                </a:lnTo>
                <a:lnTo>
                  <a:pt x="11" y="1078324"/>
                </a:lnTo>
                <a:lnTo>
                  <a:pt x="604375" y="473960"/>
                </a:lnTo>
                <a:cubicBezTo>
                  <a:pt x="918006" y="160329"/>
                  <a:pt x="1328284" y="2388"/>
                  <a:pt x="1739345" y="2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11"/>
            </p:custDataLst>
          </p:nvPr>
        </p:nvSpPr>
        <p:spPr>
          <a:xfrm>
            <a:off x="7951867" y="1"/>
            <a:ext cx="4240054" cy="5117611"/>
          </a:xfrm>
          <a:custGeom>
            <a:avLst/>
            <a:gdLst>
              <a:gd name="connsiteX0" fmla="*/ 2828170 w 4240054"/>
              <a:gd name="connsiteY0" fmla="*/ 0 h 5117611"/>
              <a:gd name="connsiteX1" fmla="*/ 3964752 w 4240054"/>
              <a:gd name="connsiteY1" fmla="*/ 0 h 5117611"/>
              <a:gd name="connsiteX2" fmla="*/ 1073370 w 4240054"/>
              <a:gd name="connsiteY2" fmla="*/ 2891382 h 5117611"/>
              <a:gd name="connsiteX3" fmla="*/ 1073369 w 4240054"/>
              <a:gd name="connsiteY3" fmla="*/ 4044241 h 5117611"/>
              <a:gd name="connsiteX4" fmla="*/ 2226228 w 4240054"/>
              <a:gd name="connsiteY4" fmla="*/ 4044241 h 5117611"/>
              <a:gd name="connsiteX5" fmla="*/ 4240053 w 4240054"/>
              <a:gd name="connsiteY5" fmla="*/ 2030415 h 5117611"/>
              <a:gd name="connsiteX6" fmla="*/ 4240054 w 4240054"/>
              <a:gd name="connsiteY6" fmla="*/ 3166999 h 5117611"/>
              <a:gd name="connsiteX7" fmla="*/ 2763600 w 4240054"/>
              <a:gd name="connsiteY7" fmla="*/ 4643452 h 5117611"/>
              <a:gd name="connsiteX8" fmla="*/ 597109 w 4240054"/>
              <a:gd name="connsiteY8" fmla="*/ 4754583 h 5117611"/>
              <a:gd name="connsiteX9" fmla="*/ 474159 w 4240054"/>
              <a:gd name="connsiteY9" fmla="*/ 4643453 h 5117611"/>
              <a:gd name="connsiteX10" fmla="*/ 363028 w 4240054"/>
              <a:gd name="connsiteY10" fmla="*/ 4520502 h 5117611"/>
              <a:gd name="connsiteX11" fmla="*/ 474159 w 4240054"/>
              <a:gd name="connsiteY11" fmla="*/ 2354011 h 5117611"/>
              <a:gd name="connsiteX12" fmla="*/ 2828170 w 4240054"/>
              <a:gd name="connsiteY12" fmla="*/ 0 h 5117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054" h="5117611">
                <a:moveTo>
                  <a:pt x="2828170" y="0"/>
                </a:moveTo>
                <a:lnTo>
                  <a:pt x="3964752" y="0"/>
                </a:lnTo>
                <a:lnTo>
                  <a:pt x="1073370" y="2891382"/>
                </a:lnTo>
                <a:cubicBezTo>
                  <a:pt x="755017" y="3209735"/>
                  <a:pt x="755017" y="3725889"/>
                  <a:pt x="1073369" y="4044241"/>
                </a:cubicBezTo>
                <a:cubicBezTo>
                  <a:pt x="1391723" y="4362595"/>
                  <a:pt x="1907875" y="4362595"/>
                  <a:pt x="2226228" y="4044241"/>
                </a:cubicBezTo>
                <a:lnTo>
                  <a:pt x="4240053" y="2030415"/>
                </a:lnTo>
                <a:lnTo>
                  <a:pt x="4240054" y="3166999"/>
                </a:lnTo>
                <a:lnTo>
                  <a:pt x="2763600" y="4643452"/>
                </a:lnTo>
                <a:cubicBezTo>
                  <a:pt x="2170901" y="5236151"/>
                  <a:pt x="1232963" y="5273195"/>
                  <a:pt x="597109" y="4754583"/>
                </a:cubicBezTo>
                <a:lnTo>
                  <a:pt x="474159" y="4643453"/>
                </a:lnTo>
                <a:lnTo>
                  <a:pt x="363028" y="4520502"/>
                </a:lnTo>
                <a:cubicBezTo>
                  <a:pt x="-155583" y="3884647"/>
                  <a:pt x="-118540" y="2946710"/>
                  <a:pt x="474159" y="2354011"/>
                </a:cubicBezTo>
                <a:lnTo>
                  <a:pt x="28281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368000" y="874800"/>
            <a:ext cx="3456000" cy="1081088"/>
          </a:xfrm>
          <a:noFill/>
        </p:spPr>
        <p:txBody>
          <a:bodyPr wrap="square" anchor="ctr">
            <a:normAutofit/>
          </a:bodyPr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6"/>
            </p:custDataLst>
          </p:nvPr>
        </p:nvSpPr>
        <p:spPr>
          <a:xfrm>
            <a:off x="0" y="1"/>
            <a:ext cx="3257576" cy="1491245"/>
          </a:xfrm>
          <a:custGeom>
            <a:avLst/>
            <a:gdLst>
              <a:gd name="connsiteX0" fmla="*/ 2403742 w 3257576"/>
              <a:gd name="connsiteY0" fmla="*/ 0 h 1491245"/>
              <a:gd name="connsiteX1" fmla="*/ 3257576 w 3257576"/>
              <a:gd name="connsiteY1" fmla="*/ 0 h 1491245"/>
              <a:gd name="connsiteX2" fmla="*/ 3255663 w 3257576"/>
              <a:gd name="connsiteY2" fmla="*/ 37886 h 1491245"/>
              <a:gd name="connsiteX3" fmla="*/ 1645141 w 3257576"/>
              <a:gd name="connsiteY3" fmla="*/ 1491245 h 1491245"/>
              <a:gd name="connsiteX4" fmla="*/ 0 w 3257576"/>
              <a:gd name="connsiteY4" fmla="*/ 1491245 h 1491245"/>
              <a:gd name="connsiteX5" fmla="*/ 0 w 3257576"/>
              <a:gd name="connsiteY5" fmla="*/ 687558 h 1491245"/>
              <a:gd name="connsiteX6" fmla="*/ 1601415 w 3257576"/>
              <a:gd name="connsiteY6" fmla="*/ 687558 h 1491245"/>
              <a:gd name="connsiteX7" fmla="*/ 2400047 w 3257576"/>
              <a:gd name="connsiteY7" fmla="*/ 36654 h 149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7576" h="1491245">
                <a:moveTo>
                  <a:pt x="2403742" y="0"/>
                </a:moveTo>
                <a:lnTo>
                  <a:pt x="3257576" y="0"/>
                </a:lnTo>
                <a:lnTo>
                  <a:pt x="3255663" y="37886"/>
                </a:lnTo>
                <a:cubicBezTo>
                  <a:pt x="3172760" y="854217"/>
                  <a:pt x="2483344" y="1491245"/>
                  <a:pt x="1645141" y="1491245"/>
                </a:cubicBezTo>
                <a:lnTo>
                  <a:pt x="0" y="1491245"/>
                </a:lnTo>
                <a:lnTo>
                  <a:pt x="0" y="687558"/>
                </a:lnTo>
                <a:lnTo>
                  <a:pt x="1601415" y="687558"/>
                </a:lnTo>
                <a:cubicBezTo>
                  <a:pt x="1995357" y="687558"/>
                  <a:pt x="2324033" y="408124"/>
                  <a:pt x="2400047" y="36654"/>
                </a:cubicBezTo>
                <a:close/>
              </a:path>
            </a:pathLst>
          </a:cu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8581100" y="5555986"/>
            <a:ext cx="3610900" cy="1302015"/>
          </a:xfrm>
          <a:custGeom>
            <a:avLst/>
            <a:gdLst>
              <a:gd name="connsiteX0" fmla="*/ 1580630 w 3610900"/>
              <a:gd name="connsiteY0" fmla="*/ 0 h 1302015"/>
              <a:gd name="connsiteX1" fmla="*/ 3610900 w 3610900"/>
              <a:gd name="connsiteY1" fmla="*/ 0 h 1302015"/>
              <a:gd name="connsiteX2" fmla="*/ 3610900 w 3610900"/>
              <a:gd name="connsiteY2" fmla="*/ 803685 h 1302015"/>
              <a:gd name="connsiteX3" fmla="*/ 1624357 w 3610900"/>
              <a:gd name="connsiteY3" fmla="*/ 803685 h 1302015"/>
              <a:gd name="connsiteX4" fmla="*/ 873224 w 3610900"/>
              <a:gd name="connsiteY4" fmla="*/ 1301570 h 1302015"/>
              <a:gd name="connsiteX5" fmla="*/ 873086 w 3610900"/>
              <a:gd name="connsiteY5" fmla="*/ 1302015 h 1302015"/>
              <a:gd name="connsiteX6" fmla="*/ 0 w 3610900"/>
              <a:gd name="connsiteY6" fmla="*/ 1302015 h 1302015"/>
              <a:gd name="connsiteX7" fmla="*/ 28733 w 3610900"/>
              <a:gd name="connsiteY7" fmla="*/ 1156534 h 1302015"/>
              <a:gd name="connsiteX8" fmla="*/ 1580630 w 3610900"/>
              <a:gd name="connsiteY8" fmla="*/ 0 h 1302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0900" h="1302015">
                <a:moveTo>
                  <a:pt x="1580630" y="0"/>
                </a:moveTo>
                <a:lnTo>
                  <a:pt x="3610900" y="0"/>
                </a:lnTo>
                <a:lnTo>
                  <a:pt x="3610900" y="803685"/>
                </a:lnTo>
                <a:lnTo>
                  <a:pt x="1624357" y="803685"/>
                </a:lnTo>
                <a:cubicBezTo>
                  <a:pt x="1286693" y="803685"/>
                  <a:pt x="996978" y="1008984"/>
                  <a:pt x="873224" y="1301570"/>
                </a:cubicBezTo>
                <a:lnTo>
                  <a:pt x="873086" y="1302015"/>
                </a:lnTo>
                <a:lnTo>
                  <a:pt x="0" y="1302015"/>
                </a:lnTo>
                <a:lnTo>
                  <a:pt x="28733" y="1156534"/>
                </a:lnTo>
                <a:cubicBezTo>
                  <a:pt x="227690" y="487725"/>
                  <a:pt x="847202" y="0"/>
                  <a:pt x="1580630" y="0"/>
                </a:cubicBezTo>
                <a:close/>
              </a:path>
            </a:pathLst>
          </a:cu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776000" y="3546000"/>
            <a:ext cx="8640000" cy="1404000"/>
          </a:xfrm>
        </p:spPr>
        <p:txBody>
          <a:bodyPr wrap="square" anchor="t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2015000" y="1512000"/>
            <a:ext cx="8162000" cy="1800000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5400" b="1">
                <a:solidFill>
                  <a:schemeClr val="tx1">
                    <a:alpha val="68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7"/>
            </p:custDataLst>
          </p:nvPr>
        </p:nvSpPr>
        <p:spPr>
          <a:xfrm>
            <a:off x="7817360" y="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8"/>
            </p:custDataLst>
          </p:nvPr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0" y="4345312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 userDrawn="1">
            <p:custDataLst>
              <p:tags r:id="rId2"/>
            </p:custDataLst>
          </p:nvPr>
        </p:nvSpPr>
        <p:spPr>
          <a:xfrm>
            <a:off x="0" y="3971178"/>
            <a:ext cx="3368041" cy="2886822"/>
          </a:xfrm>
          <a:custGeom>
            <a:avLst/>
            <a:gdLst>
              <a:gd name="connsiteX0" fmla="*/ 1749162 w 3368041"/>
              <a:gd name="connsiteY0" fmla="*/ 1 h 2886822"/>
              <a:gd name="connsiteX1" fmla="*/ 2893883 w 3368041"/>
              <a:gd name="connsiteY1" fmla="*/ 474160 h 2886822"/>
              <a:gd name="connsiteX2" fmla="*/ 2893882 w 3368041"/>
              <a:gd name="connsiteY2" fmla="*/ 474161 h 2886822"/>
              <a:gd name="connsiteX3" fmla="*/ 2893882 w 3368041"/>
              <a:gd name="connsiteY3" fmla="*/ 2763603 h 2886822"/>
              <a:gd name="connsiteX4" fmla="*/ 2770663 w 3368041"/>
              <a:gd name="connsiteY4" fmla="*/ 2886822 h 2886822"/>
              <a:gd name="connsiteX5" fmla="*/ 1634078 w 3368041"/>
              <a:gd name="connsiteY5" fmla="*/ 2886822 h 2886822"/>
              <a:gd name="connsiteX6" fmla="*/ 2294671 w 3368041"/>
              <a:gd name="connsiteY6" fmla="*/ 2226229 h 2886822"/>
              <a:gd name="connsiteX7" fmla="*/ 2294671 w 3368041"/>
              <a:gd name="connsiteY7" fmla="*/ 1073371 h 2886822"/>
              <a:gd name="connsiteX8" fmla="*/ 1718242 w 3368041"/>
              <a:gd name="connsiteY8" fmla="*/ 834606 h 2886822"/>
              <a:gd name="connsiteX9" fmla="*/ 1141812 w 3368041"/>
              <a:gd name="connsiteY9" fmla="*/ 1073371 h 2886822"/>
              <a:gd name="connsiteX10" fmla="*/ 0 w 3368041"/>
              <a:gd name="connsiteY10" fmla="*/ 2215183 h 2886822"/>
              <a:gd name="connsiteX11" fmla="*/ 0 w 3368041"/>
              <a:gd name="connsiteY11" fmla="*/ 1078600 h 2886822"/>
              <a:gd name="connsiteX12" fmla="*/ 604441 w 3368041"/>
              <a:gd name="connsiteY12" fmla="*/ 474160 h 2886822"/>
              <a:gd name="connsiteX13" fmla="*/ 1749162 w 3368041"/>
              <a:gd name="connsiteY13" fmla="*/ 1 h 288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68041" h="2886822">
                <a:moveTo>
                  <a:pt x="1749162" y="1"/>
                </a:moveTo>
                <a:cubicBezTo>
                  <a:pt x="2163469" y="0"/>
                  <a:pt x="2577777" y="158053"/>
                  <a:pt x="2893883" y="474160"/>
                </a:cubicBezTo>
                <a:lnTo>
                  <a:pt x="2893882" y="474161"/>
                </a:lnTo>
                <a:cubicBezTo>
                  <a:pt x="3526094" y="1106373"/>
                  <a:pt x="3526094" y="2131391"/>
                  <a:pt x="2893882" y="2763603"/>
                </a:cubicBezTo>
                <a:lnTo>
                  <a:pt x="2770663" y="2886822"/>
                </a:lnTo>
                <a:lnTo>
                  <a:pt x="1634078" y="2886822"/>
                </a:lnTo>
                <a:lnTo>
                  <a:pt x="2294671" y="2226229"/>
                </a:lnTo>
                <a:cubicBezTo>
                  <a:pt x="2613024" y="1907876"/>
                  <a:pt x="2613024" y="1391724"/>
                  <a:pt x="2294671" y="1073371"/>
                </a:cubicBezTo>
                <a:cubicBezTo>
                  <a:pt x="2135495" y="914195"/>
                  <a:pt x="1926868" y="834606"/>
                  <a:pt x="1718242" y="834606"/>
                </a:cubicBezTo>
                <a:cubicBezTo>
                  <a:pt x="1509615" y="834606"/>
                  <a:pt x="1300989" y="914194"/>
                  <a:pt x="1141812" y="1073371"/>
                </a:cubicBezTo>
                <a:lnTo>
                  <a:pt x="0" y="2215183"/>
                </a:lnTo>
                <a:lnTo>
                  <a:pt x="0" y="1078600"/>
                </a:lnTo>
                <a:lnTo>
                  <a:pt x="604441" y="474160"/>
                </a:lnTo>
                <a:cubicBezTo>
                  <a:pt x="920547" y="158053"/>
                  <a:pt x="1334855" y="0"/>
                  <a:pt x="1749162" y="1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08800" y="1944000"/>
            <a:ext cx="6408000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gradFill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108800" y="828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108800" y="40932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47" name="图形 45"/>
          <p:cNvSpPr/>
          <p:nvPr>
            <p:custDataLst>
              <p:tags r:id="rId9"/>
            </p:custDataLst>
          </p:nvPr>
        </p:nvSpPr>
        <p:spPr>
          <a:xfrm>
            <a:off x="9070308" y="0"/>
            <a:ext cx="3121692" cy="5295900"/>
          </a:xfrm>
          <a:custGeom>
            <a:avLst/>
            <a:gdLst>
              <a:gd name="connsiteX0" fmla="*/ 2257901 w 2342673"/>
              <a:gd name="connsiteY0" fmla="*/ 0 h 3974306"/>
              <a:gd name="connsiteX1" fmla="*/ 2342674 w 2342673"/>
              <a:gd name="connsiteY1" fmla="*/ 0 h 3974306"/>
              <a:gd name="connsiteX2" fmla="*/ 2342674 w 2342673"/>
              <a:gd name="connsiteY2" fmla="*/ 767715 h 3974306"/>
              <a:gd name="connsiteX3" fmla="*/ 805339 w 2342673"/>
              <a:gd name="connsiteY3" fmla="*/ 2304098 h 3974306"/>
              <a:gd name="connsiteX4" fmla="*/ 805339 w 2342673"/>
              <a:gd name="connsiteY4" fmla="*/ 3168968 h 3974306"/>
              <a:gd name="connsiteX5" fmla="*/ 1670209 w 2342673"/>
              <a:gd name="connsiteY5" fmla="*/ 3168968 h 3974306"/>
              <a:gd name="connsiteX6" fmla="*/ 2342674 w 2342673"/>
              <a:gd name="connsiteY6" fmla="*/ 2496503 h 3974306"/>
              <a:gd name="connsiteX7" fmla="*/ 2342674 w 2342673"/>
              <a:gd name="connsiteY7" fmla="*/ 3348990 h 3974306"/>
              <a:gd name="connsiteX8" fmla="*/ 2073116 w 2342673"/>
              <a:gd name="connsiteY8" fmla="*/ 3618548 h 3974306"/>
              <a:gd name="connsiteX9" fmla="*/ 355759 w 2342673"/>
              <a:gd name="connsiteY9" fmla="*/ 3618548 h 3974306"/>
              <a:gd name="connsiteX10" fmla="*/ 355759 w 2342673"/>
              <a:gd name="connsiteY10" fmla="*/ 3618548 h 3974306"/>
              <a:gd name="connsiteX11" fmla="*/ 355759 w 2342673"/>
              <a:gd name="connsiteY11" fmla="*/ 1901190 h 3974306"/>
              <a:gd name="connsiteX12" fmla="*/ 2257901 w 2342673"/>
              <a:gd name="connsiteY12" fmla="*/ 0 h 3974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42673" h="3974306">
                <a:moveTo>
                  <a:pt x="2257901" y="0"/>
                </a:moveTo>
                <a:lnTo>
                  <a:pt x="2342674" y="0"/>
                </a:lnTo>
                <a:lnTo>
                  <a:pt x="2342674" y="767715"/>
                </a:lnTo>
                <a:lnTo>
                  <a:pt x="805339" y="2304098"/>
                </a:lnTo>
                <a:cubicBezTo>
                  <a:pt x="566261" y="2543175"/>
                  <a:pt x="566261" y="2929890"/>
                  <a:pt x="805339" y="3168968"/>
                </a:cubicBezTo>
                <a:cubicBezTo>
                  <a:pt x="1044416" y="3408045"/>
                  <a:pt x="1431131" y="3408045"/>
                  <a:pt x="1670209" y="3168968"/>
                </a:cubicBezTo>
                <a:lnTo>
                  <a:pt x="2342674" y="2496503"/>
                </a:lnTo>
                <a:lnTo>
                  <a:pt x="2342674" y="3348990"/>
                </a:lnTo>
                <a:lnTo>
                  <a:pt x="2073116" y="3618548"/>
                </a:lnTo>
                <a:cubicBezTo>
                  <a:pt x="1598771" y="4092893"/>
                  <a:pt x="830104" y="4092893"/>
                  <a:pt x="355759" y="3618548"/>
                </a:cubicBezTo>
                <a:lnTo>
                  <a:pt x="355759" y="3618548"/>
                </a:lnTo>
                <a:cubicBezTo>
                  <a:pt x="-118586" y="3144203"/>
                  <a:pt x="-118586" y="2375535"/>
                  <a:pt x="355759" y="1901190"/>
                </a:cubicBezTo>
                <a:lnTo>
                  <a:pt x="225790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任意多边形: 形状 6"/>
          <p:cNvSpPr/>
          <p:nvPr userDrawn="1">
            <p:custDataLst>
              <p:tags r:id="rId10"/>
            </p:custDataLst>
          </p:nvPr>
        </p:nvSpPr>
        <p:spPr>
          <a:xfrm>
            <a:off x="9281163" y="0"/>
            <a:ext cx="2910837" cy="3267626"/>
          </a:xfrm>
          <a:custGeom>
            <a:avLst/>
            <a:gdLst>
              <a:gd name="connsiteX0" fmla="*/ 978185 w 2910837"/>
              <a:gd name="connsiteY0" fmla="*/ 0 h 3267626"/>
              <a:gd name="connsiteX1" fmla="*/ 2114766 w 2910837"/>
              <a:gd name="connsiteY1" fmla="*/ 1 h 3267626"/>
              <a:gd name="connsiteX2" fmla="*/ 1073370 w 2910837"/>
              <a:gd name="connsiteY2" fmla="*/ 1041397 h 3267626"/>
              <a:gd name="connsiteX3" fmla="*/ 1073370 w 2910837"/>
              <a:gd name="connsiteY3" fmla="*/ 2194256 h 3267626"/>
              <a:gd name="connsiteX4" fmla="*/ 2226228 w 2910837"/>
              <a:gd name="connsiteY4" fmla="*/ 2194256 h 3267626"/>
              <a:gd name="connsiteX5" fmla="*/ 2910837 w 2910837"/>
              <a:gd name="connsiteY5" fmla="*/ 1509647 h 3267626"/>
              <a:gd name="connsiteX6" fmla="*/ 2910837 w 2910837"/>
              <a:gd name="connsiteY6" fmla="*/ 2646231 h 3267626"/>
              <a:gd name="connsiteX7" fmla="*/ 2763601 w 2910837"/>
              <a:gd name="connsiteY7" fmla="*/ 2793466 h 3267626"/>
              <a:gd name="connsiteX8" fmla="*/ 597110 w 2910837"/>
              <a:gd name="connsiteY8" fmla="*/ 2904597 h 3267626"/>
              <a:gd name="connsiteX9" fmla="*/ 474160 w 2910837"/>
              <a:gd name="connsiteY9" fmla="*/ 2793467 h 3267626"/>
              <a:gd name="connsiteX10" fmla="*/ 363029 w 2910837"/>
              <a:gd name="connsiteY10" fmla="*/ 2670516 h 3267626"/>
              <a:gd name="connsiteX11" fmla="*/ 474160 w 2910837"/>
              <a:gd name="connsiteY11" fmla="*/ 504025 h 3267626"/>
              <a:gd name="connsiteX12" fmla="*/ 978185 w 2910837"/>
              <a:gd name="connsiteY12" fmla="*/ 0 h 326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10837" h="3267626">
                <a:moveTo>
                  <a:pt x="978185" y="0"/>
                </a:moveTo>
                <a:lnTo>
                  <a:pt x="2114766" y="1"/>
                </a:lnTo>
                <a:lnTo>
                  <a:pt x="1073370" y="1041397"/>
                </a:lnTo>
                <a:cubicBezTo>
                  <a:pt x="755017" y="1359749"/>
                  <a:pt x="755017" y="1875903"/>
                  <a:pt x="1073370" y="2194256"/>
                </a:cubicBezTo>
                <a:cubicBezTo>
                  <a:pt x="1391723" y="2512609"/>
                  <a:pt x="1907876" y="2512609"/>
                  <a:pt x="2226228" y="2194256"/>
                </a:cubicBezTo>
                <a:lnTo>
                  <a:pt x="2910837" y="1509647"/>
                </a:lnTo>
                <a:lnTo>
                  <a:pt x="2910837" y="2646231"/>
                </a:lnTo>
                <a:lnTo>
                  <a:pt x="2763601" y="2793466"/>
                </a:lnTo>
                <a:cubicBezTo>
                  <a:pt x="2170902" y="3386166"/>
                  <a:pt x="1232964" y="3423210"/>
                  <a:pt x="597110" y="2904597"/>
                </a:cubicBezTo>
                <a:lnTo>
                  <a:pt x="474160" y="2793467"/>
                </a:lnTo>
                <a:lnTo>
                  <a:pt x="363029" y="2670516"/>
                </a:lnTo>
                <a:cubicBezTo>
                  <a:pt x="-155583" y="2034662"/>
                  <a:pt x="-118540" y="1096724"/>
                  <a:pt x="474160" y="504025"/>
                </a:cubicBezTo>
                <a:lnTo>
                  <a:pt x="978185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1" y="2202441"/>
            <a:ext cx="12192000" cy="241970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sz="1800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sz="1800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sz="1800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sz="1800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698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20203" y="1699760"/>
            <a:ext cx="576064" cy="577112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80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 sz="1800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2011" y="1700285"/>
            <a:ext cx="576064" cy="576064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80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 sz="1800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6108" y="1699760"/>
            <a:ext cx="577111" cy="577112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80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 sz="1800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819" y="1699760"/>
            <a:ext cx="577111" cy="577112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80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 sz="1800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916" y="1699760"/>
            <a:ext cx="577111" cy="577112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80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 sz="18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815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1675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21.xml"/><Relationship Id="rId21" Type="http://schemas.openxmlformats.org/officeDocument/2006/relationships/tags" Target="../tags/tag8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0.xml"/><Relationship Id="rId16" Type="http://schemas.openxmlformats.org/officeDocument/2006/relationships/tags" Target="../tags/tag3.xml"/><Relationship Id="rId20" Type="http://schemas.openxmlformats.org/officeDocument/2006/relationships/tags" Target="../tags/tag7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28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2.xml"/><Relationship Id="rId22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02DE9-0492-451E-AF67-9AF24A86E00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B04A5-079A-44ED-B491-E88958689C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21"/>
            </p:custDataLst>
          </p:nvPr>
        </p:nvSpPr>
        <p:spPr>
          <a:xfrm>
            <a:off x="10493375" y="0"/>
            <a:ext cx="1698625" cy="1416050"/>
          </a:xfrm>
          <a:custGeom>
            <a:avLst/>
            <a:gdLst>
              <a:gd name="connsiteX0" fmla="*/ 245177 w 2478363"/>
              <a:gd name="connsiteY0" fmla="*/ 0 h 2064784"/>
              <a:gd name="connsiteX1" fmla="*/ 1332458 w 2478363"/>
              <a:gd name="connsiteY1" fmla="*/ 1 h 2064784"/>
              <a:gd name="connsiteX2" fmla="*/ 969061 w 2478363"/>
              <a:gd name="connsiteY2" fmla="*/ 363398 h 2064784"/>
              <a:gd name="connsiteX3" fmla="*/ 905436 w 2478363"/>
              <a:gd name="connsiteY3" fmla="*/ 987699 h 2064784"/>
              <a:gd name="connsiteX4" fmla="*/ 969061 w 2478363"/>
              <a:gd name="connsiteY4" fmla="*/ 1065590 h 2064784"/>
              <a:gd name="connsiteX5" fmla="*/ 1046951 w 2478363"/>
              <a:gd name="connsiteY5" fmla="*/ 1129215 h 2064784"/>
              <a:gd name="connsiteX6" fmla="*/ 1671253 w 2478363"/>
              <a:gd name="connsiteY6" fmla="*/ 1065589 h 2064784"/>
              <a:gd name="connsiteX7" fmla="*/ 2478363 w 2478363"/>
              <a:gd name="connsiteY7" fmla="*/ 258481 h 2064784"/>
              <a:gd name="connsiteX8" fmla="*/ 2478362 w 2478363"/>
              <a:gd name="connsiteY8" fmla="*/ 1436994 h 2064784"/>
              <a:gd name="connsiteX9" fmla="*/ 2233837 w 2478363"/>
              <a:gd name="connsiteY9" fmla="*/ 1681519 h 2064784"/>
              <a:gd name="connsiteX10" fmla="*/ 383266 w 2478363"/>
              <a:gd name="connsiteY10" fmla="*/ 1681519 h 2064784"/>
              <a:gd name="connsiteX11" fmla="*/ 215587 w 2478363"/>
              <a:gd name="connsiteY11" fmla="*/ 36224 h 2064784"/>
              <a:gd name="connsiteX12" fmla="*/ 245177 w 2478363"/>
              <a:gd name="connsiteY12" fmla="*/ 0 h 2064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363" h="2064784">
                <a:moveTo>
                  <a:pt x="245177" y="0"/>
                </a:moveTo>
                <a:lnTo>
                  <a:pt x="1332458" y="1"/>
                </a:lnTo>
                <a:lnTo>
                  <a:pt x="969061" y="363398"/>
                </a:lnTo>
                <a:cubicBezTo>
                  <a:pt x="799394" y="533064"/>
                  <a:pt x="778186" y="794972"/>
                  <a:pt x="905436" y="987699"/>
                </a:cubicBezTo>
                <a:lnTo>
                  <a:pt x="969061" y="1065590"/>
                </a:lnTo>
                <a:lnTo>
                  <a:pt x="1046951" y="1129215"/>
                </a:lnTo>
                <a:cubicBezTo>
                  <a:pt x="1239678" y="1256464"/>
                  <a:pt x="1501586" y="1235256"/>
                  <a:pt x="1671253" y="1065589"/>
                </a:cubicBezTo>
                <a:lnTo>
                  <a:pt x="2478363" y="258481"/>
                </a:lnTo>
                <a:lnTo>
                  <a:pt x="2478362" y="1436994"/>
                </a:lnTo>
                <a:lnTo>
                  <a:pt x="2233837" y="1681519"/>
                </a:lnTo>
                <a:cubicBezTo>
                  <a:pt x="1722816" y="2192540"/>
                  <a:pt x="894287" y="2192540"/>
                  <a:pt x="383266" y="1681519"/>
                </a:cubicBezTo>
                <a:cubicBezTo>
                  <a:pt x="-63877" y="1234376"/>
                  <a:pt x="-119770" y="544141"/>
                  <a:pt x="215587" y="36224"/>
                </a:cubicBezTo>
                <a:lnTo>
                  <a:pt x="245177" y="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81" r:id="rId12"/>
    <p:sldLayoutId id="2147483682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84.xml"/><Relationship Id="rId7" Type="http://schemas.openxmlformats.org/officeDocument/2006/relationships/image" Target="../media/image4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3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html.spec.whatwg.org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45.jpeg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7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59"/>
          <a:stretch>
            <a:fillRect/>
          </a:stretch>
        </p:blipFill>
        <p:spPr>
          <a:xfrm>
            <a:off x="-141605" y="0"/>
            <a:ext cx="12414250" cy="6318250"/>
          </a:xfrm>
          <a:prstGeom prst="rect">
            <a:avLst/>
          </a:prstGeom>
        </p:spPr>
      </p:pic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140970" y="1334135"/>
            <a:ext cx="12413615" cy="2463165"/>
          </a:xfrm>
          <a:prstGeom prst="rect">
            <a:avLst/>
          </a:prstGeom>
          <a:solidFill>
            <a:schemeClr val="accent1">
              <a:alpha val="61000"/>
            </a:schemeClr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-17145" y="1297305"/>
            <a:ext cx="12208510" cy="2501265"/>
          </a:xfrm>
          <a:prstGeom prst="rect">
            <a:avLst/>
          </a:prstGeom>
          <a:noFill/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kern="1400" spc="50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前端设计与开发</a:t>
            </a:r>
            <a:endParaRPr lang="en-US" sz="4000" b="1" kern="1400" spc="5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sz="3600" b="1" kern="1400" spc="20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</a:t>
            </a:r>
            <a:r>
              <a:rPr lang="en-US" sz="3600" b="1" kern="1400" spc="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 ·</a:t>
            </a:r>
            <a:r>
              <a:rPr lang="zh-CN" altLang="en-US" sz="3600" b="1" kern="1400" spc="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网页制作基础知识</a:t>
            </a:r>
            <a:endParaRPr lang="en-US" sz="3600" b="1" kern="1400" spc="5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8076565" y="3881923"/>
            <a:ext cx="411480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授课人：顾佳凯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授课班级：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26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计算机应用技术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班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授课日期：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2026/9/17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广西水利电力标识【白边】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530" y="148590"/>
            <a:ext cx="4882515" cy="856615"/>
          </a:xfrm>
          <a:prstGeom prst="rect">
            <a:avLst/>
          </a:prstGeom>
        </p:spPr>
      </p:pic>
      <p:pic>
        <p:nvPicPr>
          <p:cNvPr id="7" name="图片 6" descr="插画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0960" y="4996180"/>
            <a:ext cx="12256770" cy="1928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gallery dir="l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944" y="733896"/>
            <a:ext cx="1645920" cy="720000"/>
          </a:xfrm>
        </p:spPr>
        <p:txBody>
          <a:bodyPr/>
          <a:lstStyle/>
          <a:p>
            <a:r>
              <a:rPr sz="3000" b="1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课堂规矩</a:t>
            </a:r>
            <a:endParaRPr sz="3000" b="1" dirty="0">
              <a:solidFill>
                <a:srgbClr val="001548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4944" y="1394520"/>
            <a:ext cx="4933959" cy="39612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、最好</a:t>
            </a:r>
            <a:r>
              <a:rPr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提前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10 </a:t>
            </a:r>
            <a:r>
              <a:rPr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分钟</a:t>
            </a:r>
            <a:r>
              <a:rPr sz="20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进教室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sz="20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开机、翻开教材、准备笔记本，铃响即开讲</a:t>
            </a:r>
            <a:r>
              <a:rPr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  <a:endParaRPr lang="en-US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学习通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按时签到</a:t>
            </a:r>
            <a:r>
              <a:rPr lang="en-US" altLang="zh-CN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人到、心到。</a:t>
            </a:r>
            <a:endParaRPr lang="en-US" altLang="zh-CN" sz="200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、必带：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教材、笔、笔记本</a:t>
            </a:r>
            <a:r>
              <a:rPr lang="zh-C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。学院领导会不定期巡视课堂</a:t>
            </a:r>
            <a:endParaRPr lang="en-US" altLang="zh-CN" sz="200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、着装：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不穿拖鞋</a:t>
            </a:r>
            <a:r>
              <a:rPr lang="zh-C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进教室；课堂上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手机收起</a:t>
            </a:r>
            <a:r>
              <a:rPr lang="zh-C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，签到、查资料时再拿出来。</a:t>
            </a:r>
            <a:endParaRPr lang="en-US" altLang="zh-CN" sz="200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不迟到、不早退</a:t>
            </a:r>
            <a:r>
              <a:rPr lang="zh-C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。一门课累计旷课≧</a:t>
            </a:r>
            <a:r>
              <a:rPr lang="en-US" altLang="zh-CN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节，或请假缺课≧学时</a:t>
            </a:r>
            <a:r>
              <a:rPr lang="en-US" altLang="zh-CN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1/6</a:t>
            </a:r>
            <a:r>
              <a:rPr lang="zh-C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，取消考核资格，总评不及格。</a:t>
            </a:r>
          </a:p>
          <a:p>
            <a:endParaRPr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5" name="Picture 44" descr="TbAlertTriangle_FFFFFF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860" y="1453896"/>
            <a:ext cx="329184" cy="329184"/>
          </a:xfrm>
          <a:prstGeom prst="rect">
            <a:avLst/>
          </a:prstGeom>
        </p:spPr>
      </p:pic>
      <p:sp>
        <p:nvSpPr>
          <p:cNvPr id="62" name="Title 1">
            <a:extLst>
              <a:ext uri="{FF2B5EF4-FFF2-40B4-BE49-F238E27FC236}">
                <a16:creationId xmlns:a16="http://schemas.microsoft.com/office/drawing/2014/main" id="{4E900237-C06A-26DE-A84F-0050B93A0799}"/>
              </a:ext>
            </a:extLst>
          </p:cNvPr>
          <p:cNvSpPr txBox="1">
            <a:spLocks/>
          </p:cNvSpPr>
          <p:nvPr/>
        </p:nvSpPr>
        <p:spPr>
          <a:xfrm>
            <a:off x="7146359" y="1646534"/>
            <a:ext cx="4250113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000" dirty="0">
              <a:solidFill>
                <a:srgbClr val="001548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E8FA4D13-0E0D-B4E8-9E12-990CBE4A6ECC}"/>
              </a:ext>
            </a:extLst>
          </p:cNvPr>
          <p:cNvSpPr txBox="1">
            <a:spLocks/>
          </p:cNvSpPr>
          <p:nvPr/>
        </p:nvSpPr>
        <p:spPr>
          <a:xfrm>
            <a:off x="6246658" y="1657314"/>
            <a:ext cx="5773716" cy="180585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总成绩 = 平时 × 30% + 期中 × 20% + 期末 × 50%</a:t>
            </a:r>
          </a:p>
          <a:p>
            <a:br>
              <a:rPr lang="zh-CN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</a:br>
            <a:endParaRPr lang="zh-CN" altLang="zh-CN" sz="18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zh-CN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平时分今天就开始累计：出勤、课堂互动、作业等，每一次都算数。</a:t>
            </a:r>
          </a:p>
          <a:p>
            <a:endParaRPr lang="zh-CN" altLang="en-US" sz="1800" dirty="0">
              <a:solidFill>
                <a:srgbClr val="001548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4C616AB3-D215-D03D-80F2-7060B142567D}"/>
              </a:ext>
            </a:extLst>
          </p:cNvPr>
          <p:cNvSpPr txBox="1">
            <a:spLocks/>
          </p:cNvSpPr>
          <p:nvPr/>
        </p:nvSpPr>
        <p:spPr>
          <a:xfrm>
            <a:off x="6246658" y="779490"/>
            <a:ext cx="164592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000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成绩构成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2" grpId="0"/>
      <p:bldP spid="62" grpId="0"/>
      <p:bldP spid="63" grpId="0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FB147-A94E-5DA9-49C6-924069936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FE59-9C0C-2A22-1886-236A1008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062" y="607443"/>
            <a:ext cx="3253601" cy="533558"/>
          </a:xfrm>
        </p:spPr>
        <p:txBody>
          <a:bodyPr>
            <a:normAutofit fontScale="90000"/>
          </a:bodyPr>
          <a:lstStyle/>
          <a:p>
            <a:r>
              <a:rPr lang="zh-CN" altLang="en-US" sz="3000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客户端、服务端区分</a:t>
            </a:r>
            <a:endParaRPr sz="3000" b="1" dirty="0">
              <a:solidFill>
                <a:srgbClr val="001548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F5C2F0-8500-14A9-59F1-3DF55C0D29AE}"/>
              </a:ext>
            </a:extLst>
          </p:cNvPr>
          <p:cNvSpPr txBox="1"/>
          <p:nvPr/>
        </p:nvSpPr>
        <p:spPr>
          <a:xfrm>
            <a:off x="501552" y="1141001"/>
            <a:ext cx="5486163" cy="4661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看“谁发请求、谁提供服务”这是按“角色”分的，不是按机器分的。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客户端：主动发请求的一方，也就是用户手里那一端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浏览器、手机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App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、电脑上装的软件。它负责“把请求发出去、把结果显示出来”。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服务端：被动等请求、处理完再把结果送回去的一方。一般是放在机房或云上、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24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小时开着的电脑，负责存数据、验证登录、算结果。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类比点外卖：手机上的美团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App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是客户端，美团机房里接单、算价、查库存的机器是服务端。</a:t>
            </a:r>
            <a:endParaRPr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5" name="Picture 44" descr="TbAlertTriangle_FFFFFF_256.png">
            <a:extLst>
              <a:ext uri="{FF2B5EF4-FFF2-40B4-BE49-F238E27FC236}">
                <a16:creationId xmlns:a16="http://schemas.microsoft.com/office/drawing/2014/main" id="{E8D94300-FC8B-64AF-E170-85B19978D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860" y="1453896"/>
            <a:ext cx="329184" cy="329184"/>
          </a:xfrm>
          <a:prstGeom prst="rect">
            <a:avLst/>
          </a:prstGeom>
        </p:spPr>
      </p:pic>
      <p:sp>
        <p:nvSpPr>
          <p:cNvPr id="62" name="Title 1">
            <a:extLst>
              <a:ext uri="{FF2B5EF4-FFF2-40B4-BE49-F238E27FC236}">
                <a16:creationId xmlns:a16="http://schemas.microsoft.com/office/drawing/2014/main" id="{C448AEC2-DC77-D986-1DBD-D42F3C52FFB2}"/>
              </a:ext>
            </a:extLst>
          </p:cNvPr>
          <p:cNvSpPr txBox="1">
            <a:spLocks/>
          </p:cNvSpPr>
          <p:nvPr/>
        </p:nvSpPr>
        <p:spPr>
          <a:xfrm>
            <a:off x="7146359" y="1646534"/>
            <a:ext cx="4250113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000" dirty="0">
              <a:solidFill>
                <a:srgbClr val="001548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2786CA2B-3D4D-AC43-D61E-E4D75663AD52}"/>
              </a:ext>
            </a:extLst>
          </p:cNvPr>
          <p:cNvSpPr txBox="1">
            <a:spLocks/>
          </p:cNvSpPr>
          <p:nvPr/>
        </p:nvSpPr>
        <p:spPr>
          <a:xfrm>
            <a:off x="6284267" y="1273975"/>
            <a:ext cx="5773716" cy="280112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按“开发分工”。</a:t>
            </a:r>
            <a:endParaRPr lang="en-US" altLang="zh-CN" sz="16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en-US" altLang="zh-CN" sz="16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分前端：用户看得见、摸得着的部分</a:t>
            </a:r>
            <a:r>
              <a:rPr lang="en-US" altLang="zh-CN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页面长什么样、按钮点了有什么反应。用的就是我们要学的 </a:t>
            </a:r>
            <a:r>
              <a:rPr lang="en-US" altLang="zh-CN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HTML</a:t>
            </a:r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CSS</a:t>
            </a:r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JavaScript</a:t>
            </a:r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，代码运行在客户端（浏览器）。</a:t>
            </a:r>
            <a:endParaRPr lang="en-US" altLang="zh-CN" sz="16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en-US" altLang="zh-CN" sz="16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后端：用户看不见的部分</a:t>
            </a:r>
            <a:r>
              <a:rPr lang="en-US" altLang="zh-CN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数据存在哪、密码怎么校验、订单怎么处理。常用 </a:t>
            </a:r>
            <a:r>
              <a:rPr lang="en-US" altLang="zh-CN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Java</a:t>
            </a:r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Python</a:t>
            </a:r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Go</a:t>
            </a:r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Node.js </a:t>
            </a:r>
            <a:r>
              <a:rPr lang="zh-CN" altLang="en-US" sz="16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配数据库，代码运行在服务端。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B564F744-F61C-FF0B-17B1-74A1CC268FB7}"/>
              </a:ext>
            </a:extLst>
          </p:cNvPr>
          <p:cNvSpPr txBox="1">
            <a:spLocks/>
          </p:cNvSpPr>
          <p:nvPr/>
        </p:nvSpPr>
        <p:spPr>
          <a:xfrm>
            <a:off x="6284267" y="472289"/>
            <a:ext cx="2161072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000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前端、后端</a:t>
            </a:r>
          </a:p>
        </p:txBody>
      </p:sp>
    </p:spTree>
    <p:extLst>
      <p:ext uri="{BB962C8B-B14F-4D97-AF65-F5344CB8AC3E}">
        <p14:creationId xmlns:p14="http://schemas.microsoft.com/office/powerpoint/2010/main" val="258352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2" grpId="0"/>
      <p:bldP spid="62" grpId="0"/>
      <p:bldP spid="63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915" y="516813"/>
            <a:ext cx="5128887" cy="720000"/>
          </a:xfrm>
        </p:spPr>
        <p:txBody>
          <a:bodyPr/>
          <a:lstStyle/>
          <a:p>
            <a:r>
              <a:rPr sz="30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AI </a:t>
            </a:r>
            <a:r>
              <a:rPr sz="3000" b="1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时代</a:t>
            </a:r>
            <a:r>
              <a:rPr sz="30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，“</a:t>
            </a:r>
            <a:r>
              <a:rPr sz="3000" b="1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前端已死</a:t>
            </a:r>
            <a:r>
              <a:rPr sz="30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”？</a:t>
            </a:r>
          </a:p>
        </p:txBody>
      </p:sp>
      <p:pic>
        <p:nvPicPr>
          <p:cNvPr id="14" name="Picture 13" descr="TbSpeakerphone_FFFFFF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408" y="2159706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8604" y="2587217"/>
            <a:ext cx="5562362" cy="22519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不懂的人</a:t>
            </a: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：“</a:t>
            </a:r>
            <a:r>
              <a:rPr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把那个三条杠的东西放右上角</a:t>
            </a: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。”</a:t>
            </a:r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endParaRPr 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懂的人</a:t>
            </a: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：“</a:t>
            </a:r>
            <a:r>
              <a:rPr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汉堡菜单放到导航栏右侧，移动端折叠</a:t>
            </a: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。”</a:t>
            </a:r>
            <a:endParaRPr 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endParaRPr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术语是你和</a:t>
            </a: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</a:rPr>
              <a:t> AI </a:t>
            </a:r>
            <a:r>
              <a:rPr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沟通的坐标系：汉堡菜单、导航栏、响应式布局</a:t>
            </a: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</a:rPr>
              <a:t>……</a:t>
            </a:r>
            <a:r>
              <a:rPr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说不出来，AI</a:t>
            </a: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只能猜</a:t>
            </a: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62C41AE-954F-35BB-4261-F31487D290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15" y="3651664"/>
            <a:ext cx="4224013" cy="232952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C6EEDF2-5423-1F24-8CF0-79DE8C2E7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15" y="1635079"/>
            <a:ext cx="1739841" cy="17076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怎么学这门课：四条建议</a:t>
            </a:r>
            <a:endParaRPr sz="3000" b="1" dirty="0">
              <a:solidFill>
                <a:srgbClr val="001548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94944" y="1339595"/>
            <a:ext cx="5303520" cy="1810512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7532" y="1961329"/>
            <a:ext cx="694944" cy="694944"/>
          </a:xfrm>
          <a:prstGeom prst="ellipse">
            <a:avLst/>
          </a:prstGeom>
          <a:solidFill>
            <a:srgbClr val="376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bRocket_FFFFFF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084832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2224" y="1616231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01  </a:t>
            </a:r>
            <a:r>
              <a:rPr b="1" i="0" dirty="0" err="1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带着项目学</a:t>
            </a:r>
            <a:endParaRPr b="1" i="0" dirty="0">
              <a:solidFill>
                <a:srgbClr val="376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2224" y="2098577"/>
            <a:ext cx="4105656" cy="74161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50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别学完前端基础、考完试就算结束。带一个你自己会用到的项目来演练</a:t>
            </a:r>
            <a:r>
              <a:rPr sz="150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sz="150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比如搭建一个个人博客网站，在折腾、动手中学习</a:t>
            </a:r>
            <a:r>
              <a:rPr sz="150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25880"/>
            <a:ext cx="5303520" cy="1810512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88816" y="1961329"/>
            <a:ext cx="694944" cy="694944"/>
          </a:xfrm>
          <a:prstGeom prst="ellipse">
            <a:avLst/>
          </a:prstGeom>
          <a:solidFill>
            <a:srgbClr val="00C8B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bNotebook_FFFFFF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976" y="2100092"/>
            <a:ext cx="420624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78624" y="1563622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b="1" i="0" dirty="0">
                <a:solidFill>
                  <a:srgbClr val="00C8B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02  </a:t>
            </a:r>
            <a:r>
              <a:rPr lang="zh-CN" altLang="en-US" b="1" i="0" dirty="0">
                <a:solidFill>
                  <a:srgbClr val="00C8B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记</a:t>
            </a:r>
            <a:r>
              <a:rPr b="1" i="0" dirty="0" err="1">
                <a:solidFill>
                  <a:srgbClr val="00C8B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笔记</a:t>
            </a:r>
            <a:r>
              <a:rPr lang="zh-CN" altLang="en-US" b="1" i="0" dirty="0">
                <a:solidFill>
                  <a:srgbClr val="00C8B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复盘总结</a:t>
            </a:r>
            <a:endParaRPr b="1" i="0" dirty="0">
              <a:solidFill>
                <a:srgbClr val="00C8B3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78624" y="2004020"/>
            <a:ext cx="3948684" cy="10734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50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每节课开始前</a:t>
            </a:r>
            <a:r>
              <a:rPr lang="zh-CN" alt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在机房电脑</a:t>
            </a:r>
            <a:r>
              <a:rPr sz="150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新建一个</a:t>
            </a:r>
            <a:r>
              <a:rPr sz="15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Markdown </a:t>
            </a:r>
            <a:r>
              <a:rPr sz="150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文件，用</a:t>
            </a:r>
            <a:r>
              <a:rPr sz="15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Markdown </a:t>
            </a:r>
            <a:r>
              <a:rPr sz="150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记笔</a:t>
            </a:r>
            <a:r>
              <a:rPr lang="zh-CN" alt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记，下课后把</a:t>
            </a:r>
            <a:r>
              <a:rPr lang="en-US" altLang="zh-CN" sz="15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Markdown</a:t>
            </a:r>
            <a:r>
              <a:rPr lang="zh-CN" alt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文件用</a:t>
            </a:r>
            <a:r>
              <a:rPr lang="en-US" altLang="zh-CN" sz="15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U</a:t>
            </a:r>
            <a:r>
              <a:rPr lang="zh-CN" alt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盘拷走。或用纸质笔记。</a:t>
            </a:r>
            <a:endParaRPr lang="en-US" altLang="zh-CN" sz="150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l">
              <a:lnSpc>
                <a:spcPct val="118000"/>
              </a:lnSpc>
              <a:buNone/>
            </a:pPr>
            <a:r>
              <a:rPr lang="zh-CN" alt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听课留痕！</a:t>
            </a:r>
            <a:endParaRPr sz="150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94944" y="3291839"/>
            <a:ext cx="5303520" cy="1810512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7532" y="3735324"/>
            <a:ext cx="694944" cy="69494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bGitBranch_FFFFFF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3909118"/>
            <a:ext cx="420624" cy="4206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92224" y="347472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b="1" i="0" dirty="0">
                <a:solidFill>
                  <a:srgbClr val="FF6B3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03  Git 和 Markdown </a:t>
            </a:r>
            <a:r>
              <a:rPr b="1" i="0" dirty="0" err="1">
                <a:solidFill>
                  <a:srgbClr val="FF6B3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课后自学</a:t>
            </a:r>
            <a:endParaRPr b="1" i="0" dirty="0">
              <a:solidFill>
                <a:srgbClr val="FF6B35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92224" y="3931920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50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大学里不教，但这两项是计算机专业学生的必修课。几乎没有难度，一两周就能上手</a:t>
            </a:r>
            <a:r>
              <a:rPr sz="150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sz="150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建议大家课后自学</a:t>
            </a:r>
            <a:r>
              <a:rPr sz="150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291839"/>
            <a:ext cx="5303520" cy="1810512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36792" y="3771841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TbRobot_FFFFFF_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886200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78624" y="347472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b="1" i="0" dirty="0">
                <a:solidFill>
                  <a:srgbClr val="7C3AED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04  用 AI </a:t>
            </a:r>
            <a:r>
              <a:rPr b="1" i="0" dirty="0" err="1">
                <a:solidFill>
                  <a:srgbClr val="7C3AED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辅助学习</a:t>
            </a:r>
            <a:endParaRPr b="1" i="0" dirty="0">
              <a:solidFill>
                <a:srgbClr val="7C3AED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78624" y="3931920"/>
            <a:ext cx="4023360" cy="8550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50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不懂就问</a:t>
            </a:r>
            <a:r>
              <a:rPr sz="150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AI</a:t>
            </a:r>
            <a:r>
              <a:rPr lang="zh-CN" altLang="en-US" sz="150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，最好用前沿的</a:t>
            </a:r>
            <a:r>
              <a:rPr lang="en-US" altLang="zh-CN" sz="150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SOTA</a:t>
            </a:r>
            <a:r>
              <a:rPr lang="zh-CN" altLang="en-US" sz="150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模型</a:t>
            </a:r>
            <a:r>
              <a:rPr lang="zh-CN" alt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  <a:r>
              <a:rPr sz="150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让它举例子、打比方，快速掌握</a:t>
            </a:r>
            <a:r>
              <a:rPr lang="zh-CN" alt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，模棱两可时</a:t>
            </a:r>
            <a:r>
              <a:rPr lang="zh-CN" altLang="en-US" sz="150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多模型交叉验证。</a:t>
            </a:r>
            <a:endParaRPr sz="150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516A2505-A1E2-70E1-D530-1C4918B43B76}"/>
              </a:ext>
            </a:extLst>
          </p:cNvPr>
          <p:cNvSpPr/>
          <p:nvPr/>
        </p:nvSpPr>
        <p:spPr>
          <a:xfrm>
            <a:off x="694944" y="1891725"/>
            <a:ext cx="4607389" cy="74116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07" y="368909"/>
            <a:ext cx="5054462" cy="720000"/>
          </a:xfrm>
        </p:spPr>
        <p:txBody>
          <a:bodyPr/>
          <a:lstStyle/>
          <a:p>
            <a:r>
              <a:rPr sz="3000" b="1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课外自学资源：教材远远不够</a:t>
            </a:r>
            <a:endParaRPr sz="3000" b="1" dirty="0">
              <a:solidFill>
                <a:srgbClr val="001548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94944" y="1463039"/>
            <a:ext cx="4846320" cy="1600200"/>
          </a:xfrm>
          <a:prstGeom prst="roundRect">
            <a:avLst>
              <a:gd name="adj" fmla="val 9142"/>
            </a:avLst>
          </a:prstGeom>
          <a:noFill/>
          <a:ln>
            <a:noFill/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>
              <a:noFill/>
            </a:endParaRPr>
          </a:p>
        </p:txBody>
      </p:sp>
      <p:sp>
        <p:nvSpPr>
          <p:cNvPr id="5" name="Oval 4"/>
          <p:cNvSpPr/>
          <p:nvPr/>
        </p:nvSpPr>
        <p:spPr>
          <a:xfrm>
            <a:off x="811087" y="1982918"/>
            <a:ext cx="540000" cy="540000"/>
          </a:xfrm>
          <a:prstGeom prst="ellipse">
            <a:avLst/>
          </a:prstGeom>
          <a:solidFill>
            <a:srgbClr val="376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bMap_FFFFFF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87" y="2106110"/>
            <a:ext cx="288000" cy="28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23912" y="2076338"/>
            <a:ext cx="3821542" cy="2776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00" b="1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先看地图：前端开发学习路径</a:t>
            </a:r>
            <a:r>
              <a:rPr lang="en-US" sz="1400" b="1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</a:t>
            </a:r>
            <a:r>
              <a:rPr lang="en-US" altLang="zh-CN" sz="1200" b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roadmap.sh/frontend</a:t>
            </a:r>
          </a:p>
          <a:p>
            <a:pPr algn="l">
              <a:buNone/>
            </a:pPr>
            <a:endParaRPr sz="1400" b="1" i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4946" y="3035167"/>
            <a:ext cx="4607388" cy="74116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86386" y="3163182"/>
            <a:ext cx="540000" cy="540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TbBook_FFFFFF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60" y="3278967"/>
            <a:ext cx="288000" cy="28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23912" y="316318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400" b="1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现代</a:t>
            </a:r>
            <a:r>
              <a:rPr sz="1400" b="1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JavaScript </a:t>
            </a:r>
            <a:r>
              <a:rPr sz="1400" b="1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教程</a:t>
            </a:r>
            <a:r>
              <a:rPr sz="1400" b="1" dirty="0">
                <a:solidFill>
                  <a:srgbClr val="FF6B3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　</a:t>
            </a:r>
            <a:r>
              <a:rPr sz="1200" b="1" i="0" dirty="0">
                <a:solidFill>
                  <a:srgbClr val="FF6B3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zh.javascript.info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2" y="3484050"/>
            <a:ext cx="3105754" cy="2011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0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从零到进阶的</a:t>
            </a:r>
            <a:r>
              <a:rPr sz="10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JS </a:t>
            </a:r>
            <a:r>
              <a:rPr sz="10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中文教程，讲得最清楚的一本“网书</a:t>
            </a:r>
            <a:r>
              <a:rPr sz="10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6" y="4141085"/>
            <a:ext cx="4607387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0211" y="4324722"/>
            <a:ext cx="540000" cy="540000"/>
          </a:xfrm>
          <a:prstGeom prst="ellipse">
            <a:avLst/>
          </a:prstGeom>
          <a:solidFill>
            <a:srgbClr val="376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bWorld_FFFFFF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710" y="4442669"/>
            <a:ext cx="288000" cy="28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23912" y="4253287"/>
            <a:ext cx="367060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400" b="1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MDN · </a:t>
            </a:r>
            <a:r>
              <a:rPr sz="1400" b="1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学习</a:t>
            </a:r>
            <a:r>
              <a:rPr sz="1400" b="1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Web </a:t>
            </a:r>
            <a:r>
              <a:rPr sz="1400" b="1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开发</a:t>
            </a:r>
            <a:r>
              <a:rPr sz="1400" b="1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　</a:t>
            </a:r>
            <a:r>
              <a:rPr sz="1200" b="0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developer.mozilla.org/</a:t>
            </a:r>
            <a:r>
              <a:rPr sz="1200" b="0" i="0" dirty="0" err="1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zh</a:t>
            </a:r>
            <a:r>
              <a:rPr sz="1200" b="0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-CN/docs/</a:t>
            </a:r>
            <a:r>
              <a:rPr sz="1200" b="0" i="0" dirty="0" err="1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Learn_web_development</a:t>
            </a:r>
            <a:endParaRPr sz="1200" b="0" i="0" dirty="0">
              <a:solidFill>
                <a:srgbClr val="376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2" y="4686312"/>
            <a:ext cx="3877293" cy="2377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0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浏览器厂商共同维护，最权威、最新的</a:t>
            </a:r>
            <a:r>
              <a:rPr sz="10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HTML / CSS / JS </a:t>
            </a:r>
            <a:r>
              <a:rPr sz="10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入门教程</a:t>
            </a:r>
            <a:r>
              <a:rPr sz="10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15043" y="932962"/>
            <a:ext cx="1358594" cy="391207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buNone/>
            </a:pPr>
            <a:r>
              <a:rPr sz="1400" b="1" i="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培养方案的坎</a:t>
            </a:r>
            <a:endParaRPr sz="1400" b="1" i="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15043" y="1416903"/>
            <a:ext cx="5599926" cy="77176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20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202</a:t>
            </a:r>
            <a:r>
              <a:rPr lang="en-US" altLang="zh-CN" sz="120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</a:t>
            </a:r>
            <a:r>
              <a:rPr sz="120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20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版人才培养方案里没有</a:t>
            </a:r>
            <a:r>
              <a:rPr sz="120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20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Node.js。大一学完</a:t>
            </a:r>
            <a:r>
              <a:rPr sz="120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HTML / CSS / JS </a:t>
            </a:r>
            <a:r>
              <a:rPr sz="120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就直接学</a:t>
            </a:r>
            <a:r>
              <a:rPr sz="120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Vue </a:t>
            </a:r>
            <a:r>
              <a:rPr sz="120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框架，中间缺了</a:t>
            </a:r>
            <a:r>
              <a:rPr sz="120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ES6+ </a:t>
            </a:r>
            <a:r>
              <a:rPr sz="120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语法、</a:t>
            </a:r>
            <a:r>
              <a:rPr lang="en-US" altLang="zh-CN" sz="120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NPM</a:t>
            </a:r>
            <a:r>
              <a:rPr sz="120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和 Node.js </a:t>
            </a:r>
            <a:r>
              <a:rPr sz="120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基础</a:t>
            </a:r>
            <a:r>
              <a:rPr sz="120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sz="120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这道坎要靠课后自学补上：跟着上面的资源，用</a:t>
            </a:r>
            <a:r>
              <a:rPr sz="120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AI </a:t>
            </a:r>
            <a:r>
              <a:rPr sz="120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辅助，一步步来</a:t>
            </a:r>
            <a:r>
              <a:rPr sz="120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3121" y="2858281"/>
            <a:ext cx="5641848" cy="246888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082306" y="3181463"/>
            <a:ext cx="274320" cy="274320"/>
          </a:xfrm>
          <a:prstGeom prst="ellipse">
            <a:avLst/>
          </a:prstGeom>
          <a:solidFill>
            <a:srgbClr val="376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4410" y="3126406"/>
            <a:ext cx="4754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400" b="1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Git </a:t>
            </a:r>
            <a:r>
              <a:rPr sz="1400" b="1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基础</a:t>
            </a:r>
            <a:r>
              <a:rPr sz="1400" b="1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　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克隆、提交、推送</a:t>
            </a:r>
            <a:r>
              <a:rPr lang="en-US" altLang="zh-CN" sz="120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把代码放上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GitHub / 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Gitee</a:t>
            </a:r>
            <a:endParaRPr sz="1200" b="0" i="0" dirty="0">
              <a:solidFill>
                <a:srgbClr val="6B728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082306" y="3730892"/>
            <a:ext cx="274320" cy="274320"/>
          </a:xfrm>
          <a:prstGeom prst="ellipse">
            <a:avLst/>
          </a:prstGeom>
          <a:solidFill>
            <a:srgbClr val="376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4410" y="3670423"/>
            <a:ext cx="4754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400" b="1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Markdown</a:t>
            </a:r>
            <a:r>
              <a:rPr sz="1200" b="1" i="0" dirty="0">
                <a:solidFill>
                  <a:srgbClr val="1F2937"/>
                </a:solidFill>
              </a:rPr>
              <a:t>　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半天学会的写作格式，笔记和博客都用它</a:t>
            </a:r>
            <a:endParaRPr sz="1200" b="0" i="0" dirty="0">
              <a:solidFill>
                <a:srgbClr val="6B728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082306" y="4291719"/>
            <a:ext cx="274320" cy="274320"/>
          </a:xfrm>
          <a:prstGeom prst="ellipse">
            <a:avLst/>
          </a:prstGeom>
          <a:solidFill>
            <a:srgbClr val="376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0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4410" y="4218567"/>
            <a:ext cx="4754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400" b="1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ES6+ </a:t>
            </a:r>
            <a:r>
              <a:rPr sz="1400" b="1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语法</a:t>
            </a:r>
            <a:r>
              <a:rPr sz="1400" b="1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　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let / 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const、箭头函数、模块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现代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JS 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的“普通话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36" name="Oval 35"/>
          <p:cNvSpPr/>
          <p:nvPr/>
        </p:nvSpPr>
        <p:spPr>
          <a:xfrm>
            <a:off x="6082306" y="4824968"/>
            <a:ext cx="274320" cy="274320"/>
          </a:xfrm>
          <a:prstGeom prst="ellipse">
            <a:avLst/>
          </a:prstGeom>
          <a:solidFill>
            <a:srgbClr val="376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0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4410" y="4742801"/>
            <a:ext cx="4754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altLang="zh-CN" sz="1400" b="1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NPM</a:t>
            </a:r>
            <a:r>
              <a:rPr sz="1400" b="1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与 Node.js </a:t>
            </a:r>
            <a:r>
              <a:rPr sz="1400" b="1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基础</a:t>
            </a:r>
            <a:r>
              <a:rPr sz="1400" b="1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　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装包、跑脚本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学框架前的必经之路</a:t>
            </a:r>
            <a:endParaRPr sz="1200" b="0" i="0" dirty="0">
              <a:solidFill>
                <a:srgbClr val="6B728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76516" y="5729434"/>
            <a:ext cx="8477053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 i="0" dirty="0" err="1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计算机领域的知识日新月异，教材只是起点，终身学习是这个行业的常态</a:t>
            </a:r>
            <a:r>
              <a:rPr sz="20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A8D7496F-353D-DB26-894E-3CED72E72ECE}"/>
              </a:ext>
            </a:extLst>
          </p:cNvPr>
          <p:cNvSpPr txBox="1"/>
          <p:nvPr/>
        </p:nvSpPr>
        <p:spPr>
          <a:xfrm>
            <a:off x="1417322" y="2310623"/>
            <a:ext cx="3105754" cy="2011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endParaRPr sz="1000" b="0" i="0" dirty="0">
              <a:solidFill>
                <a:srgbClr val="6B728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EACE023-77CA-23DF-83A5-48797E953261}"/>
              </a:ext>
            </a:extLst>
          </p:cNvPr>
          <p:cNvSpPr txBox="1"/>
          <p:nvPr/>
        </p:nvSpPr>
        <p:spPr>
          <a:xfrm>
            <a:off x="1417322" y="2345269"/>
            <a:ext cx="3754382" cy="2011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全球开发者共建的前端学习地图，一张图看清要学什么、先学什么。</a:t>
            </a:r>
            <a:endParaRPr sz="1000" b="0" i="0" dirty="0">
              <a:solidFill>
                <a:srgbClr val="6B728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ED090666-E1E1-530F-94E2-87EEB2477572}"/>
              </a:ext>
            </a:extLst>
          </p:cNvPr>
          <p:cNvSpPr/>
          <p:nvPr/>
        </p:nvSpPr>
        <p:spPr>
          <a:xfrm>
            <a:off x="5915043" y="2316189"/>
            <a:ext cx="1358594" cy="391207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课后自学清单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" grpId="0"/>
      <p:bldP spid="5" grpId="0" animBg="1"/>
      <p:bldP spid="7" grpId="0"/>
      <p:bldP spid="10" grpId="0" animBg="1"/>
      <p:bldP spid="11" grpId="0" animBg="1"/>
      <p:bldP spid="13" grpId="0"/>
      <p:bldP spid="14" grpId="0"/>
      <p:bldP spid="15" grpId="0" animBg="1"/>
      <p:bldP spid="16" grpId="0" animBg="1"/>
      <p:bldP spid="18" grpId="0"/>
      <p:bldP spid="19" grpId="0"/>
      <p:bldP spid="26" grpId="0" animBg="1"/>
      <p:bldP spid="27" grpId="0"/>
      <p:bldP spid="28" grpId="0" animBg="1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/>
      <p:bldP spid="3" grpId="0"/>
      <p:bldP spid="9" grpId="0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4911444" y="3013648"/>
            <a:ext cx="4640141" cy="706591"/>
          </a:xfrm>
          <a:prstGeom prst="rect">
            <a:avLst/>
          </a:prstGeom>
          <a:noFill/>
        </p:spPr>
        <p:txBody>
          <a:bodyPr wrap="square" lIns="91422" tIns="45709" rIns="91422" bIns="45709" rtlCol="0">
            <a:spAutoFit/>
          </a:bodyPr>
          <a:lstStyle/>
          <a:p>
            <a:r>
              <a:rPr lang="zh-CN" altLang="en-US" sz="3999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认识网页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488554" y="2781078"/>
            <a:ext cx="1734419" cy="1753920"/>
          </a:xfrm>
          <a:prstGeom prst="rect">
            <a:avLst/>
          </a:prstGeom>
          <a:noFill/>
        </p:spPr>
        <p:txBody>
          <a:bodyPr wrap="square" lIns="91422" tIns="45709" rIns="91422" bIns="45709" rtlCol="0">
            <a:spAutoFit/>
          </a:bodyPr>
          <a:lstStyle/>
          <a:p>
            <a:r>
              <a:rPr lang="zh-CN" altLang="en-US" sz="5399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任务</a:t>
            </a:r>
            <a:r>
              <a:rPr lang="en-US" altLang="en-GB" sz="5399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1-1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TextBox 35"/>
          <p:cNvSpPr txBox="1">
            <a:spLocks noChangeArrowheads="1"/>
          </p:cNvSpPr>
          <p:nvPr/>
        </p:nvSpPr>
        <p:spPr bwMode="auto">
          <a:xfrm>
            <a:off x="912624" y="1557225"/>
            <a:ext cx="10509991" cy="904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为了更好地认识网页，先来认识网页的构成。打开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浏览器，输入一个网站地址，按“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键，此时浏览器中显示的页面一般为网站的首页。</a:t>
            </a:r>
          </a:p>
        </p:txBody>
      </p:sp>
      <p:sp>
        <p:nvSpPr>
          <p:cNvPr id="7" name="矩形 6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网页的构成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096" y="2462196"/>
            <a:ext cx="4895411" cy="238216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724" y="4940819"/>
            <a:ext cx="5831298" cy="1744771"/>
          </a:xfrm>
          <a:prstGeom prst="rect">
            <a:avLst/>
          </a:prstGeom>
        </p:spPr>
      </p:pic>
      <p:sp>
        <p:nvSpPr>
          <p:cNvPr id="5" name="箭头: 右弧形 4"/>
          <p:cNvSpPr/>
          <p:nvPr/>
        </p:nvSpPr>
        <p:spPr>
          <a:xfrm>
            <a:off x="8126053" y="3686049"/>
            <a:ext cx="863896" cy="1744771"/>
          </a:xfrm>
          <a:prstGeom prst="curvedLef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9026317" y="4041268"/>
            <a:ext cx="2037085" cy="489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按“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F12”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快捷键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TextBox 35"/>
          <p:cNvSpPr txBox="1">
            <a:spLocks noChangeArrowheads="1"/>
          </p:cNvSpPr>
          <p:nvPr/>
        </p:nvSpPr>
        <p:spPr bwMode="auto">
          <a:xfrm>
            <a:off x="912624" y="1629217"/>
            <a:ext cx="10509991" cy="5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之分。</a:t>
            </a:r>
          </a:p>
        </p:txBody>
      </p:sp>
      <p:sp>
        <p:nvSpPr>
          <p:cNvPr id="7" name="矩形 6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网页的构成</a:t>
            </a:r>
          </a:p>
        </p:txBody>
      </p:sp>
      <p:sp>
        <p:nvSpPr>
          <p:cNvPr id="22" name="Chevron 7"/>
          <p:cNvSpPr/>
          <p:nvPr/>
        </p:nvSpPr>
        <p:spPr>
          <a:xfrm>
            <a:off x="6915595" y="2844782"/>
            <a:ext cx="2981270" cy="665961"/>
          </a:xfrm>
          <a:prstGeom prst="chevron">
            <a:avLst>
              <a:gd name="adj" fmla="val 43848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Rounded Rectangle 8"/>
          <p:cNvSpPr/>
          <p:nvPr/>
        </p:nvSpPr>
        <p:spPr>
          <a:xfrm>
            <a:off x="8127530" y="3040317"/>
            <a:ext cx="2190878" cy="716749"/>
          </a:xfrm>
          <a:prstGeom prst="roundRect">
            <a:avLst/>
          </a:prstGeom>
          <a:solidFill>
            <a:sysClr val="window" lastClr="FFFFFF">
              <a:alpha val="7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GB" sz="9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Chevron 3"/>
          <p:cNvSpPr/>
          <p:nvPr/>
        </p:nvSpPr>
        <p:spPr>
          <a:xfrm>
            <a:off x="1873593" y="2844782"/>
            <a:ext cx="2974287" cy="665961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Rounded Rectangle 4"/>
          <p:cNvSpPr/>
          <p:nvPr/>
        </p:nvSpPr>
        <p:spPr>
          <a:xfrm>
            <a:off x="2987760" y="3040317"/>
            <a:ext cx="2132471" cy="716749"/>
          </a:xfrm>
          <a:prstGeom prst="roundRect">
            <a:avLst/>
          </a:prstGeom>
          <a:solidFill>
            <a:sysClr val="window" lastClr="FFFFFF">
              <a:alpha val="7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GB" sz="9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6" name="Straight Connector 41"/>
          <p:cNvCxnSpPr/>
          <p:nvPr/>
        </p:nvCxnSpPr>
        <p:spPr>
          <a:xfrm flipV="1">
            <a:off x="2845859" y="3960345"/>
            <a:ext cx="0" cy="227027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27" name="Oval 40"/>
          <p:cNvSpPr/>
          <p:nvPr/>
        </p:nvSpPr>
        <p:spPr>
          <a:xfrm>
            <a:off x="2800561" y="3872677"/>
            <a:ext cx="105832" cy="105832"/>
          </a:xfrm>
          <a:prstGeom prst="ellipse">
            <a:avLst/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 fontScale="25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ctr">
              <a:lnSpc>
                <a:spcPct val="140000"/>
              </a:lnSpc>
            </a:pPr>
            <a:endParaRPr lang="en-US" sz="900"/>
          </a:p>
        </p:txBody>
      </p:sp>
      <p:sp>
        <p:nvSpPr>
          <p:cNvPr id="28" name="Oval 42"/>
          <p:cNvSpPr/>
          <p:nvPr/>
        </p:nvSpPr>
        <p:spPr>
          <a:xfrm>
            <a:off x="2722954" y="4126813"/>
            <a:ext cx="264581" cy="264581"/>
          </a:xfrm>
          <a:prstGeom prst="ellipse">
            <a:avLst/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 fontScale="55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ctr">
              <a:lnSpc>
                <a:spcPct val="140000"/>
              </a:lnSpc>
            </a:pPr>
            <a:endParaRPr lang="en-US" sz="900"/>
          </a:p>
        </p:txBody>
      </p:sp>
      <p:cxnSp>
        <p:nvCxnSpPr>
          <p:cNvPr id="29" name="Straight Connector 41"/>
          <p:cNvCxnSpPr/>
          <p:nvPr/>
        </p:nvCxnSpPr>
        <p:spPr>
          <a:xfrm flipV="1">
            <a:off x="7920193" y="3960345"/>
            <a:ext cx="0" cy="227027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30" name="Oval 40"/>
          <p:cNvSpPr/>
          <p:nvPr/>
        </p:nvSpPr>
        <p:spPr>
          <a:xfrm>
            <a:off x="7865510" y="3872677"/>
            <a:ext cx="105832" cy="105832"/>
          </a:xfrm>
          <a:prstGeom prst="ellips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 fontScale="25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ctr">
              <a:lnSpc>
                <a:spcPct val="140000"/>
              </a:lnSpc>
            </a:pPr>
            <a:endParaRPr lang="en-US" sz="900"/>
          </a:p>
        </p:txBody>
      </p:sp>
      <p:sp>
        <p:nvSpPr>
          <p:cNvPr id="32" name="Oval 42"/>
          <p:cNvSpPr/>
          <p:nvPr/>
        </p:nvSpPr>
        <p:spPr>
          <a:xfrm>
            <a:off x="7787902" y="4126813"/>
            <a:ext cx="264581" cy="264581"/>
          </a:xfrm>
          <a:prstGeom prst="ellips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 fontScale="55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ctr">
              <a:lnSpc>
                <a:spcPct val="140000"/>
              </a:lnSpc>
            </a:pPr>
            <a:endParaRPr lang="en-US" sz="900"/>
          </a:p>
        </p:txBody>
      </p:sp>
      <p:sp>
        <p:nvSpPr>
          <p:cNvPr id="34" name="文本框 18"/>
          <p:cNvSpPr txBox="1"/>
          <p:nvPr/>
        </p:nvSpPr>
        <p:spPr>
          <a:xfrm>
            <a:off x="1956759" y="4497304"/>
            <a:ext cx="3361547" cy="874827"/>
          </a:xfrm>
          <a:prstGeom prst="rect">
            <a:avLst/>
          </a:prstGeom>
          <a:noFill/>
        </p:spPr>
        <p:txBody>
          <a:bodyPr wrap="square" lIns="89964" tIns="46781" rIns="89964" bIns="46781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指用户无论何时何地访问，都会显示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固定信息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的网页，除非网页源代码被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重新修改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。</a:t>
            </a:r>
            <a:endParaRPr lang="en-US" altLang="zh-CN" spc="150" dirty="0">
              <a:solidFill>
                <a:srgbClr val="1369B2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5" name="文本框 1"/>
          <p:cNvSpPr txBox="1"/>
          <p:nvPr/>
        </p:nvSpPr>
        <p:spPr>
          <a:xfrm>
            <a:off x="3468343" y="3199664"/>
            <a:ext cx="1210308" cy="400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静态网页</a:t>
            </a:r>
          </a:p>
        </p:txBody>
      </p:sp>
      <p:sp>
        <p:nvSpPr>
          <p:cNvPr id="36" name="文本框 2"/>
          <p:cNvSpPr txBox="1"/>
          <p:nvPr/>
        </p:nvSpPr>
        <p:spPr>
          <a:xfrm>
            <a:off x="8694453" y="3199029"/>
            <a:ext cx="1210308" cy="400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动态网页</a:t>
            </a:r>
          </a:p>
        </p:txBody>
      </p:sp>
      <p:sp>
        <p:nvSpPr>
          <p:cNvPr id="37" name="文本框 18"/>
          <p:cNvSpPr txBox="1"/>
          <p:nvPr/>
        </p:nvSpPr>
        <p:spPr>
          <a:xfrm>
            <a:off x="7055263" y="4497939"/>
            <a:ext cx="3263145" cy="1450758"/>
          </a:xfrm>
          <a:prstGeom prst="rect">
            <a:avLst/>
          </a:prstGeom>
          <a:noFill/>
        </p:spPr>
        <p:txBody>
          <a:bodyPr wrap="square" lIns="89964" tIns="46781" rIns="89964" bIns="46781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显示的内容则会随着用户操作和时间的不同而变化，这是因为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动态网页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可以与服务器数据库进行实时的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数据交换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。</a:t>
            </a:r>
            <a:endParaRPr lang="zh-CN" altLang="en-US" spc="150" dirty="0">
              <a:solidFill>
                <a:srgbClr val="595959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网页的相关名词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291986"/>
              </p:ext>
            </p:extLst>
          </p:nvPr>
        </p:nvGraphicFramePr>
        <p:xfrm>
          <a:off x="984615" y="1599830"/>
          <a:ext cx="10438743" cy="4833075"/>
        </p:xfrm>
        <a:graphic>
          <a:graphicData uri="http://schemas.openxmlformats.org/drawingml/2006/table">
            <a:tbl>
              <a:tblPr/>
              <a:tblGrid>
                <a:gridCol w="1420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8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0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名词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BB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名词释义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B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BB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Internet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BB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Internet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就是人们经常说的互联网，是由一些使用公用语言互相通信的计算机连接而成的网络。</a:t>
                      </a: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BB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WWW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BB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中文译为“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万维网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”是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Internet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提供的一种网页浏览服务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BB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URL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BB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中文译为“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统一资源定位符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”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URL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其实就是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Web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地址，俗称“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网址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”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BB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DNS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BB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DNS 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（英文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Domain Name System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的缩写）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用于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解析域名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7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BB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HTTP/HTTPS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BB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中文译为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超文本传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送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协议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详细规定了浏览器和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WWW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服务器之间互相通信的规则。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HTTP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是非常可靠的协议，具有强大的自检能力，通常情况下，用户请求的文件到达客户端时是准确无误的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0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BB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Web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BB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Web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是万维网的简称，本意是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网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。对普通网络用户来说，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Web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仅仅是一种互联网的网页浏览环境，通过浏览器即可访问网页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BB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W3C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BB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中文译为“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万维网联盟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”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0" lang="zh-C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万维网联盟是国际最著名的标准化组织。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18" marR="914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 bwMode="auto">
          <a:xfrm>
            <a:off x="696650" y="2148482"/>
            <a:ext cx="3302823" cy="3588685"/>
            <a:chOff x="-100738" y="2304241"/>
            <a:chExt cx="3899588" cy="4234140"/>
          </a:xfrm>
        </p:grpSpPr>
        <p:pic>
          <p:nvPicPr>
            <p:cNvPr id="4" name="Picture 3" descr="C:\Documents and Settings\Administrator\桌面\辛苦工作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00738" y="2304241"/>
              <a:ext cx="3899588" cy="2818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11"/>
            <p:cNvSpPr txBox="1">
              <a:spLocks noChangeArrowheads="1"/>
            </p:cNvSpPr>
            <p:nvPr/>
          </p:nvSpPr>
          <p:spPr bwMode="auto">
            <a:xfrm>
              <a:off x="132912" y="5173772"/>
              <a:ext cx="3665936" cy="1364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由于不同的</a:t>
              </a:r>
              <a:r>
                <a:rPr lang="zh-CN" altLang="zh-CN" sz="1600" dirty="0">
                  <a:solidFill>
                    <a:srgbClr val="006B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浏览器解析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出来的</a:t>
              </a:r>
              <a:r>
                <a:rPr lang="zh-CN" altLang="zh-CN" sz="1600" dirty="0">
                  <a:solidFill>
                    <a:srgbClr val="006B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效果可能不一致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开发者常常需要为</a:t>
              </a:r>
              <a:r>
                <a:rPr lang="zh-CN" altLang="zh-CN" sz="1600" dirty="0">
                  <a:solidFill>
                    <a:srgbClr val="006B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多版本的开发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而艰苦工作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6" name="虚尾箭头 5"/>
          <p:cNvSpPr/>
          <p:nvPr/>
        </p:nvSpPr>
        <p:spPr bwMode="auto">
          <a:xfrm>
            <a:off x="3746322" y="3323637"/>
            <a:ext cx="1498253" cy="771346"/>
          </a:xfrm>
          <a:prstGeom prst="stripedRightArrow">
            <a:avLst/>
          </a:prstGeom>
          <a:solidFill>
            <a:srgbClr val="006BBC"/>
          </a:solidFill>
          <a:ln w="9525" cap="flat" cmpd="sng" algn="ctr">
            <a:solidFill>
              <a:schemeClr val="bg1">
                <a:alpha val="8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5563517" y="2148482"/>
            <a:ext cx="1064966" cy="2918736"/>
            <a:chOff x="3756546" y="2567342"/>
            <a:chExt cx="1064816" cy="2919253"/>
          </a:xfrm>
        </p:grpSpPr>
        <p:pic>
          <p:nvPicPr>
            <p:cNvPr id="8" name="Picture 4" descr="C:\Documents and Settings\Administrator\桌面\ie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6546" y="2567342"/>
              <a:ext cx="1059534" cy="1027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图片 1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6546" y="3506268"/>
              <a:ext cx="1064816" cy="1032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图片 1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6546" y="4504392"/>
              <a:ext cx="1012897" cy="982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虚尾箭头 10"/>
          <p:cNvSpPr/>
          <p:nvPr/>
        </p:nvSpPr>
        <p:spPr bwMode="auto">
          <a:xfrm>
            <a:off x="6816750" y="3210145"/>
            <a:ext cx="1648395" cy="909462"/>
          </a:xfrm>
          <a:prstGeom prst="stripedRightArrow">
            <a:avLst/>
          </a:prstGeom>
          <a:solidFill>
            <a:srgbClr val="006BBC"/>
          </a:solidFill>
          <a:ln w="9525" cap="flat" cmpd="sng" algn="ctr">
            <a:solidFill>
              <a:schemeClr val="bg1">
                <a:alpha val="8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展示统一内容</a:t>
            </a: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04752" y="2493113"/>
            <a:ext cx="2792705" cy="280766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Web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"/>
          <p:cNvSpPr txBox="1"/>
          <p:nvPr/>
        </p:nvSpPr>
        <p:spPr>
          <a:xfrm>
            <a:off x="984616" y="1700382"/>
            <a:ext cx="10251146" cy="5047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标准并不是某一个标准，而是一系列标准的集合，主要包括</a:t>
            </a:r>
            <a:r>
              <a:rPr lang="zh-CN" altLang="en-US" sz="2000" dirty="0">
                <a:solidFill>
                  <a:srgbClr val="1369B2"/>
                </a:solidFill>
              </a:rPr>
              <a:t>结构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</a:rPr>
              <a:t>表现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</a:rPr>
              <a:t>行为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个方面。</a:t>
            </a:r>
          </a:p>
        </p:txBody>
      </p:sp>
      <p:sp>
        <p:nvSpPr>
          <p:cNvPr id="9" name="椭圆 8"/>
          <p:cNvSpPr/>
          <p:nvPr/>
        </p:nvSpPr>
        <p:spPr>
          <a:xfrm>
            <a:off x="1186004" y="2925349"/>
            <a:ext cx="2591400" cy="25914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</a:p>
        </p:txBody>
      </p:sp>
      <p:sp>
        <p:nvSpPr>
          <p:cNvPr id="10" name="椭圆 9"/>
          <p:cNvSpPr/>
          <p:nvPr/>
        </p:nvSpPr>
        <p:spPr>
          <a:xfrm>
            <a:off x="4817191" y="2925349"/>
            <a:ext cx="2591400" cy="25914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表现</a:t>
            </a:r>
          </a:p>
        </p:txBody>
      </p:sp>
      <p:sp>
        <p:nvSpPr>
          <p:cNvPr id="11" name="椭圆 10"/>
          <p:cNvSpPr/>
          <p:nvPr/>
        </p:nvSpPr>
        <p:spPr>
          <a:xfrm>
            <a:off x="8428387" y="2925349"/>
            <a:ext cx="2591400" cy="25914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</a:t>
            </a:r>
          </a:p>
        </p:txBody>
      </p:sp>
      <p:sp>
        <p:nvSpPr>
          <p:cNvPr id="12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Web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1368296" y="1682836"/>
            <a:ext cx="602583" cy="602583"/>
            <a:chOff x="1792756" y="4149080"/>
            <a:chExt cx="2304000" cy="2304000"/>
          </a:xfrm>
        </p:grpSpPr>
        <p:grpSp>
          <p:nvGrpSpPr>
            <p:cNvPr id="30" name="组合 29"/>
            <p:cNvGrpSpPr/>
            <p:nvPr/>
          </p:nvGrpSpPr>
          <p:grpSpPr>
            <a:xfrm>
              <a:off x="1792756" y="4149080"/>
              <a:ext cx="2304000" cy="2304000"/>
              <a:chOff x="1827622" y="1343919"/>
              <a:chExt cx="2304000" cy="23040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827622" y="1343919"/>
                <a:ext cx="2304000" cy="2304000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 cap="flat" cmpd="sng" algn="ctr">
                <a:noFill/>
                <a:prstDash val="solid"/>
              </a:ln>
              <a:effectLst>
                <a:outerShdw blurRad="635000" dist="469900" dir="8400000" sx="46000" sy="46000" algn="tr" rotWithShape="0">
                  <a:prstClr val="black">
                    <a:alpha val="61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>
                  <a:defRPr/>
                </a:pPr>
                <a:endParaRPr lang="zh-CN" altLang="en-US" sz="1800" kern="0">
                  <a:solidFill>
                    <a:sysClr val="window" lastClr="FFFFFF"/>
                  </a:solidFill>
                  <a:latin typeface="Franklin Gothic Book"/>
                  <a:ea typeface="黑体" panose="02010609060101010101" charset="-122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77481" y="1393778"/>
                <a:ext cx="2204282" cy="2204282"/>
              </a:xfrm>
              <a:prstGeom prst="ellipse">
                <a:avLst/>
              </a:prstGeom>
              <a:solidFill>
                <a:srgbClr val="F3F3F3"/>
              </a:solidFill>
              <a:ln w="22225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  <a:effectLst>
                <a:innerShdw blurRad="76200" dist="38100" dir="16200000">
                  <a:prstClr val="black">
                    <a:alpha val="37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1" name="椭圆 30"/>
            <p:cNvSpPr/>
            <p:nvPr/>
          </p:nvSpPr>
          <p:spPr>
            <a:xfrm>
              <a:off x="2132105" y="4488429"/>
              <a:ext cx="1625302" cy="1625302"/>
            </a:xfrm>
            <a:prstGeom prst="ellipse">
              <a:avLst/>
            </a:prstGeom>
            <a:solidFill>
              <a:srgbClr val="005DA2"/>
            </a:solidFill>
            <a:ln w="22225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文本框 17"/>
          <p:cNvSpPr txBox="1"/>
          <p:nvPr/>
        </p:nvSpPr>
        <p:spPr>
          <a:xfrm>
            <a:off x="2473167" y="1701443"/>
            <a:ext cx="146309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DFDFDF"/>
                </a:solidFill>
                <a:latin typeface="大梁体字库-繁简素材版" panose="03000502000000000000" pitchFamily="66" charset="-122"/>
                <a:ea typeface="大梁体字库-繁简素材版" panose="03000502000000000000" pitchFamily="66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046592" y="2176673"/>
            <a:ext cx="158029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368296" y="2579474"/>
            <a:ext cx="10055063" cy="489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用于对网页中的信息进行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，在结构中用到的标准主要包括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XHTML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4" name="直接连接符 33"/>
          <p:cNvSpPr/>
          <p:nvPr/>
        </p:nvSpPr>
        <p:spPr bwMode="auto">
          <a:xfrm>
            <a:off x="1532358" y="6075937"/>
            <a:ext cx="8082326" cy="0"/>
          </a:xfrm>
          <a:prstGeom prst="line">
            <a:avLst/>
          </a:prstGeom>
          <a:noFill/>
          <a:ln w="25400" cap="flat" cmpd="sng" algn="ctr"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5" name="直接连接符 34"/>
          <p:cNvSpPr/>
          <p:nvPr/>
        </p:nvSpPr>
        <p:spPr bwMode="auto">
          <a:xfrm>
            <a:off x="1532358" y="5009269"/>
            <a:ext cx="8082326" cy="0"/>
          </a:xfrm>
          <a:prstGeom prst="line">
            <a:avLst/>
          </a:prstGeom>
          <a:noFill/>
          <a:ln w="25400" cap="flat" cmpd="sng" algn="ctr"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6" name="直接连接符 35"/>
          <p:cNvSpPr/>
          <p:nvPr/>
        </p:nvSpPr>
        <p:spPr bwMode="auto">
          <a:xfrm>
            <a:off x="1532358" y="3996592"/>
            <a:ext cx="8082326" cy="0"/>
          </a:xfrm>
          <a:prstGeom prst="line">
            <a:avLst/>
          </a:prstGeom>
          <a:noFill/>
          <a:ln w="25400" cap="flat" cmpd="sng" algn="ctr"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7" name="任意多边形 15"/>
          <p:cNvSpPr/>
          <p:nvPr/>
        </p:nvSpPr>
        <p:spPr bwMode="auto">
          <a:xfrm>
            <a:off x="1532358" y="3596634"/>
            <a:ext cx="626527" cy="399957"/>
          </a:xfrm>
          <a:custGeom>
            <a:avLst/>
            <a:gdLst>
              <a:gd name="connsiteX0" fmla="*/ 66808 w 2054928"/>
              <a:gd name="connsiteY0" fmla="*/ 0 h 400767"/>
              <a:gd name="connsiteX1" fmla="*/ 1988120 w 2054928"/>
              <a:gd name="connsiteY1" fmla="*/ 0 h 400767"/>
              <a:gd name="connsiteX2" fmla="*/ 2054928 w 2054928"/>
              <a:gd name="connsiteY2" fmla="*/ 66808 h 400767"/>
              <a:gd name="connsiteX3" fmla="*/ 2054928 w 2054928"/>
              <a:gd name="connsiteY3" fmla="*/ 400767 h 400767"/>
              <a:gd name="connsiteX4" fmla="*/ 2054928 w 2054928"/>
              <a:gd name="connsiteY4" fmla="*/ 400767 h 400767"/>
              <a:gd name="connsiteX5" fmla="*/ 0 w 2054928"/>
              <a:gd name="connsiteY5" fmla="*/ 400767 h 400767"/>
              <a:gd name="connsiteX6" fmla="*/ 0 w 2054928"/>
              <a:gd name="connsiteY6" fmla="*/ 400767 h 400767"/>
              <a:gd name="connsiteX7" fmla="*/ 0 w 2054928"/>
              <a:gd name="connsiteY7" fmla="*/ 66808 h 400767"/>
              <a:gd name="connsiteX8" fmla="*/ 66808 w 2054928"/>
              <a:gd name="connsiteY8" fmla="*/ 0 h 400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4928" h="400767">
                <a:moveTo>
                  <a:pt x="66808" y="0"/>
                </a:moveTo>
                <a:lnTo>
                  <a:pt x="1988120" y="0"/>
                </a:lnTo>
                <a:cubicBezTo>
                  <a:pt x="2025017" y="0"/>
                  <a:pt x="2054928" y="29911"/>
                  <a:pt x="2054928" y="66808"/>
                </a:cubicBezTo>
                <a:lnTo>
                  <a:pt x="2054928" y="400767"/>
                </a:lnTo>
                <a:lnTo>
                  <a:pt x="2054928" y="400767"/>
                </a:lnTo>
                <a:lnTo>
                  <a:pt x="0" y="400767"/>
                </a:lnTo>
                <a:lnTo>
                  <a:pt x="0" y="400767"/>
                </a:lnTo>
                <a:lnTo>
                  <a:pt x="0" y="66808"/>
                </a:lnTo>
                <a:cubicBezTo>
                  <a:pt x="0" y="29911"/>
                  <a:pt x="29911" y="0"/>
                  <a:pt x="66808" y="0"/>
                </a:cubicBezTo>
                <a:close/>
              </a:path>
            </a:pathLst>
          </a:custGeom>
          <a:solidFill>
            <a:srgbClr val="4BACC6">
              <a:hueOff val="0"/>
              <a:satOff val="0"/>
              <a:lumOff val="0"/>
              <a:alphaOff val="0"/>
            </a:srgbClr>
          </a:solidFill>
          <a:ln w="25400" cap="flat" cmpd="sng" algn="ctr"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57654" tIns="57654" rIns="57654" bIns="38091" spcCol="127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88822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8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任意多边形 16"/>
          <p:cNvSpPr/>
          <p:nvPr/>
        </p:nvSpPr>
        <p:spPr bwMode="auto">
          <a:xfrm>
            <a:off x="1532358" y="4598481"/>
            <a:ext cx="626527" cy="399957"/>
          </a:xfrm>
          <a:custGeom>
            <a:avLst/>
            <a:gdLst>
              <a:gd name="connsiteX0" fmla="*/ 66808 w 2054928"/>
              <a:gd name="connsiteY0" fmla="*/ 0 h 400767"/>
              <a:gd name="connsiteX1" fmla="*/ 1988120 w 2054928"/>
              <a:gd name="connsiteY1" fmla="*/ 0 h 400767"/>
              <a:gd name="connsiteX2" fmla="*/ 2054928 w 2054928"/>
              <a:gd name="connsiteY2" fmla="*/ 66808 h 400767"/>
              <a:gd name="connsiteX3" fmla="*/ 2054928 w 2054928"/>
              <a:gd name="connsiteY3" fmla="*/ 400767 h 400767"/>
              <a:gd name="connsiteX4" fmla="*/ 2054928 w 2054928"/>
              <a:gd name="connsiteY4" fmla="*/ 400767 h 400767"/>
              <a:gd name="connsiteX5" fmla="*/ 0 w 2054928"/>
              <a:gd name="connsiteY5" fmla="*/ 400767 h 400767"/>
              <a:gd name="connsiteX6" fmla="*/ 0 w 2054928"/>
              <a:gd name="connsiteY6" fmla="*/ 400767 h 400767"/>
              <a:gd name="connsiteX7" fmla="*/ 0 w 2054928"/>
              <a:gd name="connsiteY7" fmla="*/ 66808 h 400767"/>
              <a:gd name="connsiteX8" fmla="*/ 66808 w 2054928"/>
              <a:gd name="connsiteY8" fmla="*/ 0 h 400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4928" h="400767">
                <a:moveTo>
                  <a:pt x="66808" y="0"/>
                </a:moveTo>
                <a:lnTo>
                  <a:pt x="1988120" y="0"/>
                </a:lnTo>
                <a:cubicBezTo>
                  <a:pt x="2025017" y="0"/>
                  <a:pt x="2054928" y="29911"/>
                  <a:pt x="2054928" y="66808"/>
                </a:cubicBezTo>
                <a:lnTo>
                  <a:pt x="2054928" y="400767"/>
                </a:lnTo>
                <a:lnTo>
                  <a:pt x="2054928" y="400767"/>
                </a:lnTo>
                <a:lnTo>
                  <a:pt x="0" y="400767"/>
                </a:lnTo>
                <a:lnTo>
                  <a:pt x="0" y="400767"/>
                </a:lnTo>
                <a:lnTo>
                  <a:pt x="0" y="66808"/>
                </a:lnTo>
                <a:cubicBezTo>
                  <a:pt x="0" y="29911"/>
                  <a:pt x="29911" y="0"/>
                  <a:pt x="6680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57654" tIns="57654" rIns="57654" bIns="38091" spcCol="127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88822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8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17"/>
          <p:cNvSpPr/>
          <p:nvPr/>
        </p:nvSpPr>
        <p:spPr bwMode="auto">
          <a:xfrm>
            <a:off x="1532358" y="5675877"/>
            <a:ext cx="626527" cy="399957"/>
          </a:xfrm>
          <a:custGeom>
            <a:avLst/>
            <a:gdLst>
              <a:gd name="connsiteX0" fmla="*/ 66808 w 2054928"/>
              <a:gd name="connsiteY0" fmla="*/ 0 h 400767"/>
              <a:gd name="connsiteX1" fmla="*/ 1988120 w 2054928"/>
              <a:gd name="connsiteY1" fmla="*/ 0 h 400767"/>
              <a:gd name="connsiteX2" fmla="*/ 2054928 w 2054928"/>
              <a:gd name="connsiteY2" fmla="*/ 66808 h 400767"/>
              <a:gd name="connsiteX3" fmla="*/ 2054928 w 2054928"/>
              <a:gd name="connsiteY3" fmla="*/ 400767 h 400767"/>
              <a:gd name="connsiteX4" fmla="*/ 2054928 w 2054928"/>
              <a:gd name="connsiteY4" fmla="*/ 400767 h 400767"/>
              <a:gd name="connsiteX5" fmla="*/ 0 w 2054928"/>
              <a:gd name="connsiteY5" fmla="*/ 400767 h 400767"/>
              <a:gd name="connsiteX6" fmla="*/ 0 w 2054928"/>
              <a:gd name="connsiteY6" fmla="*/ 400767 h 400767"/>
              <a:gd name="connsiteX7" fmla="*/ 0 w 2054928"/>
              <a:gd name="connsiteY7" fmla="*/ 66808 h 400767"/>
              <a:gd name="connsiteX8" fmla="*/ 66808 w 2054928"/>
              <a:gd name="connsiteY8" fmla="*/ 0 h 400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4928" h="400767">
                <a:moveTo>
                  <a:pt x="66808" y="0"/>
                </a:moveTo>
                <a:lnTo>
                  <a:pt x="1988120" y="0"/>
                </a:lnTo>
                <a:cubicBezTo>
                  <a:pt x="2025017" y="0"/>
                  <a:pt x="2054928" y="29911"/>
                  <a:pt x="2054928" y="66808"/>
                </a:cubicBezTo>
                <a:lnTo>
                  <a:pt x="2054928" y="400767"/>
                </a:lnTo>
                <a:lnTo>
                  <a:pt x="2054928" y="400767"/>
                </a:lnTo>
                <a:lnTo>
                  <a:pt x="0" y="400767"/>
                </a:lnTo>
                <a:lnTo>
                  <a:pt x="0" y="400767"/>
                </a:lnTo>
                <a:lnTo>
                  <a:pt x="0" y="66808"/>
                </a:lnTo>
                <a:cubicBezTo>
                  <a:pt x="0" y="29911"/>
                  <a:pt x="29911" y="0"/>
                  <a:pt x="66808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57654" tIns="57654" rIns="57654" bIns="38091" spcCol="127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88822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8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35"/>
          <p:cNvSpPr txBox="1">
            <a:spLocks noChangeArrowheads="1"/>
          </p:cNvSpPr>
          <p:nvPr/>
        </p:nvSpPr>
        <p:spPr bwMode="auto">
          <a:xfrm>
            <a:off x="2204031" y="3500991"/>
            <a:ext cx="7455798" cy="489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旨在创建结构化文档并赋予其语义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1" name="TextBox 35"/>
          <p:cNvSpPr txBox="1">
            <a:spLocks noChangeArrowheads="1"/>
          </p:cNvSpPr>
          <p:nvPr/>
        </p:nvSpPr>
        <p:spPr bwMode="auto">
          <a:xfrm>
            <a:off x="2260150" y="4148913"/>
            <a:ext cx="7410653" cy="904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最初的设计目的是弥补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的不足，其具有强大的可扩展性，可用于数据的转换和描述。</a:t>
            </a:r>
            <a:endParaRPr lang="zh-CN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35"/>
          <p:cNvSpPr txBox="1">
            <a:spLocks noChangeArrowheads="1"/>
          </p:cNvSpPr>
          <p:nvPr/>
        </p:nvSpPr>
        <p:spPr bwMode="auto">
          <a:xfrm>
            <a:off x="2184445" y="5187709"/>
            <a:ext cx="7573428" cy="904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XHTML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是可扩展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超文本标记语言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，它在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 4.0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的基础上，用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的严格语法规则对其进行扩展而成，设计目的是实现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的过渡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0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Web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1368296" y="1701208"/>
            <a:ext cx="602583" cy="602583"/>
            <a:chOff x="1792756" y="4149080"/>
            <a:chExt cx="2304000" cy="2304000"/>
          </a:xfrm>
        </p:grpSpPr>
        <p:grpSp>
          <p:nvGrpSpPr>
            <p:cNvPr id="30" name="组合 29"/>
            <p:cNvGrpSpPr/>
            <p:nvPr/>
          </p:nvGrpSpPr>
          <p:grpSpPr>
            <a:xfrm>
              <a:off x="1792756" y="4149080"/>
              <a:ext cx="2304000" cy="2304000"/>
              <a:chOff x="1827622" y="1343919"/>
              <a:chExt cx="2304000" cy="23040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827622" y="1343919"/>
                <a:ext cx="2304000" cy="2304000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 cap="flat" cmpd="sng" algn="ctr">
                <a:noFill/>
                <a:prstDash val="solid"/>
              </a:ln>
              <a:effectLst>
                <a:outerShdw blurRad="635000" dist="469900" dir="8400000" sx="46000" sy="46000" algn="tr" rotWithShape="0">
                  <a:prstClr val="black">
                    <a:alpha val="61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>
                  <a:defRPr/>
                </a:pPr>
                <a:endParaRPr lang="zh-CN" altLang="en-US" sz="1800" kern="0">
                  <a:solidFill>
                    <a:sysClr val="window" lastClr="FFFFFF"/>
                  </a:solidFill>
                  <a:latin typeface="Franklin Gothic Book"/>
                  <a:ea typeface="黑体" panose="02010609060101010101" charset="-122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77481" y="1393778"/>
                <a:ext cx="2204282" cy="2204282"/>
              </a:xfrm>
              <a:prstGeom prst="ellipse">
                <a:avLst/>
              </a:prstGeom>
              <a:solidFill>
                <a:srgbClr val="F3F3F3"/>
              </a:solidFill>
              <a:ln w="22225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  <a:effectLst>
                <a:innerShdw blurRad="76200" dist="38100" dir="16200000">
                  <a:prstClr val="black">
                    <a:alpha val="37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1" name="椭圆 30"/>
            <p:cNvSpPr/>
            <p:nvPr/>
          </p:nvSpPr>
          <p:spPr>
            <a:xfrm>
              <a:off x="2132105" y="4488429"/>
              <a:ext cx="1625302" cy="1625302"/>
            </a:xfrm>
            <a:prstGeom prst="ellipse">
              <a:avLst/>
            </a:prstGeom>
            <a:solidFill>
              <a:srgbClr val="005DA2"/>
            </a:solidFill>
            <a:ln w="22225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文本框 17"/>
          <p:cNvSpPr txBox="1"/>
          <p:nvPr/>
        </p:nvSpPr>
        <p:spPr>
          <a:xfrm>
            <a:off x="2473167" y="1719815"/>
            <a:ext cx="146309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DFDFDF"/>
                </a:solidFill>
                <a:latin typeface="大梁体字库-繁简素材版" panose="03000502000000000000" pitchFamily="66" charset="-122"/>
                <a:ea typeface="大梁体字库-繁简素材版" panose="03000502000000000000" pitchFamily="66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表现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046592" y="2195045"/>
            <a:ext cx="158029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5520069" y="3245248"/>
            <a:ext cx="5327359" cy="1320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表现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是指网页展示给访问者的外在样式，一般包括网页的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字号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等。在制作网页时，通常使用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来设置网页的样式。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Web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490594" y="2565105"/>
            <a:ext cx="3379728" cy="39641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821E4-88F3-2C4F-7DB8-BBFC193BD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1CDBFD76-6B5B-D2EE-517C-38C424FCB418}"/>
              </a:ext>
            </a:extLst>
          </p:cNvPr>
          <p:cNvGrpSpPr/>
          <p:nvPr/>
        </p:nvGrpSpPr>
        <p:grpSpPr>
          <a:xfrm>
            <a:off x="1368296" y="1682836"/>
            <a:ext cx="602583" cy="602583"/>
            <a:chOff x="1792756" y="4149080"/>
            <a:chExt cx="2304000" cy="2304000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5FC550E4-5653-3B62-1123-28DCE78C3F05}"/>
                </a:ext>
              </a:extLst>
            </p:cNvPr>
            <p:cNvGrpSpPr/>
            <p:nvPr/>
          </p:nvGrpSpPr>
          <p:grpSpPr>
            <a:xfrm>
              <a:off x="1792756" y="4149080"/>
              <a:ext cx="2304000" cy="2304000"/>
              <a:chOff x="1827622" y="1343919"/>
              <a:chExt cx="2304000" cy="2304000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36E2076B-E172-E61A-C6C8-E139DDBADADE}"/>
                  </a:ext>
                </a:extLst>
              </p:cNvPr>
              <p:cNvSpPr/>
              <p:nvPr/>
            </p:nvSpPr>
            <p:spPr>
              <a:xfrm>
                <a:off x="1827622" y="1343919"/>
                <a:ext cx="2304000" cy="2304000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 cap="flat" cmpd="sng" algn="ctr">
                <a:noFill/>
                <a:prstDash val="solid"/>
              </a:ln>
              <a:effectLst>
                <a:outerShdw blurRad="635000" dist="469900" dir="8400000" sx="46000" sy="46000" algn="tr" rotWithShape="0">
                  <a:prstClr val="black">
                    <a:alpha val="61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>
                  <a:defRPr/>
                </a:pPr>
                <a:endParaRPr lang="zh-CN" altLang="en-US" sz="1800" kern="0">
                  <a:solidFill>
                    <a:sysClr val="window" lastClr="FFFFFF"/>
                  </a:solidFill>
                  <a:latin typeface="Franklin Gothic Book"/>
                  <a:ea typeface="黑体" panose="02010609060101010101" charset="-122"/>
                </a:endParaRP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41C4A09C-AABB-6F6E-435C-B89CEBFE9C9D}"/>
                  </a:ext>
                </a:extLst>
              </p:cNvPr>
              <p:cNvSpPr/>
              <p:nvPr/>
            </p:nvSpPr>
            <p:spPr>
              <a:xfrm>
                <a:off x="1877481" y="1393778"/>
                <a:ext cx="2204282" cy="2204282"/>
              </a:xfrm>
              <a:prstGeom prst="ellipse">
                <a:avLst/>
              </a:prstGeom>
              <a:solidFill>
                <a:srgbClr val="F3F3F3"/>
              </a:solidFill>
              <a:ln w="22225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  <a:effectLst>
                <a:innerShdw blurRad="76200" dist="38100" dir="16200000">
                  <a:prstClr val="black">
                    <a:alpha val="37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13FC1842-0D54-D373-4EF6-26F0015EED71}"/>
                </a:ext>
              </a:extLst>
            </p:cNvPr>
            <p:cNvSpPr/>
            <p:nvPr/>
          </p:nvSpPr>
          <p:spPr>
            <a:xfrm>
              <a:off x="2132105" y="4488429"/>
              <a:ext cx="1625302" cy="1625302"/>
            </a:xfrm>
            <a:prstGeom prst="ellipse">
              <a:avLst/>
            </a:prstGeom>
            <a:solidFill>
              <a:srgbClr val="005DA2"/>
            </a:solidFill>
            <a:ln w="22225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文本框 17">
            <a:extLst>
              <a:ext uri="{FF2B5EF4-FFF2-40B4-BE49-F238E27FC236}">
                <a16:creationId xmlns:a16="http://schemas.microsoft.com/office/drawing/2014/main" id="{B4EBFCE8-6F88-83A4-0582-187E960D8AED}"/>
              </a:ext>
            </a:extLst>
          </p:cNvPr>
          <p:cNvSpPr txBox="1"/>
          <p:nvPr/>
        </p:nvSpPr>
        <p:spPr>
          <a:xfrm>
            <a:off x="2473167" y="1701443"/>
            <a:ext cx="146309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DFDFDF"/>
                </a:solidFill>
                <a:latin typeface="大梁体字库-繁简素材版" panose="03000502000000000000" pitchFamily="66" charset="-122"/>
                <a:ea typeface="大梁体字库-繁简素材版" panose="03000502000000000000" pitchFamily="66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269DA63-A849-99B0-933C-CFB48AC9C5C8}"/>
              </a:ext>
            </a:extLst>
          </p:cNvPr>
          <p:cNvCxnSpPr/>
          <p:nvPr/>
        </p:nvCxnSpPr>
        <p:spPr>
          <a:xfrm>
            <a:off x="2046592" y="2176673"/>
            <a:ext cx="158029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35">
            <a:extLst>
              <a:ext uri="{FF2B5EF4-FFF2-40B4-BE49-F238E27FC236}">
                <a16:creationId xmlns:a16="http://schemas.microsoft.com/office/drawing/2014/main" id="{0399452A-6D44-DE7F-A712-313268ADE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296" y="2579474"/>
            <a:ext cx="10199046" cy="489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是指网页模型的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效果的实现，行为标准包括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ECMAScript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个部分。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5BF409D2-5DEC-7182-B1E9-62DB2890E370}"/>
              </a:ext>
            </a:extLst>
          </p:cNvPr>
          <p:cNvSpPr/>
          <p:nvPr/>
        </p:nvSpPr>
        <p:spPr bwMode="auto">
          <a:xfrm>
            <a:off x="1532358" y="6220833"/>
            <a:ext cx="8082326" cy="0"/>
          </a:xfrm>
          <a:prstGeom prst="line">
            <a:avLst/>
          </a:prstGeom>
          <a:noFill/>
          <a:ln w="25400" cap="flat" cmpd="sng" algn="ctr"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7E1A86C1-E867-C89D-3925-A07B86E85E33}"/>
              </a:ext>
            </a:extLst>
          </p:cNvPr>
          <p:cNvSpPr/>
          <p:nvPr/>
        </p:nvSpPr>
        <p:spPr bwMode="auto">
          <a:xfrm>
            <a:off x="1532358" y="5225243"/>
            <a:ext cx="8082326" cy="0"/>
          </a:xfrm>
          <a:prstGeom prst="line">
            <a:avLst/>
          </a:prstGeom>
          <a:noFill/>
          <a:ln w="25400" cap="flat" cmpd="sng" algn="ctr"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627DFA28-49F8-B3DD-2193-069F96316694}"/>
              </a:ext>
            </a:extLst>
          </p:cNvPr>
          <p:cNvSpPr/>
          <p:nvPr/>
        </p:nvSpPr>
        <p:spPr bwMode="auto">
          <a:xfrm>
            <a:off x="1532358" y="4212566"/>
            <a:ext cx="8082326" cy="0"/>
          </a:xfrm>
          <a:prstGeom prst="line">
            <a:avLst/>
          </a:prstGeom>
          <a:noFill/>
          <a:ln w="25400" cap="flat" cmpd="sng" algn="ctr"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4" name="任意多边形 15">
            <a:extLst>
              <a:ext uri="{FF2B5EF4-FFF2-40B4-BE49-F238E27FC236}">
                <a16:creationId xmlns:a16="http://schemas.microsoft.com/office/drawing/2014/main" id="{DF4AA310-F76B-3DC5-73BD-7C1C323C8955}"/>
              </a:ext>
            </a:extLst>
          </p:cNvPr>
          <p:cNvSpPr/>
          <p:nvPr/>
        </p:nvSpPr>
        <p:spPr bwMode="auto">
          <a:xfrm>
            <a:off x="1532358" y="3812608"/>
            <a:ext cx="626527" cy="399957"/>
          </a:xfrm>
          <a:custGeom>
            <a:avLst/>
            <a:gdLst>
              <a:gd name="connsiteX0" fmla="*/ 66808 w 2054928"/>
              <a:gd name="connsiteY0" fmla="*/ 0 h 400767"/>
              <a:gd name="connsiteX1" fmla="*/ 1988120 w 2054928"/>
              <a:gd name="connsiteY1" fmla="*/ 0 h 400767"/>
              <a:gd name="connsiteX2" fmla="*/ 2054928 w 2054928"/>
              <a:gd name="connsiteY2" fmla="*/ 66808 h 400767"/>
              <a:gd name="connsiteX3" fmla="*/ 2054928 w 2054928"/>
              <a:gd name="connsiteY3" fmla="*/ 400767 h 400767"/>
              <a:gd name="connsiteX4" fmla="*/ 2054928 w 2054928"/>
              <a:gd name="connsiteY4" fmla="*/ 400767 h 400767"/>
              <a:gd name="connsiteX5" fmla="*/ 0 w 2054928"/>
              <a:gd name="connsiteY5" fmla="*/ 400767 h 400767"/>
              <a:gd name="connsiteX6" fmla="*/ 0 w 2054928"/>
              <a:gd name="connsiteY6" fmla="*/ 400767 h 400767"/>
              <a:gd name="connsiteX7" fmla="*/ 0 w 2054928"/>
              <a:gd name="connsiteY7" fmla="*/ 66808 h 400767"/>
              <a:gd name="connsiteX8" fmla="*/ 66808 w 2054928"/>
              <a:gd name="connsiteY8" fmla="*/ 0 h 400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4928" h="400767">
                <a:moveTo>
                  <a:pt x="66808" y="0"/>
                </a:moveTo>
                <a:lnTo>
                  <a:pt x="1988120" y="0"/>
                </a:lnTo>
                <a:cubicBezTo>
                  <a:pt x="2025017" y="0"/>
                  <a:pt x="2054928" y="29911"/>
                  <a:pt x="2054928" y="66808"/>
                </a:cubicBezTo>
                <a:lnTo>
                  <a:pt x="2054928" y="400767"/>
                </a:lnTo>
                <a:lnTo>
                  <a:pt x="2054928" y="400767"/>
                </a:lnTo>
                <a:lnTo>
                  <a:pt x="0" y="400767"/>
                </a:lnTo>
                <a:lnTo>
                  <a:pt x="0" y="400767"/>
                </a:lnTo>
                <a:lnTo>
                  <a:pt x="0" y="66808"/>
                </a:lnTo>
                <a:cubicBezTo>
                  <a:pt x="0" y="29911"/>
                  <a:pt x="29911" y="0"/>
                  <a:pt x="66808" y="0"/>
                </a:cubicBezTo>
                <a:close/>
              </a:path>
            </a:pathLst>
          </a:custGeom>
          <a:solidFill>
            <a:srgbClr val="4BACC6">
              <a:hueOff val="0"/>
              <a:satOff val="0"/>
              <a:lumOff val="0"/>
              <a:alphaOff val="0"/>
            </a:srgbClr>
          </a:solidFill>
          <a:ln w="25400" cap="flat" cmpd="sng" algn="ctr"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57654" tIns="57654" rIns="57654" bIns="38091" spcCol="127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88822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8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任意多边形 16">
            <a:extLst>
              <a:ext uri="{FF2B5EF4-FFF2-40B4-BE49-F238E27FC236}">
                <a16:creationId xmlns:a16="http://schemas.microsoft.com/office/drawing/2014/main" id="{26E2CE69-5BA6-0689-153B-536613A133BF}"/>
              </a:ext>
            </a:extLst>
          </p:cNvPr>
          <p:cNvSpPr/>
          <p:nvPr/>
        </p:nvSpPr>
        <p:spPr bwMode="auto">
          <a:xfrm>
            <a:off x="1532358" y="4814456"/>
            <a:ext cx="626527" cy="399957"/>
          </a:xfrm>
          <a:custGeom>
            <a:avLst/>
            <a:gdLst>
              <a:gd name="connsiteX0" fmla="*/ 66808 w 2054928"/>
              <a:gd name="connsiteY0" fmla="*/ 0 h 400767"/>
              <a:gd name="connsiteX1" fmla="*/ 1988120 w 2054928"/>
              <a:gd name="connsiteY1" fmla="*/ 0 h 400767"/>
              <a:gd name="connsiteX2" fmla="*/ 2054928 w 2054928"/>
              <a:gd name="connsiteY2" fmla="*/ 66808 h 400767"/>
              <a:gd name="connsiteX3" fmla="*/ 2054928 w 2054928"/>
              <a:gd name="connsiteY3" fmla="*/ 400767 h 400767"/>
              <a:gd name="connsiteX4" fmla="*/ 2054928 w 2054928"/>
              <a:gd name="connsiteY4" fmla="*/ 400767 h 400767"/>
              <a:gd name="connsiteX5" fmla="*/ 0 w 2054928"/>
              <a:gd name="connsiteY5" fmla="*/ 400767 h 400767"/>
              <a:gd name="connsiteX6" fmla="*/ 0 w 2054928"/>
              <a:gd name="connsiteY6" fmla="*/ 400767 h 400767"/>
              <a:gd name="connsiteX7" fmla="*/ 0 w 2054928"/>
              <a:gd name="connsiteY7" fmla="*/ 66808 h 400767"/>
              <a:gd name="connsiteX8" fmla="*/ 66808 w 2054928"/>
              <a:gd name="connsiteY8" fmla="*/ 0 h 400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4928" h="400767">
                <a:moveTo>
                  <a:pt x="66808" y="0"/>
                </a:moveTo>
                <a:lnTo>
                  <a:pt x="1988120" y="0"/>
                </a:lnTo>
                <a:cubicBezTo>
                  <a:pt x="2025017" y="0"/>
                  <a:pt x="2054928" y="29911"/>
                  <a:pt x="2054928" y="66808"/>
                </a:cubicBezTo>
                <a:lnTo>
                  <a:pt x="2054928" y="400767"/>
                </a:lnTo>
                <a:lnTo>
                  <a:pt x="2054928" y="400767"/>
                </a:lnTo>
                <a:lnTo>
                  <a:pt x="0" y="400767"/>
                </a:lnTo>
                <a:lnTo>
                  <a:pt x="0" y="400767"/>
                </a:lnTo>
                <a:lnTo>
                  <a:pt x="0" y="66808"/>
                </a:lnTo>
                <a:cubicBezTo>
                  <a:pt x="0" y="29911"/>
                  <a:pt x="29911" y="0"/>
                  <a:pt x="6680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57654" tIns="57654" rIns="57654" bIns="38091" spcCol="127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88822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8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任意多边形 17">
            <a:extLst>
              <a:ext uri="{FF2B5EF4-FFF2-40B4-BE49-F238E27FC236}">
                <a16:creationId xmlns:a16="http://schemas.microsoft.com/office/drawing/2014/main" id="{21B6C64D-3C99-14D8-FBB7-13B835E39665}"/>
              </a:ext>
            </a:extLst>
          </p:cNvPr>
          <p:cNvSpPr/>
          <p:nvPr/>
        </p:nvSpPr>
        <p:spPr bwMode="auto">
          <a:xfrm>
            <a:off x="1532358" y="5820773"/>
            <a:ext cx="626527" cy="399957"/>
          </a:xfrm>
          <a:custGeom>
            <a:avLst/>
            <a:gdLst>
              <a:gd name="connsiteX0" fmla="*/ 66808 w 2054928"/>
              <a:gd name="connsiteY0" fmla="*/ 0 h 400767"/>
              <a:gd name="connsiteX1" fmla="*/ 1988120 w 2054928"/>
              <a:gd name="connsiteY1" fmla="*/ 0 h 400767"/>
              <a:gd name="connsiteX2" fmla="*/ 2054928 w 2054928"/>
              <a:gd name="connsiteY2" fmla="*/ 66808 h 400767"/>
              <a:gd name="connsiteX3" fmla="*/ 2054928 w 2054928"/>
              <a:gd name="connsiteY3" fmla="*/ 400767 h 400767"/>
              <a:gd name="connsiteX4" fmla="*/ 2054928 w 2054928"/>
              <a:gd name="connsiteY4" fmla="*/ 400767 h 400767"/>
              <a:gd name="connsiteX5" fmla="*/ 0 w 2054928"/>
              <a:gd name="connsiteY5" fmla="*/ 400767 h 400767"/>
              <a:gd name="connsiteX6" fmla="*/ 0 w 2054928"/>
              <a:gd name="connsiteY6" fmla="*/ 400767 h 400767"/>
              <a:gd name="connsiteX7" fmla="*/ 0 w 2054928"/>
              <a:gd name="connsiteY7" fmla="*/ 66808 h 400767"/>
              <a:gd name="connsiteX8" fmla="*/ 66808 w 2054928"/>
              <a:gd name="connsiteY8" fmla="*/ 0 h 400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4928" h="400767">
                <a:moveTo>
                  <a:pt x="66808" y="0"/>
                </a:moveTo>
                <a:lnTo>
                  <a:pt x="1988120" y="0"/>
                </a:lnTo>
                <a:cubicBezTo>
                  <a:pt x="2025017" y="0"/>
                  <a:pt x="2054928" y="29911"/>
                  <a:pt x="2054928" y="66808"/>
                </a:cubicBezTo>
                <a:lnTo>
                  <a:pt x="2054928" y="400767"/>
                </a:lnTo>
                <a:lnTo>
                  <a:pt x="2054928" y="400767"/>
                </a:lnTo>
                <a:lnTo>
                  <a:pt x="0" y="400767"/>
                </a:lnTo>
                <a:lnTo>
                  <a:pt x="0" y="400767"/>
                </a:lnTo>
                <a:lnTo>
                  <a:pt x="0" y="66808"/>
                </a:lnTo>
                <a:cubicBezTo>
                  <a:pt x="0" y="29911"/>
                  <a:pt x="29911" y="0"/>
                  <a:pt x="66808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57654" tIns="57654" rIns="57654" bIns="38091" spcCol="127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88822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8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13566FC8-AED2-6348-7C06-479A1EBF8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031" y="3716965"/>
            <a:ext cx="7455798" cy="489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ECMAScript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的核心，由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ECMA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F51B74B3-BDD7-6BD8-49F9-E1D358469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150" y="4739215"/>
            <a:ext cx="7410653" cy="489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用于操作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浏览器窗口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，例如弹出对话框、打开窗口等。</a:t>
            </a:r>
            <a:endParaRPr lang="zh-CN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5">
            <a:extLst>
              <a:ext uri="{FF2B5EF4-FFF2-40B4-BE49-F238E27FC236}">
                <a16:creationId xmlns:a16="http://schemas.microsoft.com/office/drawing/2014/main" id="{AE6DB881-1AA9-79F3-6669-C12741498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150" y="5331691"/>
            <a:ext cx="7573428" cy="904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允许程序和脚本动态地访问和更新文档的内容、结构和样式，即通过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可对页面中的各种元素进行操作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2B3CC4C-E1B5-49B1-117B-2F67FA6EA7EA}"/>
              </a:ext>
            </a:extLst>
          </p:cNvPr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149D22-E5B9-2590-9BB2-E60B8AC86E92}"/>
              </a:ext>
            </a:extLst>
          </p:cNvPr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Web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</p:spTree>
    <p:extLst>
      <p:ext uri="{BB962C8B-B14F-4D97-AF65-F5344CB8AC3E}">
        <p14:creationId xmlns:p14="http://schemas.microsoft.com/office/powerpoint/2010/main" val="405440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786405" y="1950082"/>
            <a:ext cx="10199046" cy="1046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zh-CN" sz="2000" dirty="0">
                <a:latin typeface="Times New Roman" panose="02020603050405020304" pitchFamily="18" charset="0"/>
              </a:rPr>
              <a:t>网页由三层构成：</a:t>
            </a:r>
            <a:r>
              <a:rPr lang="zh-CN" altLang="zh-CN" sz="2000" b="1" dirty="0">
                <a:latin typeface="Times New Roman" panose="02020603050405020304" pitchFamily="18" charset="0"/>
              </a:rPr>
              <a:t>HTML </a:t>
            </a:r>
            <a:r>
              <a:rPr lang="zh-CN" altLang="zh-CN" sz="2000" dirty="0">
                <a:latin typeface="Times New Roman" panose="02020603050405020304" pitchFamily="18" charset="0"/>
              </a:rPr>
              <a:t>负责</a:t>
            </a:r>
            <a:r>
              <a:rPr lang="zh-CN" altLang="zh-CN" sz="2000" b="1" dirty="0">
                <a:latin typeface="Times New Roman" panose="02020603050405020304" pitchFamily="18" charset="0"/>
              </a:rPr>
              <a:t>结构</a:t>
            </a:r>
            <a:r>
              <a:rPr lang="zh-CN" altLang="zh-CN" sz="2000" dirty="0">
                <a:latin typeface="Times New Roman" panose="02020603050405020304" pitchFamily="18" charset="0"/>
              </a:rPr>
              <a:t>、</a:t>
            </a:r>
            <a:r>
              <a:rPr lang="zh-CN" altLang="zh-CN" sz="2000" b="1" dirty="0">
                <a:latin typeface="Times New Roman" panose="02020603050405020304" pitchFamily="18" charset="0"/>
              </a:rPr>
              <a:t>CSS </a:t>
            </a:r>
            <a:r>
              <a:rPr lang="zh-CN" altLang="zh-CN" sz="2000" dirty="0">
                <a:latin typeface="Times New Roman" panose="02020603050405020304" pitchFamily="18" charset="0"/>
              </a:rPr>
              <a:t>负责</a:t>
            </a:r>
            <a:r>
              <a:rPr lang="zh-CN" altLang="zh-CN" sz="2000" b="1" dirty="0">
                <a:latin typeface="Times New Roman" panose="02020603050405020304" pitchFamily="18" charset="0"/>
              </a:rPr>
              <a:t>表现</a:t>
            </a:r>
            <a:r>
              <a:rPr lang="zh-CN" altLang="zh-CN" sz="2000" dirty="0">
                <a:latin typeface="Times New Roman" panose="02020603050405020304" pitchFamily="18" charset="0"/>
              </a:rPr>
              <a:t>、</a:t>
            </a:r>
            <a:r>
              <a:rPr lang="zh-CN" altLang="zh-CN" sz="2000" b="1" dirty="0">
                <a:latin typeface="Times New Roman" panose="02020603050405020304" pitchFamily="18" charset="0"/>
              </a:rPr>
              <a:t>JavaScript</a:t>
            </a:r>
            <a:r>
              <a:rPr lang="zh-CN" altLang="zh-CN" sz="2000" dirty="0">
                <a:latin typeface="Times New Roman" panose="02020603050405020304" pitchFamily="18" charset="0"/>
              </a:rPr>
              <a:t> 负责</a:t>
            </a:r>
            <a:r>
              <a:rPr lang="zh-CN" altLang="zh-CN" sz="2000" b="1" dirty="0">
                <a:latin typeface="Times New Roman" panose="02020603050405020304" pitchFamily="18" charset="0"/>
              </a:rPr>
              <a:t>行为</a:t>
            </a:r>
            <a:r>
              <a:rPr lang="zh-CN" altLang="zh-CN" sz="2000" dirty="0">
                <a:latin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</a:rPr>
              <a:t>“</a:t>
            </a:r>
            <a:r>
              <a:rPr lang="zh-CN" altLang="zh-CN" sz="2000" dirty="0">
                <a:latin typeface="Times New Roman" panose="02020603050405020304" pitchFamily="18" charset="0"/>
              </a:rPr>
              <a:t>Web 标准</a:t>
            </a:r>
            <a:r>
              <a:rPr lang="zh-CN" altLang="en-US" sz="2000" dirty="0">
                <a:latin typeface="Times New Roman" panose="02020603050405020304" pitchFamily="18" charset="0"/>
              </a:rPr>
              <a:t>”</a:t>
            </a:r>
            <a:r>
              <a:rPr lang="zh-CN" altLang="zh-CN" sz="2000" dirty="0">
                <a:latin typeface="Times New Roman" panose="02020603050405020304" pitchFamily="18" charset="0"/>
              </a:rPr>
              <a:t>就是把这三层的规则写成公开规范，让所有浏览器按同一套规则实现</a:t>
            </a:r>
            <a:r>
              <a:rPr lang="zh-CN" altLang="en-US" sz="2000" dirty="0">
                <a:latin typeface="Times New Roman" panose="02020603050405020304" pitchFamily="18" charset="0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4911444" y="3013648"/>
            <a:ext cx="4640141" cy="706591"/>
          </a:xfrm>
          <a:prstGeom prst="rect">
            <a:avLst/>
          </a:prstGeom>
          <a:noFill/>
        </p:spPr>
        <p:txBody>
          <a:bodyPr wrap="square" lIns="91422" tIns="45709" rIns="91422" bIns="45709" rtlCol="0">
            <a:spAutoFit/>
          </a:bodyPr>
          <a:lstStyle/>
          <a:p>
            <a:r>
              <a:rPr lang="zh-CN" altLang="en-US" sz="3999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网页制作入门技术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488554" y="2781078"/>
            <a:ext cx="1734419" cy="1753920"/>
          </a:xfrm>
          <a:prstGeom prst="rect">
            <a:avLst/>
          </a:prstGeom>
          <a:noFill/>
        </p:spPr>
        <p:txBody>
          <a:bodyPr wrap="square" lIns="91422" tIns="45709" rIns="91422" bIns="45709" rtlCol="0">
            <a:spAutoFit/>
          </a:bodyPr>
          <a:lstStyle/>
          <a:p>
            <a:r>
              <a:rPr lang="zh-CN" altLang="en-US" sz="5399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任务</a:t>
            </a:r>
            <a:r>
              <a:rPr lang="en-US" altLang="en-GB" sz="5399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1-2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 bwMode="auto">
          <a:xfrm>
            <a:off x="5016130" y="1341252"/>
            <a:ext cx="4969312" cy="3304410"/>
            <a:chOff x="3240351" y="1447412"/>
            <a:chExt cx="4970199" cy="3305867"/>
          </a:xfrm>
        </p:grpSpPr>
        <p:pic>
          <p:nvPicPr>
            <p:cNvPr id="4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0351" y="1447412"/>
              <a:ext cx="4970199" cy="33058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 Box 7"/>
            <p:cNvSpPr txBox="1">
              <a:spLocks noChangeArrowheads="1"/>
            </p:cNvSpPr>
            <p:nvPr/>
          </p:nvSpPr>
          <p:spPr bwMode="auto">
            <a:xfrm>
              <a:off x="3704386" y="2076753"/>
              <a:ext cx="4043362" cy="79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zh-CN" altLang="en-US" sz="39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什么是</a:t>
              </a:r>
              <a:r>
                <a:rPr lang="en-US" altLang="zh-CN" sz="39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39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</a:p>
          </p:txBody>
        </p:sp>
      </p:grpSp>
      <p:pic>
        <p:nvPicPr>
          <p:cNvPr id="6" name="Picture 8" descr="问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555" y="2970890"/>
            <a:ext cx="3045707" cy="31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HTML5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51" y="2205148"/>
            <a:ext cx="2447358" cy="345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432321" y="2061165"/>
            <a:ext cx="7559090" cy="188418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  <a:prstDash val="sysDash"/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主要通过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标签对网页中的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等内容进行描述。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提供了许多标签，如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段落标签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标题标签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超链接标签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图片标签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等。网页中需要定义什么内容，就用相应的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标签描述即可。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HTML5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HTML5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125" y="3568103"/>
            <a:ext cx="6838275" cy="244770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1488554" y="1752396"/>
            <a:ext cx="9358874" cy="1467669"/>
            <a:chOff x="28203" y="2314574"/>
            <a:chExt cx="9361041" cy="1469834"/>
          </a:xfrm>
        </p:grpSpPr>
        <p:sp>
          <p:nvSpPr>
            <p:cNvPr id="20" name="矩形 19"/>
            <p:cNvSpPr/>
            <p:nvPr/>
          </p:nvSpPr>
          <p:spPr bwMode="auto">
            <a:xfrm>
              <a:off x="28203" y="2538690"/>
              <a:ext cx="9361041" cy="1245718"/>
            </a:xfrm>
            <a:prstGeom prst="rect">
              <a:avLst/>
            </a:prstGeom>
            <a:ln w="9525">
              <a:solidFill>
                <a:srgbClr val="0070C0"/>
              </a:solidFill>
            </a:ln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204059" y="2749544"/>
              <a:ext cx="8347077" cy="8754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Hyper Text Markup Language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的缩写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中文译为“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超文本标记语言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”，主要是通过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标签对网页中的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声音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等内容进行描述。</a:t>
              </a:r>
            </a:p>
          </p:txBody>
        </p:sp>
        <p:sp>
          <p:nvSpPr>
            <p:cNvPr id="22" name="任意多边形 17"/>
            <p:cNvSpPr/>
            <p:nvPr/>
          </p:nvSpPr>
          <p:spPr bwMode="auto">
            <a:xfrm>
              <a:off x="873125" y="2314574"/>
              <a:ext cx="1905000" cy="371937"/>
            </a:xfrm>
            <a:custGeom>
              <a:avLst/>
              <a:gdLst>
                <a:gd name="connsiteX0" fmla="*/ 0 w 4267200"/>
                <a:gd name="connsiteY0" fmla="*/ 201820 h 1210897"/>
                <a:gd name="connsiteX1" fmla="*/ 201820 w 4267200"/>
                <a:gd name="connsiteY1" fmla="*/ 0 h 1210897"/>
                <a:gd name="connsiteX2" fmla="*/ 4065380 w 4267200"/>
                <a:gd name="connsiteY2" fmla="*/ 0 h 1210897"/>
                <a:gd name="connsiteX3" fmla="*/ 4267200 w 4267200"/>
                <a:gd name="connsiteY3" fmla="*/ 201820 h 1210897"/>
                <a:gd name="connsiteX4" fmla="*/ 4267200 w 4267200"/>
                <a:gd name="connsiteY4" fmla="*/ 1009077 h 1210897"/>
                <a:gd name="connsiteX5" fmla="*/ 4065380 w 4267200"/>
                <a:gd name="connsiteY5" fmla="*/ 1210897 h 1210897"/>
                <a:gd name="connsiteX6" fmla="*/ 201820 w 4267200"/>
                <a:gd name="connsiteY6" fmla="*/ 1210897 h 1210897"/>
                <a:gd name="connsiteX7" fmla="*/ 0 w 4267200"/>
                <a:gd name="connsiteY7" fmla="*/ 1009077 h 1210897"/>
                <a:gd name="connsiteX8" fmla="*/ 0 w 4267200"/>
                <a:gd name="connsiteY8" fmla="*/ 201820 h 12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67200" h="1210897">
                  <a:moveTo>
                    <a:pt x="0" y="201820"/>
                  </a:moveTo>
                  <a:cubicBezTo>
                    <a:pt x="0" y="90358"/>
                    <a:pt x="90358" y="0"/>
                    <a:pt x="201820" y="0"/>
                  </a:cubicBezTo>
                  <a:lnTo>
                    <a:pt x="4065380" y="0"/>
                  </a:lnTo>
                  <a:cubicBezTo>
                    <a:pt x="4176842" y="0"/>
                    <a:pt x="4267200" y="90358"/>
                    <a:pt x="4267200" y="201820"/>
                  </a:cubicBezTo>
                  <a:lnTo>
                    <a:pt x="4267200" y="1009077"/>
                  </a:lnTo>
                  <a:cubicBezTo>
                    <a:pt x="4267200" y="1120539"/>
                    <a:pt x="4176842" y="1210897"/>
                    <a:pt x="4065380" y="1210897"/>
                  </a:cubicBezTo>
                  <a:lnTo>
                    <a:pt x="201820" y="1210897"/>
                  </a:lnTo>
                  <a:cubicBezTo>
                    <a:pt x="90358" y="1210897"/>
                    <a:pt x="0" y="1120539"/>
                    <a:pt x="0" y="1009077"/>
                  </a:cubicBezTo>
                  <a:lnTo>
                    <a:pt x="0" y="201820"/>
                  </a:lnTo>
                  <a:close/>
                </a:path>
              </a:pathLst>
            </a:custGeom>
            <a:solidFill>
              <a:srgbClr val="136AB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0350" tIns="59097" rIns="220350" bIns="59097" spcCol="127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defTabSz="2888672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499" dirty="0">
                <a:latin typeface="+mn-lt"/>
                <a:ea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73125" y="2324100"/>
              <a:ext cx="1827213" cy="3387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 述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HTML5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488554" y="1752396"/>
            <a:ext cx="9358874" cy="1467669"/>
            <a:chOff x="28203" y="2314574"/>
            <a:chExt cx="9361041" cy="1469834"/>
          </a:xfrm>
        </p:grpSpPr>
        <p:sp>
          <p:nvSpPr>
            <p:cNvPr id="7" name="矩形 6"/>
            <p:cNvSpPr/>
            <p:nvPr/>
          </p:nvSpPr>
          <p:spPr bwMode="auto">
            <a:xfrm>
              <a:off x="28203" y="2538690"/>
              <a:ext cx="9361041" cy="1245718"/>
            </a:xfrm>
            <a:prstGeom prst="rect">
              <a:avLst/>
            </a:prstGeom>
            <a:ln w="9525">
              <a:solidFill>
                <a:srgbClr val="0070C0"/>
              </a:solidFill>
            </a:ln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204059" y="2749544"/>
              <a:ext cx="8347077" cy="8754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Hyper Text Markup Language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的缩写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中文译为“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超文本标记语言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”，主要是通过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标签对网页中的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声音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等内容进行描述。</a:t>
              </a:r>
            </a:p>
          </p:txBody>
        </p:sp>
        <p:sp>
          <p:nvSpPr>
            <p:cNvPr id="10" name="任意多边形 17"/>
            <p:cNvSpPr/>
            <p:nvPr/>
          </p:nvSpPr>
          <p:spPr bwMode="auto">
            <a:xfrm>
              <a:off x="873125" y="2314574"/>
              <a:ext cx="1905000" cy="371937"/>
            </a:xfrm>
            <a:custGeom>
              <a:avLst/>
              <a:gdLst>
                <a:gd name="connsiteX0" fmla="*/ 0 w 4267200"/>
                <a:gd name="connsiteY0" fmla="*/ 201820 h 1210897"/>
                <a:gd name="connsiteX1" fmla="*/ 201820 w 4267200"/>
                <a:gd name="connsiteY1" fmla="*/ 0 h 1210897"/>
                <a:gd name="connsiteX2" fmla="*/ 4065380 w 4267200"/>
                <a:gd name="connsiteY2" fmla="*/ 0 h 1210897"/>
                <a:gd name="connsiteX3" fmla="*/ 4267200 w 4267200"/>
                <a:gd name="connsiteY3" fmla="*/ 201820 h 1210897"/>
                <a:gd name="connsiteX4" fmla="*/ 4267200 w 4267200"/>
                <a:gd name="connsiteY4" fmla="*/ 1009077 h 1210897"/>
                <a:gd name="connsiteX5" fmla="*/ 4065380 w 4267200"/>
                <a:gd name="connsiteY5" fmla="*/ 1210897 h 1210897"/>
                <a:gd name="connsiteX6" fmla="*/ 201820 w 4267200"/>
                <a:gd name="connsiteY6" fmla="*/ 1210897 h 1210897"/>
                <a:gd name="connsiteX7" fmla="*/ 0 w 4267200"/>
                <a:gd name="connsiteY7" fmla="*/ 1009077 h 1210897"/>
                <a:gd name="connsiteX8" fmla="*/ 0 w 4267200"/>
                <a:gd name="connsiteY8" fmla="*/ 201820 h 12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67200" h="1210897">
                  <a:moveTo>
                    <a:pt x="0" y="201820"/>
                  </a:moveTo>
                  <a:cubicBezTo>
                    <a:pt x="0" y="90358"/>
                    <a:pt x="90358" y="0"/>
                    <a:pt x="201820" y="0"/>
                  </a:cubicBezTo>
                  <a:lnTo>
                    <a:pt x="4065380" y="0"/>
                  </a:lnTo>
                  <a:cubicBezTo>
                    <a:pt x="4176842" y="0"/>
                    <a:pt x="4267200" y="90358"/>
                    <a:pt x="4267200" y="201820"/>
                  </a:cubicBezTo>
                  <a:lnTo>
                    <a:pt x="4267200" y="1009077"/>
                  </a:lnTo>
                  <a:cubicBezTo>
                    <a:pt x="4267200" y="1120539"/>
                    <a:pt x="4176842" y="1210897"/>
                    <a:pt x="4065380" y="1210897"/>
                  </a:cubicBezTo>
                  <a:lnTo>
                    <a:pt x="201820" y="1210897"/>
                  </a:lnTo>
                  <a:cubicBezTo>
                    <a:pt x="90358" y="1210897"/>
                    <a:pt x="0" y="1120539"/>
                    <a:pt x="0" y="1009077"/>
                  </a:cubicBezTo>
                  <a:lnTo>
                    <a:pt x="0" y="201820"/>
                  </a:lnTo>
                  <a:close/>
                </a:path>
              </a:pathLst>
            </a:custGeom>
            <a:solidFill>
              <a:srgbClr val="136AB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0350" tIns="59097" rIns="220350" bIns="59097" spcCol="127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defTabSz="2888672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499" dirty="0">
                <a:latin typeface="+mn-lt"/>
                <a:ea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873125" y="2324100"/>
              <a:ext cx="1827213" cy="3387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 述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711757" y="3789873"/>
            <a:ext cx="1443584" cy="2656954"/>
            <a:chOff x="2287059" y="2470230"/>
            <a:chExt cx="1803007" cy="3315126"/>
          </a:xfrm>
        </p:grpSpPr>
        <p:grpSp>
          <p:nvGrpSpPr>
            <p:cNvPr id="73" name="组合 72"/>
            <p:cNvGrpSpPr/>
            <p:nvPr/>
          </p:nvGrpSpPr>
          <p:grpSpPr>
            <a:xfrm>
              <a:off x="2287059" y="2470230"/>
              <a:ext cx="1740456" cy="3315126"/>
              <a:chOff x="3415289" y="2060848"/>
              <a:chExt cx="1944216" cy="4253858"/>
            </a:xfrm>
          </p:grpSpPr>
          <p:sp>
            <p:nvSpPr>
              <p:cNvPr id="75" name="五边形 112"/>
              <p:cNvSpPr/>
              <p:nvPr/>
            </p:nvSpPr>
            <p:spPr>
              <a:xfrm>
                <a:off x="3415289" y="2060848"/>
                <a:ext cx="1944216" cy="647967"/>
              </a:xfrm>
              <a:prstGeom prst="homePlat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8575">
                <a:solidFill>
                  <a:schemeClr val="bg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defTabSz="914217"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76" name="圆角矩形 113"/>
              <p:cNvSpPr/>
              <p:nvPr/>
            </p:nvSpPr>
            <p:spPr>
              <a:xfrm>
                <a:off x="3450719" y="3191613"/>
                <a:ext cx="1873356" cy="3123093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defTabSz="914217">
                  <a:defRPr/>
                </a:pPr>
                <a:endParaRPr lang="zh-CN" altLang="en-US" dirty="0">
                  <a:latin typeface="+mn-lt"/>
                  <a:ea typeface="+mn-ea"/>
                </a:endParaRPr>
              </a:p>
            </p:txBody>
          </p:sp>
          <p:grpSp>
            <p:nvGrpSpPr>
              <p:cNvPr id="77" name="组合 76"/>
              <p:cNvGrpSpPr/>
              <p:nvPr/>
            </p:nvGrpSpPr>
            <p:grpSpPr>
              <a:xfrm>
                <a:off x="4183675" y="2724061"/>
                <a:ext cx="407445" cy="736903"/>
                <a:chOff x="4253614" y="2292013"/>
                <a:chExt cx="407445" cy="736903"/>
              </a:xfrm>
            </p:grpSpPr>
            <p:grpSp>
              <p:nvGrpSpPr>
                <p:cNvPr id="79" name="组合 78"/>
                <p:cNvGrpSpPr/>
                <p:nvPr/>
              </p:nvGrpSpPr>
              <p:grpSpPr>
                <a:xfrm>
                  <a:off x="4253614" y="2292013"/>
                  <a:ext cx="407445" cy="736903"/>
                  <a:chOff x="4253614" y="2292013"/>
                  <a:chExt cx="407445" cy="736903"/>
                </a:xfrm>
              </p:grpSpPr>
              <p:sp>
                <p:nvSpPr>
                  <p:cNvPr id="83" name="矩形 82"/>
                  <p:cNvSpPr/>
                  <p:nvPr/>
                </p:nvSpPr>
                <p:spPr>
                  <a:xfrm>
                    <a:off x="4410834" y="2292013"/>
                    <a:ext cx="88575" cy="416731"/>
                  </a:xfrm>
                  <a:prstGeom prst="rect">
                    <a:avLst/>
                  </a:prstGeom>
                  <a:gradFill flip="none" rotWithShape="1">
                    <a:gsLst>
                      <a:gs pos="49000">
                        <a:schemeClr val="bg1">
                          <a:lumMod val="85000"/>
                        </a:schemeClr>
                      </a:gs>
                      <a:gs pos="9000">
                        <a:schemeClr val="bg1">
                          <a:lumMod val="50000"/>
                        </a:schemeClr>
                      </a:gs>
                      <a:gs pos="98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lvl="1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lvl="2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lvl="3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lvl="4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lvl="5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lvl="6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lvl="7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lvl="8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defTabSz="914217">
                      <a:defRPr/>
                    </a:pPr>
                    <a:endParaRPr lang="zh-CN" altLang="en-US"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84" name="椭圆 83"/>
                  <p:cNvSpPr/>
                  <p:nvPr/>
                </p:nvSpPr>
                <p:spPr>
                  <a:xfrm>
                    <a:off x="4253614" y="2619807"/>
                    <a:ext cx="407445" cy="409109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lvl="1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lvl="2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lvl="3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lvl="4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lvl="5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lvl="6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lvl="7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lvl="8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defTabSz="914217">
                      <a:defRPr/>
                    </a:pPr>
                    <a:endParaRPr lang="zh-CN" altLang="en-US"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80" name="组合 79"/>
                <p:cNvGrpSpPr/>
                <p:nvPr/>
              </p:nvGrpSpPr>
              <p:grpSpPr>
                <a:xfrm rot="1267204">
                  <a:off x="4309455" y="2671937"/>
                  <a:ext cx="301040" cy="301040"/>
                  <a:chOff x="3518404" y="1580443"/>
                  <a:chExt cx="1276350" cy="1276350"/>
                </a:xfrm>
              </p:grpSpPr>
              <p:sp>
                <p:nvSpPr>
                  <p:cNvPr id="81" name="椭圆 80"/>
                  <p:cNvSpPr/>
                  <p:nvPr/>
                </p:nvSpPr>
                <p:spPr bwMode="auto">
                  <a:xfrm>
                    <a:off x="3518404" y="1580443"/>
                    <a:ext cx="1276350" cy="127635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FFC000"/>
                      </a:gs>
                      <a:gs pos="47000">
                        <a:schemeClr val="accent6"/>
                      </a:gs>
                      <a:gs pos="82000">
                        <a:schemeClr val="accent6">
                          <a:lumMod val="7500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 w="6350">
                    <a:solidFill>
                      <a:schemeClr val="accent3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lvl="1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lvl="2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lvl="3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lvl="4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lvl="5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lvl="6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lvl="7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lvl="8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defTabSz="914217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82" name="椭圆 81"/>
                  <p:cNvSpPr/>
                  <p:nvPr/>
                </p:nvSpPr>
                <p:spPr bwMode="auto">
                  <a:xfrm rot="20122633">
                    <a:off x="3928119" y="2554514"/>
                    <a:ext cx="769856" cy="269341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bg1">
                          <a:alpha val="55000"/>
                        </a:schemeClr>
                      </a:gs>
                      <a:gs pos="50000">
                        <a:schemeClr val="bg1">
                          <a:shade val="67500"/>
                          <a:satMod val="115000"/>
                          <a:alpha val="12000"/>
                        </a:schemeClr>
                      </a:gs>
                      <a:gs pos="100000">
                        <a:schemeClr val="bg1">
                          <a:shade val="100000"/>
                          <a:satMod val="115000"/>
                          <a:alpha val="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lvl="1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lvl="2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lvl="3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lvl="4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lvl="5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lvl="6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lvl="7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lvl="8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defTabSz="914217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latin typeface="+mn-lt"/>
                      <a:ea typeface="+mn-ea"/>
                    </a:endParaRPr>
                  </a:p>
                </p:txBody>
              </p:sp>
            </p:grpSp>
          </p:grpSp>
          <p:sp>
            <p:nvSpPr>
              <p:cNvPr id="78" name="TextBox 26"/>
              <p:cNvSpPr txBox="1"/>
              <p:nvPr/>
            </p:nvSpPr>
            <p:spPr>
              <a:xfrm>
                <a:off x="3450240" y="2150163"/>
                <a:ext cx="1697777" cy="5419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HTML2.0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4" name="矩形 73"/>
            <p:cNvSpPr/>
            <p:nvPr/>
          </p:nvSpPr>
          <p:spPr>
            <a:xfrm>
              <a:off x="2300812" y="3520174"/>
              <a:ext cx="1789254" cy="2265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1995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月作为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RFC 1866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发布，在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RFC 2854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月发布之后被宣布过时。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061142" y="3778764"/>
            <a:ext cx="1464162" cy="2668063"/>
            <a:chOff x="2287059" y="2457367"/>
            <a:chExt cx="1826627" cy="3327697"/>
          </a:xfrm>
        </p:grpSpPr>
        <p:grpSp>
          <p:nvGrpSpPr>
            <p:cNvPr id="61" name="组合 60"/>
            <p:cNvGrpSpPr/>
            <p:nvPr/>
          </p:nvGrpSpPr>
          <p:grpSpPr>
            <a:xfrm>
              <a:off x="2287059" y="2457367"/>
              <a:ext cx="1740456" cy="3327697"/>
              <a:chOff x="3415289" y="2044343"/>
              <a:chExt cx="1944216" cy="4269990"/>
            </a:xfrm>
          </p:grpSpPr>
          <p:sp>
            <p:nvSpPr>
              <p:cNvPr id="63" name="五边形 125"/>
              <p:cNvSpPr/>
              <p:nvPr/>
            </p:nvSpPr>
            <p:spPr>
              <a:xfrm>
                <a:off x="3415289" y="2059583"/>
                <a:ext cx="1944216" cy="650255"/>
              </a:xfrm>
              <a:prstGeom prst="homePlat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8575">
                <a:solidFill>
                  <a:schemeClr val="bg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defTabSz="914217"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4" name="圆角矩形 126"/>
              <p:cNvSpPr/>
              <p:nvPr/>
            </p:nvSpPr>
            <p:spPr>
              <a:xfrm>
                <a:off x="3450679" y="3192450"/>
                <a:ext cx="1873437" cy="3121883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defTabSz="914217">
                  <a:defRPr/>
                </a:pPr>
                <a:endParaRPr lang="zh-CN" altLang="en-US" dirty="0">
                  <a:latin typeface="+mn-lt"/>
                  <a:ea typeface="+mn-ea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4182801" y="2722538"/>
                <a:ext cx="409191" cy="739159"/>
                <a:chOff x="4252740" y="2290490"/>
                <a:chExt cx="409191" cy="739159"/>
              </a:xfrm>
            </p:grpSpPr>
            <p:grpSp>
              <p:nvGrpSpPr>
                <p:cNvPr id="67" name="组合 66"/>
                <p:cNvGrpSpPr/>
                <p:nvPr/>
              </p:nvGrpSpPr>
              <p:grpSpPr>
                <a:xfrm>
                  <a:off x="4252740" y="2290490"/>
                  <a:ext cx="409191" cy="739159"/>
                  <a:chOff x="4252740" y="2290490"/>
                  <a:chExt cx="409191" cy="739159"/>
                </a:xfrm>
              </p:grpSpPr>
              <p:sp>
                <p:nvSpPr>
                  <p:cNvPr id="71" name="矩形 70"/>
                  <p:cNvSpPr/>
                  <p:nvPr/>
                </p:nvSpPr>
                <p:spPr>
                  <a:xfrm>
                    <a:off x="4409780" y="2290490"/>
                    <a:ext cx="90686" cy="419111"/>
                  </a:xfrm>
                  <a:prstGeom prst="rect">
                    <a:avLst/>
                  </a:prstGeom>
                  <a:gradFill flip="none" rotWithShape="1">
                    <a:gsLst>
                      <a:gs pos="49000">
                        <a:schemeClr val="bg1">
                          <a:lumMod val="85000"/>
                        </a:schemeClr>
                      </a:gs>
                      <a:gs pos="9000">
                        <a:schemeClr val="bg1">
                          <a:lumMod val="50000"/>
                        </a:schemeClr>
                      </a:gs>
                      <a:gs pos="98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lvl="1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lvl="2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lvl="3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lvl="4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lvl="5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lvl="6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lvl="7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lvl="8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defTabSz="914217">
                      <a:defRPr/>
                    </a:pPr>
                    <a:endParaRPr lang="zh-CN" altLang="en-US"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72" name="椭圆 71"/>
                  <p:cNvSpPr/>
                  <p:nvPr/>
                </p:nvSpPr>
                <p:spPr>
                  <a:xfrm>
                    <a:off x="4252740" y="2620698"/>
                    <a:ext cx="409191" cy="408951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lvl="1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lvl="2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lvl="3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lvl="4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lvl="5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lvl="6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lvl="7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lvl="8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defTabSz="914217">
                      <a:defRPr/>
                    </a:pPr>
                    <a:endParaRPr lang="zh-CN" altLang="en-US"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68" name="组合 67"/>
                <p:cNvGrpSpPr/>
                <p:nvPr/>
              </p:nvGrpSpPr>
              <p:grpSpPr>
                <a:xfrm rot="1267204">
                  <a:off x="4309455" y="2671937"/>
                  <a:ext cx="301040" cy="301040"/>
                  <a:chOff x="3518404" y="1580443"/>
                  <a:chExt cx="1276350" cy="1276350"/>
                </a:xfrm>
              </p:grpSpPr>
              <p:sp>
                <p:nvSpPr>
                  <p:cNvPr id="69" name="椭圆 68"/>
                  <p:cNvSpPr/>
                  <p:nvPr/>
                </p:nvSpPr>
                <p:spPr bwMode="auto">
                  <a:xfrm>
                    <a:off x="3518404" y="1580443"/>
                    <a:ext cx="1276350" cy="127635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FFC000"/>
                      </a:gs>
                      <a:gs pos="47000">
                        <a:schemeClr val="accent6"/>
                      </a:gs>
                      <a:gs pos="82000">
                        <a:schemeClr val="accent6">
                          <a:lumMod val="7500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 w="6350">
                    <a:solidFill>
                      <a:schemeClr val="accent3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lvl="1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lvl="2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lvl="3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lvl="4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lvl="5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lvl="6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lvl="7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lvl="8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defTabSz="914217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70" name="椭圆 69"/>
                  <p:cNvSpPr/>
                  <p:nvPr/>
                </p:nvSpPr>
                <p:spPr bwMode="auto">
                  <a:xfrm rot="20122633">
                    <a:off x="3967121" y="2518968"/>
                    <a:ext cx="768980" cy="301543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bg1">
                          <a:alpha val="55000"/>
                        </a:schemeClr>
                      </a:gs>
                      <a:gs pos="50000">
                        <a:schemeClr val="bg1">
                          <a:shade val="67500"/>
                          <a:satMod val="115000"/>
                          <a:alpha val="12000"/>
                        </a:schemeClr>
                      </a:gs>
                      <a:gs pos="100000">
                        <a:schemeClr val="bg1">
                          <a:shade val="100000"/>
                          <a:satMod val="115000"/>
                          <a:alpha val="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lvl="1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lvl="2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lvl="3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lvl="4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lvl="5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lvl="6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lvl="7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lvl="8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defTabSz="914217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latin typeface="+mn-lt"/>
                      <a:ea typeface="+mn-ea"/>
                    </a:endParaRPr>
                  </a:p>
                </p:txBody>
              </p:sp>
            </p:grpSp>
          </p:grpSp>
          <p:sp>
            <p:nvSpPr>
              <p:cNvPr id="66" name="TextBox 26"/>
              <p:cNvSpPr txBox="1"/>
              <p:nvPr/>
            </p:nvSpPr>
            <p:spPr>
              <a:xfrm>
                <a:off x="3618779" y="2044343"/>
                <a:ext cx="1698700" cy="6895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r>
                  <a:rPr lang="zh-CN" altLang="zh-CN" sz="1100" b="1" dirty="0">
                    <a:solidFill>
                      <a:schemeClr val="bg1"/>
                    </a:solidFill>
                    <a:latin typeface="宋体" panose="02010600030101010101" pitchFamily="2" charset="-122"/>
                  </a:rPr>
                  <a:t>超文本</a:t>
                </a:r>
                <a:r>
                  <a:rPr lang="zh-CN" altLang="en-US" sz="1100" b="1" dirty="0">
                    <a:solidFill>
                      <a:schemeClr val="bg1"/>
                    </a:solidFill>
                    <a:latin typeface="宋体" panose="02010600030101010101" pitchFamily="2" charset="-122"/>
                  </a:rPr>
                  <a:t>标记</a:t>
                </a:r>
                <a:r>
                  <a:rPr lang="zh-CN" altLang="zh-CN" sz="1100" b="1" dirty="0">
                    <a:solidFill>
                      <a:schemeClr val="bg1"/>
                    </a:solidFill>
                    <a:latin typeface="宋体" panose="02010600030101010101" pitchFamily="2" charset="-122"/>
                  </a:rPr>
                  <a:t>语</a:t>
                </a:r>
                <a:endParaRPr lang="en-US" altLang="zh-CN" sz="1100" b="1" dirty="0">
                  <a:solidFill>
                    <a:schemeClr val="bg1"/>
                  </a:solidFill>
                  <a:latin typeface="宋体" panose="02010600030101010101" pitchFamily="2" charset="-122"/>
                </a:endParaRPr>
              </a:p>
              <a:p>
                <a:r>
                  <a:rPr lang="zh-CN" altLang="zh-CN" sz="1100" b="1" dirty="0">
                    <a:solidFill>
                      <a:schemeClr val="bg1"/>
                    </a:solidFill>
                    <a:latin typeface="宋体" panose="02010600030101010101" pitchFamily="2" charset="-122"/>
                  </a:rPr>
                  <a:t>言（第一版）</a:t>
                </a:r>
                <a:endPara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62" name="矩形 61"/>
            <p:cNvSpPr/>
            <p:nvPr/>
          </p:nvSpPr>
          <p:spPr>
            <a:xfrm>
              <a:off x="2427126" y="3520173"/>
              <a:ext cx="1686560" cy="19577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1993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月作为互联网工程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组（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IETF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）工作草案发布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360788" y="3788286"/>
            <a:ext cx="1395089" cy="2656952"/>
            <a:chOff x="3827656" y="1983502"/>
            <a:chExt cx="1395240" cy="2657228"/>
          </a:xfrm>
        </p:grpSpPr>
        <p:grpSp>
          <p:nvGrpSpPr>
            <p:cNvPr id="47" name="组合 46"/>
            <p:cNvGrpSpPr/>
            <p:nvPr/>
          </p:nvGrpSpPr>
          <p:grpSpPr>
            <a:xfrm>
              <a:off x="3827656" y="1983502"/>
              <a:ext cx="1395240" cy="2657228"/>
              <a:chOff x="2287059" y="2470230"/>
              <a:chExt cx="1740684" cy="3315124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2287059" y="2470230"/>
                <a:ext cx="1740684" cy="3315124"/>
                <a:chOff x="3415289" y="2060848"/>
                <a:chExt cx="1944471" cy="4253859"/>
              </a:xfrm>
            </p:grpSpPr>
            <p:sp>
              <p:nvSpPr>
                <p:cNvPr id="51" name="五边形 140"/>
                <p:cNvSpPr/>
                <p:nvPr/>
              </p:nvSpPr>
              <p:spPr>
                <a:xfrm>
                  <a:off x="3415289" y="2060848"/>
                  <a:ext cx="1944471" cy="647966"/>
                </a:xfrm>
                <a:prstGeom prst="homePlat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28575">
                  <a:solidFill>
                    <a:schemeClr val="bg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217">
                    <a:defRPr/>
                  </a:pPr>
                  <a:endParaRPr lang="zh-CN" alt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52" name="圆角矩形 141"/>
                <p:cNvSpPr/>
                <p:nvPr/>
              </p:nvSpPr>
              <p:spPr>
                <a:xfrm>
                  <a:off x="3450683" y="3191611"/>
                  <a:ext cx="1873682" cy="3123096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217">
                    <a:defRPr/>
                  </a:pPr>
                  <a:endParaRPr lang="zh-CN" altLang="en-US" dirty="0">
                    <a:latin typeface="+mn-lt"/>
                    <a:ea typeface="+mn-ea"/>
                  </a:endParaRPr>
                </a:p>
              </p:txBody>
            </p:sp>
            <p:grpSp>
              <p:nvGrpSpPr>
                <p:cNvPr id="53" name="组合 52"/>
                <p:cNvGrpSpPr/>
                <p:nvPr/>
              </p:nvGrpSpPr>
              <p:grpSpPr>
                <a:xfrm>
                  <a:off x="4182901" y="2724060"/>
                  <a:ext cx="409247" cy="736902"/>
                  <a:chOff x="4252840" y="2292012"/>
                  <a:chExt cx="409247" cy="736902"/>
                </a:xfrm>
              </p:grpSpPr>
              <p:grpSp>
                <p:nvGrpSpPr>
                  <p:cNvPr id="55" name="组合 54"/>
                  <p:cNvGrpSpPr/>
                  <p:nvPr/>
                </p:nvGrpSpPr>
                <p:grpSpPr>
                  <a:xfrm>
                    <a:off x="4252840" y="2292012"/>
                    <a:ext cx="409247" cy="736902"/>
                    <a:chOff x="4252840" y="2292012"/>
                    <a:chExt cx="409247" cy="736902"/>
                  </a:xfrm>
                </p:grpSpPr>
                <p:sp>
                  <p:nvSpPr>
                    <p:cNvPr id="59" name="矩形 58"/>
                    <p:cNvSpPr/>
                    <p:nvPr/>
                  </p:nvSpPr>
                  <p:spPr>
                    <a:xfrm>
                      <a:off x="4409903" y="2292012"/>
                      <a:ext cx="90697" cy="416731"/>
                    </a:xfrm>
                    <a:prstGeom prst="rect">
                      <a:avLst/>
                    </a:prstGeom>
                    <a:gradFill flip="none" rotWithShape="1">
                      <a:gsLst>
                        <a:gs pos="49000">
                          <a:schemeClr val="bg1">
                            <a:lumMod val="85000"/>
                          </a:schemeClr>
                        </a:gs>
                        <a:gs pos="9000">
                          <a:schemeClr val="bg1">
                            <a:lumMod val="50000"/>
                          </a:schemeClr>
                        </a:gs>
                        <a:gs pos="98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  <p:sp>
                  <p:nvSpPr>
                    <p:cNvPr id="60" name="椭圆 59"/>
                    <p:cNvSpPr/>
                    <p:nvPr/>
                  </p:nvSpPr>
                  <p:spPr>
                    <a:xfrm>
                      <a:off x="4252840" y="2619807"/>
                      <a:ext cx="409247" cy="409107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</p:grpSp>
              <p:grpSp>
                <p:nvGrpSpPr>
                  <p:cNvPr id="56" name="组合 55"/>
                  <p:cNvGrpSpPr/>
                  <p:nvPr/>
                </p:nvGrpSpPr>
                <p:grpSpPr>
                  <a:xfrm rot="1267204">
                    <a:off x="4309455" y="2671937"/>
                    <a:ext cx="301040" cy="301040"/>
                    <a:chOff x="3518404" y="1580443"/>
                    <a:chExt cx="1276350" cy="1276350"/>
                  </a:xfrm>
                </p:grpSpPr>
                <p:sp>
                  <p:nvSpPr>
                    <p:cNvPr id="57" name="椭圆 56"/>
                    <p:cNvSpPr/>
                    <p:nvPr/>
                  </p:nvSpPr>
                  <p:spPr bwMode="auto">
                    <a:xfrm>
                      <a:off x="3518404" y="1580443"/>
                      <a:ext cx="1276350" cy="1276350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C000"/>
                        </a:gs>
                        <a:gs pos="47000">
                          <a:schemeClr val="accent6"/>
                        </a:gs>
                        <a:gs pos="82000">
                          <a:schemeClr val="accent6">
                            <a:lumMod val="7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 w="6350">
                      <a:solidFill>
                        <a:schemeClr val="accent3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  <p:sp>
                  <p:nvSpPr>
                    <p:cNvPr id="58" name="椭圆 57"/>
                    <p:cNvSpPr/>
                    <p:nvPr/>
                  </p:nvSpPr>
                  <p:spPr bwMode="auto">
                    <a:xfrm rot="20122633">
                      <a:off x="3958072" y="2517451"/>
                      <a:ext cx="769080" cy="247787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alpha val="5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  <a:alpha val="12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  <a:alpha val="0"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</p:grpSp>
            </p:grpSp>
            <p:sp>
              <p:nvSpPr>
                <p:cNvPr id="54" name="TextBox 26"/>
                <p:cNvSpPr txBox="1"/>
                <p:nvPr/>
              </p:nvSpPr>
              <p:spPr>
                <a:xfrm>
                  <a:off x="3450242" y="2150163"/>
                  <a:ext cx="1697778" cy="54197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HTML3.2</a:t>
                  </a:r>
                  <a:endPara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0" name="矩形 49"/>
              <p:cNvSpPr/>
              <p:nvPr/>
            </p:nvSpPr>
            <p:spPr>
              <a:xfrm>
                <a:off x="2439956" y="3520173"/>
                <a:ext cx="1513684" cy="3455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zh-CN" sz="1200" dirty="0">
                  <a:solidFill>
                    <a:srgbClr val="00B0F0"/>
                  </a:solidFill>
                </a:endParaRPr>
              </a:p>
            </p:txBody>
          </p:sp>
        </p:grpSp>
        <p:sp>
          <p:nvSpPr>
            <p:cNvPr id="48" name="矩形 47"/>
            <p:cNvSpPr/>
            <p:nvPr/>
          </p:nvSpPr>
          <p:spPr>
            <a:xfrm>
              <a:off x="3885786" y="3111472"/>
              <a:ext cx="1297328" cy="8308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1997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14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W3C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推荐标准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011408" y="3789873"/>
            <a:ext cx="1393502" cy="2655365"/>
            <a:chOff x="5478030" y="1984139"/>
            <a:chExt cx="1394725" cy="2655639"/>
          </a:xfrm>
        </p:grpSpPr>
        <p:grpSp>
          <p:nvGrpSpPr>
            <p:cNvPr id="32" name="组合 31"/>
            <p:cNvGrpSpPr/>
            <p:nvPr/>
          </p:nvGrpSpPr>
          <p:grpSpPr>
            <a:xfrm>
              <a:off x="5478030" y="1984139"/>
              <a:ext cx="1394725" cy="2655639"/>
              <a:chOff x="2287060" y="2470230"/>
              <a:chExt cx="1740042" cy="3313143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2287060" y="2470230"/>
                <a:ext cx="1740042" cy="3313143"/>
                <a:chOff x="3415289" y="2060848"/>
                <a:chExt cx="1943753" cy="4251313"/>
              </a:xfrm>
            </p:grpSpPr>
            <p:sp>
              <p:nvSpPr>
                <p:cNvPr id="37" name="五边形 155"/>
                <p:cNvSpPr/>
                <p:nvPr/>
              </p:nvSpPr>
              <p:spPr>
                <a:xfrm>
                  <a:off x="3415289" y="2060848"/>
                  <a:ext cx="1943753" cy="647967"/>
                </a:xfrm>
                <a:prstGeom prst="homePlat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28575">
                  <a:solidFill>
                    <a:schemeClr val="bg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217">
                    <a:defRPr/>
                  </a:pPr>
                  <a:endParaRPr lang="zh-CN" alt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38" name="圆角矩形 156"/>
                <p:cNvSpPr/>
                <p:nvPr/>
              </p:nvSpPr>
              <p:spPr>
                <a:xfrm>
                  <a:off x="3450710" y="3191613"/>
                  <a:ext cx="1872910" cy="3120548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217">
                    <a:defRPr/>
                  </a:pPr>
                  <a:endParaRPr lang="zh-CN" altLang="en-US" dirty="0">
                    <a:latin typeface="+mn-lt"/>
                    <a:ea typeface="+mn-ea"/>
                  </a:endParaRPr>
                </a:p>
              </p:txBody>
            </p:sp>
            <p:grpSp>
              <p:nvGrpSpPr>
                <p:cNvPr id="39" name="组合 38"/>
                <p:cNvGrpSpPr/>
                <p:nvPr/>
              </p:nvGrpSpPr>
              <p:grpSpPr>
                <a:xfrm>
                  <a:off x="4183491" y="2724061"/>
                  <a:ext cx="400706" cy="736903"/>
                  <a:chOff x="4253430" y="2292013"/>
                  <a:chExt cx="400706" cy="736903"/>
                </a:xfrm>
              </p:grpSpPr>
              <p:grpSp>
                <p:nvGrpSpPr>
                  <p:cNvPr id="41" name="组合 40"/>
                  <p:cNvGrpSpPr/>
                  <p:nvPr/>
                </p:nvGrpSpPr>
                <p:grpSpPr>
                  <a:xfrm>
                    <a:off x="4253430" y="2292013"/>
                    <a:ext cx="400706" cy="736903"/>
                    <a:chOff x="4253430" y="2292013"/>
                    <a:chExt cx="400706" cy="736903"/>
                  </a:xfrm>
                </p:grpSpPr>
                <p:sp>
                  <p:nvSpPr>
                    <p:cNvPr id="45" name="矩形 44"/>
                    <p:cNvSpPr/>
                    <p:nvPr/>
                  </p:nvSpPr>
                  <p:spPr>
                    <a:xfrm>
                      <a:off x="4410614" y="2292013"/>
                      <a:ext cx="88554" cy="416731"/>
                    </a:xfrm>
                    <a:prstGeom prst="rect">
                      <a:avLst/>
                    </a:prstGeom>
                    <a:gradFill flip="none" rotWithShape="1">
                      <a:gsLst>
                        <a:gs pos="49000">
                          <a:schemeClr val="bg1">
                            <a:lumMod val="85000"/>
                          </a:schemeClr>
                        </a:gs>
                        <a:gs pos="9000">
                          <a:schemeClr val="bg1">
                            <a:lumMod val="50000"/>
                          </a:schemeClr>
                        </a:gs>
                        <a:gs pos="98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  <p:sp>
                  <p:nvSpPr>
                    <p:cNvPr id="46" name="椭圆 45"/>
                    <p:cNvSpPr/>
                    <p:nvPr/>
                  </p:nvSpPr>
                  <p:spPr>
                    <a:xfrm>
                      <a:off x="4253430" y="2619807"/>
                      <a:ext cx="400706" cy="409109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</p:grpSp>
              <p:grpSp>
                <p:nvGrpSpPr>
                  <p:cNvPr id="42" name="组合 41"/>
                  <p:cNvGrpSpPr/>
                  <p:nvPr/>
                </p:nvGrpSpPr>
                <p:grpSpPr>
                  <a:xfrm rot="1267204">
                    <a:off x="4309455" y="2671937"/>
                    <a:ext cx="301040" cy="301040"/>
                    <a:chOff x="3518404" y="1580443"/>
                    <a:chExt cx="1276350" cy="1276350"/>
                  </a:xfrm>
                </p:grpSpPr>
                <p:sp>
                  <p:nvSpPr>
                    <p:cNvPr id="43" name="椭圆 42"/>
                    <p:cNvSpPr/>
                    <p:nvPr/>
                  </p:nvSpPr>
                  <p:spPr bwMode="auto">
                    <a:xfrm>
                      <a:off x="3518404" y="1580443"/>
                      <a:ext cx="1276350" cy="1276350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C000"/>
                        </a:gs>
                        <a:gs pos="47000">
                          <a:schemeClr val="accent6"/>
                        </a:gs>
                        <a:gs pos="82000">
                          <a:schemeClr val="accent6">
                            <a:lumMod val="7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 w="6350">
                      <a:solidFill>
                        <a:schemeClr val="accent3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  <p:sp>
                  <p:nvSpPr>
                    <p:cNvPr id="44" name="椭圆 43"/>
                    <p:cNvSpPr/>
                    <p:nvPr/>
                  </p:nvSpPr>
                  <p:spPr bwMode="auto">
                    <a:xfrm rot="20122633">
                      <a:off x="3928946" y="2565336"/>
                      <a:ext cx="769674" cy="258564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alpha val="5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  <a:alpha val="12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  <a:alpha val="0"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</p:grpSp>
            </p:grpSp>
            <p:sp>
              <p:nvSpPr>
                <p:cNvPr id="40" name="TextBox 26"/>
                <p:cNvSpPr txBox="1"/>
                <p:nvPr/>
              </p:nvSpPr>
              <p:spPr>
                <a:xfrm>
                  <a:off x="3450242" y="2150163"/>
                  <a:ext cx="1697778" cy="54197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HTML4.0</a:t>
                  </a:r>
                  <a:endPara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6" name="矩形 35"/>
              <p:cNvSpPr/>
              <p:nvPr/>
            </p:nvSpPr>
            <p:spPr>
              <a:xfrm>
                <a:off x="2439956" y="3520173"/>
                <a:ext cx="1513684" cy="3455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en-US" altLang="zh-CN" sz="1200" dirty="0">
                  <a:solidFill>
                    <a:srgbClr val="00B0F0"/>
                  </a:solidFill>
                </a:endParaRPr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5489047" y="3168298"/>
              <a:ext cx="1358292" cy="8308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1997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18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W3C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推荐标准。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630279" y="3789874"/>
            <a:ext cx="1425244" cy="2655364"/>
            <a:chOff x="7098394" y="1984139"/>
            <a:chExt cx="1424321" cy="2655637"/>
          </a:xfrm>
        </p:grpSpPr>
        <p:grpSp>
          <p:nvGrpSpPr>
            <p:cNvPr id="17" name="组合 16"/>
            <p:cNvGrpSpPr/>
            <p:nvPr/>
          </p:nvGrpSpPr>
          <p:grpSpPr>
            <a:xfrm>
              <a:off x="7098394" y="1984139"/>
              <a:ext cx="1424321" cy="2655637"/>
              <a:chOff x="2249625" y="2470230"/>
              <a:chExt cx="1776967" cy="3313140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2249625" y="2470230"/>
                <a:ext cx="1776967" cy="3313140"/>
                <a:chOff x="3373472" y="2060848"/>
                <a:chExt cx="1985001" cy="4251309"/>
              </a:xfrm>
            </p:grpSpPr>
            <p:sp>
              <p:nvSpPr>
                <p:cNvPr id="21" name="五边形 170"/>
                <p:cNvSpPr/>
                <p:nvPr/>
              </p:nvSpPr>
              <p:spPr>
                <a:xfrm>
                  <a:off x="3415470" y="2060848"/>
                  <a:ext cx="1943003" cy="647967"/>
                </a:xfrm>
                <a:prstGeom prst="homePlat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28575">
                  <a:solidFill>
                    <a:schemeClr val="bg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217">
                    <a:defRPr/>
                  </a:pPr>
                  <a:endParaRPr lang="zh-CN" alt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22" name="圆角矩形 171"/>
                <p:cNvSpPr/>
                <p:nvPr/>
              </p:nvSpPr>
              <p:spPr>
                <a:xfrm>
                  <a:off x="3450838" y="3191612"/>
                  <a:ext cx="1872268" cy="3120545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217">
                    <a:defRPr/>
                  </a:pPr>
                  <a:endParaRPr lang="zh-CN" altLang="en-US" dirty="0">
                    <a:latin typeface="+mn-lt"/>
                    <a:ea typeface="+mn-ea"/>
                  </a:endParaRPr>
                </a:p>
              </p:txBody>
            </p:sp>
            <p:grpSp>
              <p:nvGrpSpPr>
                <p:cNvPr id="23" name="组合 22"/>
                <p:cNvGrpSpPr/>
                <p:nvPr/>
              </p:nvGrpSpPr>
              <p:grpSpPr>
                <a:xfrm>
                  <a:off x="4182504" y="2724061"/>
                  <a:ext cx="408936" cy="736903"/>
                  <a:chOff x="4252443" y="2292013"/>
                  <a:chExt cx="408936" cy="736903"/>
                </a:xfrm>
              </p:grpSpPr>
              <p:grpSp>
                <p:nvGrpSpPr>
                  <p:cNvPr id="25" name="组合 24"/>
                  <p:cNvGrpSpPr/>
                  <p:nvPr/>
                </p:nvGrpSpPr>
                <p:grpSpPr>
                  <a:xfrm>
                    <a:off x="4252443" y="2292013"/>
                    <a:ext cx="408936" cy="736903"/>
                    <a:chOff x="4252443" y="2292013"/>
                    <a:chExt cx="408936" cy="736903"/>
                  </a:xfrm>
                </p:grpSpPr>
                <p:sp>
                  <p:nvSpPr>
                    <p:cNvPr id="29" name="矩形 28"/>
                    <p:cNvSpPr/>
                    <p:nvPr/>
                  </p:nvSpPr>
                  <p:spPr>
                    <a:xfrm>
                      <a:off x="4409386" y="2292013"/>
                      <a:ext cx="90630" cy="416731"/>
                    </a:xfrm>
                    <a:prstGeom prst="rect">
                      <a:avLst/>
                    </a:prstGeom>
                    <a:gradFill flip="none" rotWithShape="1">
                      <a:gsLst>
                        <a:gs pos="49000">
                          <a:schemeClr val="bg1">
                            <a:lumMod val="85000"/>
                          </a:schemeClr>
                        </a:gs>
                        <a:gs pos="9000">
                          <a:schemeClr val="bg1">
                            <a:lumMod val="50000"/>
                          </a:schemeClr>
                        </a:gs>
                        <a:gs pos="98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  <p:sp>
                  <p:nvSpPr>
                    <p:cNvPr id="30" name="椭圆 29"/>
                    <p:cNvSpPr/>
                    <p:nvPr/>
                  </p:nvSpPr>
                  <p:spPr>
                    <a:xfrm>
                      <a:off x="4252443" y="2619807"/>
                      <a:ext cx="408936" cy="409109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</p:grpSp>
              <p:grpSp>
                <p:nvGrpSpPr>
                  <p:cNvPr id="26" name="组合 25"/>
                  <p:cNvGrpSpPr/>
                  <p:nvPr/>
                </p:nvGrpSpPr>
                <p:grpSpPr>
                  <a:xfrm rot="1267204">
                    <a:off x="4309455" y="2671937"/>
                    <a:ext cx="301040" cy="301040"/>
                    <a:chOff x="3518404" y="1580443"/>
                    <a:chExt cx="1276350" cy="1276350"/>
                  </a:xfrm>
                </p:grpSpPr>
                <p:sp>
                  <p:nvSpPr>
                    <p:cNvPr id="27" name="椭圆 26"/>
                    <p:cNvSpPr/>
                    <p:nvPr/>
                  </p:nvSpPr>
                  <p:spPr bwMode="auto">
                    <a:xfrm>
                      <a:off x="3518404" y="1580443"/>
                      <a:ext cx="1276350" cy="1276350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C000"/>
                        </a:gs>
                        <a:gs pos="47000">
                          <a:schemeClr val="accent6"/>
                        </a:gs>
                        <a:gs pos="82000">
                          <a:schemeClr val="accent6">
                            <a:lumMod val="7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 w="6350">
                      <a:solidFill>
                        <a:schemeClr val="accent3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  <p:sp>
                  <p:nvSpPr>
                    <p:cNvPr id="28" name="椭圆 27"/>
                    <p:cNvSpPr/>
                    <p:nvPr/>
                  </p:nvSpPr>
                  <p:spPr bwMode="auto">
                    <a:xfrm rot="20122633">
                      <a:off x="3938251" y="2549806"/>
                      <a:ext cx="768500" cy="258564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alpha val="5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  <a:alpha val="12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  <a:alpha val="0"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</p:grpSp>
            </p:grpSp>
            <p:sp>
              <p:nvSpPr>
                <p:cNvPr id="24" name="TextBox 26"/>
                <p:cNvSpPr txBox="1"/>
                <p:nvPr/>
              </p:nvSpPr>
              <p:spPr>
                <a:xfrm>
                  <a:off x="3373472" y="2150163"/>
                  <a:ext cx="1909264" cy="54197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HTML4.01</a:t>
                  </a:r>
                  <a:endPara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0" name="矩形 19"/>
              <p:cNvSpPr/>
              <p:nvPr/>
            </p:nvSpPr>
            <p:spPr>
              <a:xfrm>
                <a:off x="2439956" y="3520173"/>
                <a:ext cx="1513684" cy="3455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zh-CN" sz="1200" dirty="0">
                  <a:solidFill>
                    <a:srgbClr val="00B0F0"/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7131448" y="3240295"/>
              <a:ext cx="1332793" cy="8308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1999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24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W3C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推荐标准。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HTML5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488554" y="1752396"/>
            <a:ext cx="9358874" cy="1467669"/>
            <a:chOff x="28203" y="2314574"/>
            <a:chExt cx="9361041" cy="1469834"/>
          </a:xfrm>
        </p:grpSpPr>
        <p:sp>
          <p:nvSpPr>
            <p:cNvPr id="7" name="矩形 6"/>
            <p:cNvSpPr/>
            <p:nvPr/>
          </p:nvSpPr>
          <p:spPr bwMode="auto">
            <a:xfrm>
              <a:off x="28203" y="2538690"/>
              <a:ext cx="9361041" cy="1245718"/>
            </a:xfrm>
            <a:prstGeom prst="rect">
              <a:avLst/>
            </a:prstGeom>
            <a:ln w="9525">
              <a:solidFill>
                <a:srgbClr val="0070C0"/>
              </a:solidFill>
            </a:ln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204059" y="2749544"/>
              <a:ext cx="8347077" cy="8754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Hyper Text Markup Language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的缩写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中文译为“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超文本标记语言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”，主要是通过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标签对网页中的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声音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等内容进行描述。</a:t>
              </a:r>
            </a:p>
          </p:txBody>
        </p:sp>
        <p:sp>
          <p:nvSpPr>
            <p:cNvPr id="10" name="任意多边形 17"/>
            <p:cNvSpPr/>
            <p:nvPr/>
          </p:nvSpPr>
          <p:spPr bwMode="auto">
            <a:xfrm>
              <a:off x="873125" y="2314574"/>
              <a:ext cx="1905000" cy="371937"/>
            </a:xfrm>
            <a:custGeom>
              <a:avLst/>
              <a:gdLst>
                <a:gd name="connsiteX0" fmla="*/ 0 w 4267200"/>
                <a:gd name="connsiteY0" fmla="*/ 201820 h 1210897"/>
                <a:gd name="connsiteX1" fmla="*/ 201820 w 4267200"/>
                <a:gd name="connsiteY1" fmla="*/ 0 h 1210897"/>
                <a:gd name="connsiteX2" fmla="*/ 4065380 w 4267200"/>
                <a:gd name="connsiteY2" fmla="*/ 0 h 1210897"/>
                <a:gd name="connsiteX3" fmla="*/ 4267200 w 4267200"/>
                <a:gd name="connsiteY3" fmla="*/ 201820 h 1210897"/>
                <a:gd name="connsiteX4" fmla="*/ 4267200 w 4267200"/>
                <a:gd name="connsiteY4" fmla="*/ 1009077 h 1210897"/>
                <a:gd name="connsiteX5" fmla="*/ 4065380 w 4267200"/>
                <a:gd name="connsiteY5" fmla="*/ 1210897 h 1210897"/>
                <a:gd name="connsiteX6" fmla="*/ 201820 w 4267200"/>
                <a:gd name="connsiteY6" fmla="*/ 1210897 h 1210897"/>
                <a:gd name="connsiteX7" fmla="*/ 0 w 4267200"/>
                <a:gd name="connsiteY7" fmla="*/ 1009077 h 1210897"/>
                <a:gd name="connsiteX8" fmla="*/ 0 w 4267200"/>
                <a:gd name="connsiteY8" fmla="*/ 201820 h 12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67200" h="1210897">
                  <a:moveTo>
                    <a:pt x="0" y="201820"/>
                  </a:moveTo>
                  <a:cubicBezTo>
                    <a:pt x="0" y="90358"/>
                    <a:pt x="90358" y="0"/>
                    <a:pt x="201820" y="0"/>
                  </a:cubicBezTo>
                  <a:lnTo>
                    <a:pt x="4065380" y="0"/>
                  </a:lnTo>
                  <a:cubicBezTo>
                    <a:pt x="4176842" y="0"/>
                    <a:pt x="4267200" y="90358"/>
                    <a:pt x="4267200" y="201820"/>
                  </a:cubicBezTo>
                  <a:lnTo>
                    <a:pt x="4267200" y="1009077"/>
                  </a:lnTo>
                  <a:cubicBezTo>
                    <a:pt x="4267200" y="1120539"/>
                    <a:pt x="4176842" y="1210897"/>
                    <a:pt x="4065380" y="1210897"/>
                  </a:cubicBezTo>
                  <a:lnTo>
                    <a:pt x="201820" y="1210897"/>
                  </a:lnTo>
                  <a:cubicBezTo>
                    <a:pt x="90358" y="1210897"/>
                    <a:pt x="0" y="1120539"/>
                    <a:pt x="0" y="1009077"/>
                  </a:cubicBezTo>
                  <a:lnTo>
                    <a:pt x="0" y="201820"/>
                  </a:lnTo>
                  <a:close/>
                </a:path>
              </a:pathLst>
            </a:custGeom>
            <a:solidFill>
              <a:srgbClr val="136AB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0350" tIns="59097" rIns="220350" bIns="59097" spcCol="127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defTabSz="2888672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499" dirty="0">
                <a:latin typeface="+mn-lt"/>
                <a:ea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873125" y="2324100"/>
              <a:ext cx="1827213" cy="3387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 述</a:t>
              </a: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2782389" y="3863277"/>
            <a:ext cx="1955347" cy="2147393"/>
            <a:chOff x="493859" y="4343782"/>
            <a:chExt cx="1955286" cy="2147509"/>
          </a:xfrm>
        </p:grpSpPr>
        <p:grpSp>
          <p:nvGrpSpPr>
            <p:cNvPr id="93" name="组合 92"/>
            <p:cNvGrpSpPr/>
            <p:nvPr/>
          </p:nvGrpSpPr>
          <p:grpSpPr>
            <a:xfrm>
              <a:off x="493859" y="4343782"/>
              <a:ext cx="1955286" cy="2147509"/>
              <a:chOff x="493859" y="4343782"/>
              <a:chExt cx="1955286" cy="2147509"/>
            </a:xfrm>
          </p:grpSpPr>
          <p:grpSp>
            <p:nvGrpSpPr>
              <p:cNvPr id="95" name="组合 94"/>
              <p:cNvGrpSpPr/>
              <p:nvPr/>
            </p:nvGrpSpPr>
            <p:grpSpPr>
              <a:xfrm>
                <a:off x="493859" y="4350132"/>
                <a:ext cx="1955286" cy="2141159"/>
                <a:chOff x="6061583" y="2060649"/>
                <a:chExt cx="1944216" cy="4592425"/>
              </a:xfrm>
            </p:grpSpPr>
            <p:sp>
              <p:nvSpPr>
                <p:cNvPr id="97" name="五边形 87"/>
                <p:cNvSpPr/>
                <p:nvPr/>
              </p:nvSpPr>
              <p:spPr>
                <a:xfrm>
                  <a:off x="6061583" y="2060649"/>
                  <a:ext cx="1944216" cy="646821"/>
                </a:xfrm>
                <a:prstGeom prst="homePlate">
                  <a:avLst/>
                </a:prstGeom>
                <a:gradFill flip="none" rotWithShape="1">
                  <a:gsLst>
                    <a:gs pos="8000">
                      <a:srgbClr val="5F9127"/>
                    </a:gs>
                    <a:gs pos="28000">
                      <a:srgbClr val="70AC2E"/>
                    </a:gs>
                    <a:gs pos="96000">
                      <a:srgbClr val="A4DD47"/>
                    </a:gs>
                    <a:gs pos="67000">
                      <a:srgbClr val="92D050"/>
                    </a:gs>
                  </a:gsLst>
                  <a:lin ang="16200000" scaled="1"/>
                  <a:tileRect/>
                </a:gradFill>
                <a:ln w="28575">
                  <a:solidFill>
                    <a:schemeClr val="bg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217">
                    <a:defRPr/>
                  </a:pPr>
                  <a:endParaRPr lang="zh-CN" alt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98" name="圆角矩形 88"/>
                <p:cNvSpPr/>
                <p:nvPr/>
              </p:nvSpPr>
              <p:spPr>
                <a:xfrm>
                  <a:off x="6097880" y="3139817"/>
                  <a:ext cx="1871624" cy="3513257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b="0" i="0" u="non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217">
                    <a:defRPr/>
                  </a:pPr>
                  <a:endParaRPr lang="zh-CN" altLang="en-US" dirty="0">
                    <a:latin typeface="+mn-lt"/>
                    <a:ea typeface="+mn-ea"/>
                  </a:endParaRPr>
                </a:p>
              </p:txBody>
            </p:sp>
            <p:grpSp>
              <p:nvGrpSpPr>
                <p:cNvPr id="99" name="组合 98"/>
                <p:cNvGrpSpPr/>
                <p:nvPr/>
              </p:nvGrpSpPr>
              <p:grpSpPr>
                <a:xfrm>
                  <a:off x="6869059" y="2724490"/>
                  <a:ext cx="288178" cy="796610"/>
                  <a:chOff x="6938998" y="2292442"/>
                  <a:chExt cx="288178" cy="796610"/>
                </a:xfrm>
              </p:grpSpPr>
              <p:sp>
                <p:nvSpPr>
                  <p:cNvPr id="100" name="椭圆 99"/>
                  <p:cNvSpPr/>
                  <p:nvPr/>
                </p:nvSpPr>
                <p:spPr>
                  <a:xfrm>
                    <a:off x="6982117" y="2673725"/>
                    <a:ext cx="243027" cy="41532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lvl="1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lvl="2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lvl="3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lvl="4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lvl="5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lvl="6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lvl="7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lvl="8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None/>
                      <a:defRPr b="0" i="0" u="non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defTabSz="914217">
                      <a:defRPr/>
                    </a:pPr>
                    <a:endParaRPr lang="zh-CN" altLang="en-US">
                      <a:latin typeface="+mn-lt"/>
                      <a:ea typeface="+mn-ea"/>
                    </a:endParaRPr>
                  </a:p>
                </p:txBody>
              </p:sp>
              <p:grpSp>
                <p:nvGrpSpPr>
                  <p:cNvPr id="101" name="组合 100"/>
                  <p:cNvGrpSpPr/>
                  <p:nvPr/>
                </p:nvGrpSpPr>
                <p:grpSpPr>
                  <a:xfrm>
                    <a:off x="6938998" y="2292442"/>
                    <a:ext cx="288178" cy="727007"/>
                    <a:chOff x="6941637" y="2292442"/>
                    <a:chExt cx="288178" cy="727007"/>
                  </a:xfrm>
                </p:grpSpPr>
                <p:sp>
                  <p:nvSpPr>
                    <p:cNvPr id="102" name="矩形 101"/>
                    <p:cNvSpPr/>
                    <p:nvPr/>
                  </p:nvSpPr>
                  <p:spPr>
                    <a:xfrm>
                      <a:off x="7055769" y="2292442"/>
                      <a:ext cx="89952" cy="418732"/>
                    </a:xfrm>
                    <a:prstGeom prst="rect">
                      <a:avLst/>
                    </a:prstGeom>
                    <a:gradFill flip="none" rotWithShape="1">
                      <a:gsLst>
                        <a:gs pos="49000">
                          <a:schemeClr val="bg1">
                            <a:lumMod val="85000"/>
                          </a:schemeClr>
                        </a:gs>
                        <a:gs pos="9000">
                          <a:schemeClr val="bg1">
                            <a:lumMod val="50000"/>
                          </a:schemeClr>
                        </a:gs>
                        <a:gs pos="98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lvl="5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lvl="6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lvl="7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lvl="8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algn="ctr" defTabSz="914217">
                        <a:defRPr/>
                      </a:pPr>
                      <a:endParaRPr lang="zh-CN" altLang="en-US">
                        <a:latin typeface="+mn-lt"/>
                        <a:ea typeface="+mn-ea"/>
                      </a:endParaRPr>
                    </a:p>
                  </p:txBody>
                </p:sp>
                <p:grpSp>
                  <p:nvGrpSpPr>
                    <p:cNvPr id="103" name="组合 102"/>
                    <p:cNvGrpSpPr/>
                    <p:nvPr/>
                  </p:nvGrpSpPr>
                  <p:grpSpPr>
                    <a:xfrm rot="1267204">
                      <a:off x="6941637" y="2734480"/>
                      <a:ext cx="288178" cy="284969"/>
                      <a:chOff x="3547701" y="1861471"/>
                      <a:chExt cx="1221814" cy="1208214"/>
                    </a:xfrm>
                  </p:grpSpPr>
                  <p:sp>
                    <p:nvSpPr>
                      <p:cNvPr id="104" name="椭圆 103"/>
                      <p:cNvSpPr/>
                      <p:nvPr/>
                    </p:nvSpPr>
                    <p:spPr bwMode="auto">
                      <a:xfrm>
                        <a:off x="3870013" y="1861471"/>
                        <a:ext cx="725290" cy="1208214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A4DD47"/>
                          </a:gs>
                          <a:gs pos="47000">
                            <a:srgbClr val="729B15"/>
                          </a:gs>
                          <a:gs pos="82000">
                            <a:srgbClr val="4C680E"/>
                          </a:gs>
                        </a:gsLst>
                        <a:path path="circle">
                          <a:fillToRect r="100000" b="100000"/>
                        </a:path>
                        <a:tileRect l="-100000" t="-100000"/>
                      </a:gradFill>
                      <a:ln w="6350">
                        <a:solidFill>
                          <a:schemeClr val="accent3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>
                        <a:defPPr>
                          <a:defRPr lang="zh-CN">
                            <a:solidFill>
                              <a:schemeClr val="lt1"/>
                            </a:solidFill>
                          </a:defRPr>
                        </a:defPPr>
                        <a:lvl1pPr marL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1pPr>
                        <a:lvl2pPr marL="457200" lvl="1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2pPr>
                        <a:lvl3pPr marL="914400" lvl="2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3pPr>
                        <a:lvl4pPr marL="1371600" lvl="3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4pPr>
                        <a:lvl5pPr marL="1828800" lvl="4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5pPr>
                        <a:lvl6pPr marL="2286000" lvl="5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6pPr>
                        <a:lvl7pPr marL="2743200" lvl="6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7pPr>
                        <a:lvl8pPr marL="3200400" lvl="7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8pPr>
                        <a:lvl9pPr marL="3657600" lvl="8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9pPr>
                      </a:lstStyle>
                      <a:p>
                        <a:pPr algn="ctr" defTabSz="914217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+mn-lt"/>
                          <a:ea typeface="+mn-ea"/>
                        </a:endParaRPr>
                      </a:p>
                    </p:txBody>
                  </p:sp>
                  <p:sp>
                    <p:nvSpPr>
                      <p:cNvPr id="105" name="椭圆 104"/>
                      <p:cNvSpPr/>
                      <p:nvPr/>
                    </p:nvSpPr>
                    <p:spPr bwMode="auto">
                      <a:xfrm rot="20122633">
                        <a:off x="4026838" y="1908752"/>
                        <a:ext cx="742677" cy="303110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alpha val="55000"/>
                            </a:schemeClr>
                          </a:gs>
                          <a:gs pos="50000">
                            <a:schemeClr val="bg1">
                              <a:shade val="67500"/>
                              <a:satMod val="115000"/>
                              <a:alpha val="12000"/>
                            </a:schemeClr>
                          </a:gs>
                          <a:gs pos="100000">
                            <a:schemeClr val="bg1">
                              <a:shade val="100000"/>
                              <a:satMod val="115000"/>
                              <a:alpha val="0"/>
                            </a:schemeClr>
                          </a:gs>
                        </a:gsLst>
                        <a:path path="shape">
                          <a:fillToRect l="50000" t="50000" r="50000" b="50000"/>
                        </a:path>
                        <a:tileRect/>
                      </a:gra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>
                        <a:defPPr>
                          <a:defRPr lang="zh-CN">
                            <a:solidFill>
                              <a:schemeClr val="lt1"/>
                            </a:solidFill>
                          </a:defRPr>
                        </a:defPPr>
                        <a:lvl1pPr marL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1pPr>
                        <a:lvl2pPr marL="457200" lvl="1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2pPr>
                        <a:lvl3pPr marL="914400" lvl="2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3pPr>
                        <a:lvl4pPr marL="1371600" lvl="3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4pPr>
                        <a:lvl5pPr marL="1828800" lvl="4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5pPr>
                        <a:lvl6pPr marL="2286000" lvl="5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6pPr>
                        <a:lvl7pPr marL="2743200" lvl="6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7pPr>
                        <a:lvl8pPr marL="3200400" lvl="7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8pPr>
                        <a:lvl9pPr marL="3657600" lvl="8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9pPr>
                      </a:lstStyle>
                      <a:p>
                        <a:pPr algn="ctr" defTabSz="914217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+mn-lt"/>
                          <a:ea typeface="+mn-ea"/>
                        </a:endParaRPr>
                      </a:p>
                    </p:txBody>
                  </p:sp>
                  <p:sp>
                    <p:nvSpPr>
                      <p:cNvPr id="106" name="椭圆 105"/>
                      <p:cNvSpPr/>
                      <p:nvPr/>
                    </p:nvSpPr>
                    <p:spPr bwMode="auto">
                      <a:xfrm rot="912585">
                        <a:off x="3547701" y="2016290"/>
                        <a:ext cx="689154" cy="606212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alpha val="0"/>
                            </a:schemeClr>
                          </a:gs>
                          <a:gs pos="16000">
                            <a:schemeClr val="bg1">
                              <a:alpha val="51000"/>
                            </a:schemeClr>
                          </a:gs>
                          <a:gs pos="30000">
                            <a:schemeClr val="bg1">
                              <a:alpha val="0"/>
                            </a:schemeClr>
                          </a:gs>
                        </a:gsLst>
                        <a:lin ang="2700000" scaled="1"/>
                        <a:tileRect/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>
                        <a:defPPr>
                          <a:defRPr lang="zh-CN">
                            <a:solidFill>
                              <a:schemeClr val="lt1"/>
                            </a:solidFill>
                          </a:defRPr>
                        </a:defPPr>
                        <a:lvl1pPr marL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1pPr>
                        <a:lvl2pPr marL="457200" lvl="1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2pPr>
                        <a:lvl3pPr marL="914400" lvl="2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3pPr>
                        <a:lvl4pPr marL="1371600" lvl="3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4pPr>
                        <a:lvl5pPr marL="1828800" lvl="4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5pPr>
                        <a:lvl6pPr marL="2286000" lvl="5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6pPr>
                        <a:lvl7pPr marL="2743200" lvl="6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7pPr>
                        <a:lvl8pPr marL="3200400" lvl="7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8pPr>
                        <a:lvl9pPr marL="3657600" lvl="8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None/>
                          <a:defRPr b="0" i="0" u="none" kern="1200" baseline="0">
                            <a:solidFill>
                              <a:schemeClr val="lt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cs typeface="+mn-cs"/>
                          </a:defRPr>
                        </a:lvl9pPr>
                      </a:lstStyle>
                      <a:p>
                        <a:pPr algn="ctr" defTabSz="914217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+mn-lt"/>
                          <a:ea typeface="+mn-ea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96" name="TextBox 26"/>
              <p:cNvSpPr txBox="1"/>
              <p:nvPr/>
            </p:nvSpPr>
            <p:spPr>
              <a:xfrm>
                <a:off x="845518" y="4343782"/>
                <a:ext cx="1218227" cy="3385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HTML5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4" name="矩形 93"/>
            <p:cNvSpPr/>
            <p:nvPr/>
          </p:nvSpPr>
          <p:spPr>
            <a:xfrm>
              <a:off x="639847" y="5106110"/>
              <a:ext cx="1742567" cy="1323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0B0F0"/>
                  </a:solidFill>
                </a:rPr>
                <a:t>2014</a:t>
              </a:r>
              <a:r>
                <a:rPr lang="zh-CN" altLang="en-US" sz="1600" dirty="0">
                  <a:solidFill>
                    <a:srgbClr val="00B0F0"/>
                  </a:solidFill>
                </a:rPr>
                <a:t>年</a:t>
              </a:r>
              <a:r>
                <a:rPr lang="en-US" altLang="zh-CN" sz="1600" dirty="0">
                  <a:solidFill>
                    <a:srgbClr val="00B0F0"/>
                  </a:solidFill>
                </a:rPr>
                <a:t>10</a:t>
              </a:r>
              <a:r>
                <a:rPr lang="zh-CN" altLang="en-US" sz="1600" dirty="0">
                  <a:solidFill>
                    <a:srgbClr val="00B0F0"/>
                  </a:solidFill>
                </a:rPr>
                <a:t>月底，</a:t>
              </a:r>
              <a:r>
                <a:rPr lang="en-US" altLang="zh-CN" sz="1600" dirty="0">
                  <a:solidFill>
                    <a:srgbClr val="00B0F0"/>
                  </a:solidFill>
                </a:rPr>
                <a:t>W3C</a:t>
              </a:r>
              <a:r>
                <a:rPr lang="zh-CN" altLang="en-US" sz="1600" dirty="0">
                  <a:solidFill>
                    <a:srgbClr val="00B0F0"/>
                  </a:solidFill>
                </a:rPr>
                <a:t>宣布</a:t>
              </a:r>
              <a:r>
                <a:rPr lang="en-US" altLang="zh-CN" sz="1600" dirty="0">
                  <a:solidFill>
                    <a:srgbClr val="00B0F0"/>
                  </a:solidFill>
                </a:rPr>
                <a:t>HTML5</a:t>
              </a:r>
              <a:r>
                <a:rPr lang="zh-CN" altLang="en-US" sz="1600" dirty="0">
                  <a:solidFill>
                    <a:srgbClr val="00B0F0"/>
                  </a:solidFill>
                </a:rPr>
                <a:t>正式定稿，网页进入了</a:t>
              </a:r>
              <a:r>
                <a:rPr lang="en-US" altLang="zh-CN" sz="1600" dirty="0">
                  <a:solidFill>
                    <a:srgbClr val="00B0F0"/>
                  </a:solidFill>
                </a:rPr>
                <a:t>HTML5</a:t>
              </a:r>
              <a:r>
                <a:rPr lang="zh-CN" altLang="en-US" sz="1600" dirty="0">
                  <a:solidFill>
                    <a:srgbClr val="00B0F0"/>
                  </a:solidFill>
                </a:rPr>
                <a:t>开发的新时代。</a:t>
              </a:r>
              <a:endParaRPr lang="zh-CN" altLang="en-US" sz="1200" dirty="0">
                <a:solidFill>
                  <a:srgbClr val="00B0F0"/>
                </a:solidFill>
              </a:endParaRPr>
            </a:p>
          </p:txBody>
        </p:sp>
      </p:grpSp>
      <p:sp>
        <p:nvSpPr>
          <p:cNvPr id="86" name="虚尾箭头 97"/>
          <p:cNvSpPr/>
          <p:nvPr/>
        </p:nvSpPr>
        <p:spPr bwMode="auto">
          <a:xfrm>
            <a:off x="4948826" y="4807621"/>
            <a:ext cx="685641" cy="550736"/>
          </a:xfrm>
          <a:prstGeom prst="stripedRightArrow">
            <a:avLst/>
          </a:prstGeom>
          <a:solidFill>
            <a:srgbClr val="00B0F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914217" eaLnBrk="1" hangingPunct="1">
              <a:defRPr/>
            </a:pPr>
            <a:endParaRPr lang="zh-CN" altLang="en-US"/>
          </a:p>
        </p:txBody>
      </p:sp>
      <p:grpSp>
        <p:nvGrpSpPr>
          <p:cNvPr id="87" name="组合 86"/>
          <p:cNvGrpSpPr/>
          <p:nvPr/>
        </p:nvGrpSpPr>
        <p:grpSpPr>
          <a:xfrm>
            <a:off x="5736044" y="4094932"/>
            <a:ext cx="3350436" cy="1782426"/>
            <a:chOff x="3778458" y="4530606"/>
            <a:chExt cx="3350902" cy="1783562"/>
          </a:xfrm>
        </p:grpSpPr>
        <p:grpSp>
          <p:nvGrpSpPr>
            <p:cNvPr id="88" name="组合 87"/>
            <p:cNvGrpSpPr/>
            <p:nvPr/>
          </p:nvGrpSpPr>
          <p:grpSpPr>
            <a:xfrm>
              <a:off x="3778458" y="4530606"/>
              <a:ext cx="3350902" cy="1783562"/>
              <a:chOff x="1242068" y="3955948"/>
              <a:chExt cx="2465836" cy="1578419"/>
            </a:xfrm>
          </p:grpSpPr>
          <p:cxnSp>
            <p:nvCxnSpPr>
              <p:cNvPr id="90" name="直接连接符 89"/>
              <p:cNvCxnSpPr/>
              <p:nvPr/>
            </p:nvCxnSpPr>
            <p:spPr>
              <a:xfrm>
                <a:off x="1242068" y="4119050"/>
                <a:ext cx="2465836" cy="8433"/>
              </a:xfrm>
              <a:prstGeom prst="line">
                <a:avLst/>
              </a:prstGeom>
              <a:ln w="19050">
                <a:solidFill>
                  <a:srgbClr val="00B0F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91" name="矩形 90"/>
              <p:cNvSpPr/>
              <p:nvPr/>
            </p:nvSpPr>
            <p:spPr>
              <a:xfrm>
                <a:off x="1976514" y="3955948"/>
                <a:ext cx="1159722" cy="326985"/>
              </a:xfrm>
              <a:prstGeom prst="rect">
                <a:avLst/>
              </a:prstGeom>
              <a:solidFill>
                <a:srgbClr val="00B0F0"/>
              </a:solidFill>
              <a:ln w="25400" cap="flat" cmpd="sng">
                <a:solidFill>
                  <a:srgbClr val="00B0F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 anchor="ctr" anchorCtr="1">
                <a:spAutoFit/>
              </a:bodyPr>
              <a:lstStyle>
                <a:defPPr>
                  <a:defRPr lang="zh-CN"/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【</a:t>
                </a:r>
                <a:r>
                  <a:rPr lang="zh-CN" altLang="en-US" b="1" dirty="0">
                    <a:solidFill>
                      <a:schemeClr val="bg1"/>
                    </a:solidFill>
                  </a:rPr>
                  <a:t>总结</a:t>
                </a:r>
                <a:r>
                  <a:rPr lang="en-US" altLang="zh-CN" b="1" dirty="0">
                    <a:solidFill>
                      <a:schemeClr val="bg1"/>
                    </a:solidFill>
                  </a:rPr>
                  <a:t>】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2" name="直接连接符 91"/>
              <p:cNvCxnSpPr/>
              <p:nvPr/>
            </p:nvCxnSpPr>
            <p:spPr>
              <a:xfrm>
                <a:off x="1242068" y="5534367"/>
                <a:ext cx="2465836" cy="0"/>
              </a:xfrm>
              <a:prstGeom prst="line">
                <a:avLst/>
              </a:prstGeom>
              <a:ln w="19050">
                <a:solidFill>
                  <a:srgbClr val="00B0F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89" name="TextBox 145"/>
            <p:cNvSpPr txBox="1"/>
            <p:nvPr/>
          </p:nvSpPr>
          <p:spPr>
            <a:xfrm>
              <a:off x="3965748" y="5071266"/>
              <a:ext cx="3094628" cy="10772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0B0F0"/>
                  </a:solidFill>
                </a:rPr>
                <a:t>HTML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语言发展至今，经历了</a:t>
              </a:r>
              <a:r>
                <a:rPr lang="zh-CN" altLang="zh-CN" sz="1600" dirty="0">
                  <a:solidFill>
                    <a:srgbClr val="00B0F0"/>
                  </a:solidFill>
                </a:rPr>
                <a:t>六个版本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，这个过程中新增了许多</a:t>
              </a:r>
              <a:r>
                <a:rPr lang="en-US" altLang="zh-CN" sz="1600" dirty="0">
                  <a:solidFill>
                    <a:srgbClr val="00B0F0"/>
                  </a:solidFill>
                </a:rPr>
                <a:t>HTML</a:t>
              </a:r>
              <a:r>
                <a:rPr lang="zh-CN" altLang="en-US" sz="1600" dirty="0">
                  <a:solidFill>
                    <a:srgbClr val="00B0F0"/>
                  </a:solidFill>
                </a:rPr>
                <a:t>标签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，同时也淘汰了一些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HTML </a:t>
            </a:r>
            <a:r>
              <a:rPr sz="3000" b="1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的成长史：从</a:t>
            </a:r>
            <a:r>
              <a:rPr sz="30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1989 </a:t>
            </a:r>
            <a:r>
              <a:rPr sz="3000" b="1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到“活标准</a:t>
            </a:r>
            <a:r>
              <a:rPr sz="30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86384" y="2788920"/>
            <a:ext cx="10618927" cy="0"/>
          </a:xfrm>
          <a:prstGeom prst="line">
            <a:avLst/>
          </a:prstGeom>
          <a:ln w="38100">
            <a:solidFill>
              <a:srgbClr val="E5ECFF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225890" y="2697479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 flipV="1">
            <a:off x="1317330" y="2496312"/>
            <a:ext cx="0" cy="201167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23282" y="1399032"/>
            <a:ext cx="2017596" cy="109728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1989–91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Tim Berners-Lee 在 CERN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发明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Web：HTML、浏览器、服务器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2287783" y="2697479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379223" y="2880360"/>
            <a:ext cx="0" cy="201167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1370424" y="3081527"/>
            <a:ext cx="2017596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1994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Tim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创立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W3C；HTML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交给标准组织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349675" y="2697479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3441115" y="2496312"/>
            <a:ext cx="0" cy="201167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2432317" y="1399032"/>
            <a:ext cx="2017596" cy="109728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1995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HTML 2.0（IETF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发布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4" name="Oval 13"/>
          <p:cNvSpPr/>
          <p:nvPr/>
        </p:nvSpPr>
        <p:spPr>
          <a:xfrm>
            <a:off x="4411568" y="2697479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503008" y="2880360"/>
            <a:ext cx="0" cy="201167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3494210" y="3081527"/>
            <a:ext cx="2017596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1997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HTML 3.2 / 4.0，W3C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接手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473461" y="2697479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 flipV="1">
            <a:off x="5564901" y="2496312"/>
            <a:ext cx="0" cy="201167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556103" y="1399032"/>
            <a:ext cx="2017596" cy="109728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1999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HTML 4.01 之后停滞，W3C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押注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XHTML</a:t>
            </a:r>
          </a:p>
        </p:txBody>
      </p:sp>
      <p:sp>
        <p:nvSpPr>
          <p:cNvPr id="20" name="Oval 19"/>
          <p:cNvSpPr/>
          <p:nvPr/>
        </p:nvSpPr>
        <p:spPr>
          <a:xfrm>
            <a:off x="6535353" y="2697479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626793" y="2880360"/>
            <a:ext cx="0" cy="201167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5617995" y="3081527"/>
            <a:ext cx="2017596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2004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Apple、Mozilla、Opera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成立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WHATWG，继续做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HTML</a:t>
            </a:r>
          </a:p>
        </p:txBody>
      </p:sp>
      <p:sp>
        <p:nvSpPr>
          <p:cNvPr id="23" name="Oval 22"/>
          <p:cNvSpPr/>
          <p:nvPr/>
        </p:nvSpPr>
        <p:spPr>
          <a:xfrm>
            <a:off x="7597246" y="2697479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 flipV="1">
            <a:off x="7688686" y="2496312"/>
            <a:ext cx="0" cy="201167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679888" y="1399032"/>
            <a:ext cx="2017596" cy="109728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2008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HTML5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首个公开草案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659139" y="2697479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750579" y="2880360"/>
            <a:ext cx="0" cy="201167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741781" y="3081527"/>
            <a:ext cx="2017596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2014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W3C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宣布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HTML5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定稿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721032" y="2697479"/>
            <a:ext cx="182880" cy="182880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 flipV="1">
            <a:off x="9812472" y="2496312"/>
            <a:ext cx="0" cy="201167"/>
          </a:xfrm>
          <a:prstGeom prst="line">
            <a:avLst/>
          </a:prstGeom>
          <a:ln w="12700">
            <a:solidFill>
              <a:srgbClr val="F59E0B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803674" y="1399032"/>
            <a:ext cx="2017596" cy="109728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F59E0B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2019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W3C 与 WHATWG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签备忘录：只维护一份活标准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782924" y="2697479"/>
            <a:ext cx="182880" cy="182880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10874364" y="2880360"/>
            <a:ext cx="0" cy="201167"/>
          </a:xfrm>
          <a:prstGeom prst="line">
            <a:avLst/>
          </a:prstGeom>
          <a:ln w="12700">
            <a:solidFill>
              <a:srgbClr val="F59E0B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9872562" y="3081527"/>
            <a:ext cx="2017596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 err="1">
                <a:solidFill>
                  <a:srgbClr val="F59E0B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今天</a:t>
            </a:r>
            <a:endParaRPr sz="1600" b="1" i="0" dirty="0">
              <a:solidFill>
                <a:srgbClr val="F59E0B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WHATWG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维护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HTML Living Standard，W3C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参与评审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94944" y="4343400"/>
            <a:ext cx="5120640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772668" y="4789436"/>
            <a:ext cx="530352" cy="530352"/>
          </a:xfrm>
          <a:prstGeom prst="ellipse">
            <a:avLst/>
          </a:prstGeom>
          <a:solidFill>
            <a:srgbClr val="E5ECFF"/>
          </a:solidFill>
          <a:ln>
            <a:noFill/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7" name="Picture 36" descr="TbBulb_376FFF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4890020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426464" y="445312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1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为什么这么曲折</a:t>
            </a:r>
            <a:r>
              <a:rPr sz="1300" b="1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6464" y="4727447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浏览器大战各加私有标签</a:t>
            </a:r>
            <a:r>
              <a:rPr sz="1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→ W3C </a:t>
            </a:r>
            <a:r>
              <a:rPr sz="12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想用严格的</a:t>
            </a:r>
            <a:r>
              <a:rPr sz="1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XHTML 2.0 </a:t>
            </a:r>
            <a:r>
              <a:rPr sz="12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推倒重来（不兼容旧网页</a:t>
            </a:r>
            <a:r>
              <a:rPr sz="1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）→ </a:t>
            </a:r>
            <a:r>
              <a:rPr sz="12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浏览器厂商不干，另起炉灶成立</a:t>
            </a:r>
            <a:r>
              <a:rPr sz="1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WHATWG → </a:t>
            </a:r>
            <a:r>
              <a:rPr sz="12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两套规范并行十几年</a:t>
            </a:r>
            <a:r>
              <a:rPr sz="1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→ 2019 </a:t>
            </a:r>
            <a:r>
              <a:rPr sz="12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年和解</a:t>
            </a:r>
            <a:r>
              <a:rPr sz="1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  <a:endParaRPr lang="en-US" sz="12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  <a:buNone/>
            </a:pPr>
            <a:endParaRPr lang="en-US" sz="12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WHATWG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维护的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HTML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活标准：</a:t>
            </a:r>
            <a:r>
              <a:rPr lang="zh-C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hlinkClick r:id="rId4"/>
              </a:rPr>
              <a:t>https://html.spec.whatwg.org/</a:t>
            </a:r>
            <a:endParaRPr lang="zh-CN" altLang="zh-CN" sz="12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  <a:buNone/>
            </a:pPr>
            <a:endParaRPr sz="1050" b="0" i="0" dirty="0">
              <a:solidFill>
                <a:srgbClr val="6B728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035040" y="4343400"/>
            <a:ext cx="5458968" cy="1508760"/>
          </a:xfrm>
          <a:prstGeom prst="roundRect">
            <a:avLst>
              <a:gd name="adj" fmla="val 7272"/>
            </a:avLst>
          </a:prstGeom>
          <a:solidFill>
            <a:srgbClr val="FFF3D6"/>
          </a:solidFill>
          <a:ln w="12700">
            <a:solidFill>
              <a:srgbClr val="F2C879"/>
            </a:solidFill>
          </a:ln>
        </p:spPr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163055" y="4942332"/>
            <a:ext cx="849324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buNone/>
            </a:pPr>
            <a:r>
              <a:rPr sz="1300" b="1" i="0" dirty="0" err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教材更新</a:t>
            </a:r>
            <a:endParaRPr sz="1300" b="1" i="0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095744" y="4343400"/>
            <a:ext cx="4270247" cy="1508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教材说“2014 年 HTML5 正式定稿”没错，但故事没完：2019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年起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HTML 只有一份不断更新的“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活标准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”，由 WHATWG 维护，W3C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不再另出版本、只参与评审并认可。所以不会再有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HTML6，今天说的 HTML5 ≈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现代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HTML。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190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1000" b="0" i="0">
                <a:solidFill>
                  <a:srgbClr val="9CA3A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16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CSS3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416564" y="1629218"/>
            <a:ext cx="9181116" cy="1799782"/>
            <a:chOff x="676275" y="2314574"/>
            <a:chExt cx="9183242" cy="1802807"/>
          </a:xfrm>
        </p:grpSpPr>
        <p:sp>
          <p:nvSpPr>
            <p:cNvPr id="17" name="矩形 16"/>
            <p:cNvSpPr/>
            <p:nvPr/>
          </p:nvSpPr>
          <p:spPr bwMode="auto">
            <a:xfrm>
              <a:off x="676275" y="2538736"/>
              <a:ext cx="9183242" cy="1578645"/>
            </a:xfrm>
            <a:prstGeom prst="rect">
              <a:avLst/>
            </a:prstGeom>
            <a:ln w="9525">
              <a:solidFill>
                <a:srgbClr val="0070C0"/>
              </a:solidFill>
            </a:ln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794159" y="2755948"/>
              <a:ext cx="8941685" cy="1225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en-US" altLang="zh-CN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Cascading Style Sheets</a:t>
              </a:r>
              <a:r>
                <a:rPr lang="zh-CN" altLang="en-US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，层叠样式表）</a:t>
              </a:r>
              <a:r>
                <a:rPr lang="zh-CN" altLang="en-US" sz="1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主要用于设置</a:t>
              </a:r>
              <a:r>
                <a:rPr lang="en-US" altLang="zh-CN" sz="1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页面中的</a:t>
              </a:r>
              <a:r>
                <a:rPr lang="zh-CN" altLang="en-US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文本格式</a:t>
              </a:r>
              <a:r>
                <a:rPr lang="zh-CN" altLang="en-US" sz="1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（如字体、大小、对齐方式等）、</a:t>
              </a:r>
              <a:r>
                <a:rPr lang="zh-CN" altLang="en-US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图片外形</a:t>
              </a:r>
              <a:r>
                <a:rPr lang="zh-CN" altLang="en-US" sz="1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（如宽度和高度、边框样式、边距等）、</a:t>
              </a:r>
              <a:r>
                <a:rPr lang="zh-CN" altLang="en-US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版面布局</a:t>
              </a:r>
              <a:r>
                <a:rPr lang="zh-CN" altLang="en-US" sz="1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等外观样式。</a:t>
              </a:r>
            </a:p>
          </p:txBody>
        </p:sp>
        <p:sp>
          <p:nvSpPr>
            <p:cNvPr id="19" name="任意多边形 10"/>
            <p:cNvSpPr/>
            <p:nvPr/>
          </p:nvSpPr>
          <p:spPr bwMode="auto">
            <a:xfrm>
              <a:off x="873125" y="2314574"/>
              <a:ext cx="1905000" cy="372013"/>
            </a:xfrm>
            <a:custGeom>
              <a:avLst/>
              <a:gdLst>
                <a:gd name="connsiteX0" fmla="*/ 0 w 4267200"/>
                <a:gd name="connsiteY0" fmla="*/ 201820 h 1210897"/>
                <a:gd name="connsiteX1" fmla="*/ 201820 w 4267200"/>
                <a:gd name="connsiteY1" fmla="*/ 0 h 1210897"/>
                <a:gd name="connsiteX2" fmla="*/ 4065380 w 4267200"/>
                <a:gd name="connsiteY2" fmla="*/ 0 h 1210897"/>
                <a:gd name="connsiteX3" fmla="*/ 4267200 w 4267200"/>
                <a:gd name="connsiteY3" fmla="*/ 201820 h 1210897"/>
                <a:gd name="connsiteX4" fmla="*/ 4267200 w 4267200"/>
                <a:gd name="connsiteY4" fmla="*/ 1009077 h 1210897"/>
                <a:gd name="connsiteX5" fmla="*/ 4065380 w 4267200"/>
                <a:gd name="connsiteY5" fmla="*/ 1210897 h 1210897"/>
                <a:gd name="connsiteX6" fmla="*/ 201820 w 4267200"/>
                <a:gd name="connsiteY6" fmla="*/ 1210897 h 1210897"/>
                <a:gd name="connsiteX7" fmla="*/ 0 w 4267200"/>
                <a:gd name="connsiteY7" fmla="*/ 1009077 h 1210897"/>
                <a:gd name="connsiteX8" fmla="*/ 0 w 4267200"/>
                <a:gd name="connsiteY8" fmla="*/ 201820 h 12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67200" h="1210897">
                  <a:moveTo>
                    <a:pt x="0" y="201820"/>
                  </a:moveTo>
                  <a:cubicBezTo>
                    <a:pt x="0" y="90358"/>
                    <a:pt x="90358" y="0"/>
                    <a:pt x="201820" y="0"/>
                  </a:cubicBezTo>
                  <a:lnTo>
                    <a:pt x="4065380" y="0"/>
                  </a:lnTo>
                  <a:cubicBezTo>
                    <a:pt x="4176842" y="0"/>
                    <a:pt x="4267200" y="90358"/>
                    <a:pt x="4267200" y="201820"/>
                  </a:cubicBezTo>
                  <a:lnTo>
                    <a:pt x="4267200" y="1009077"/>
                  </a:lnTo>
                  <a:cubicBezTo>
                    <a:pt x="4267200" y="1120539"/>
                    <a:pt x="4176842" y="1210897"/>
                    <a:pt x="4065380" y="1210897"/>
                  </a:cubicBezTo>
                  <a:lnTo>
                    <a:pt x="201820" y="1210897"/>
                  </a:lnTo>
                  <a:cubicBezTo>
                    <a:pt x="90358" y="1210897"/>
                    <a:pt x="0" y="1120539"/>
                    <a:pt x="0" y="1009077"/>
                  </a:cubicBezTo>
                  <a:lnTo>
                    <a:pt x="0" y="201820"/>
                  </a:lnTo>
                  <a:close/>
                </a:path>
              </a:pathLst>
            </a:custGeom>
            <a:solidFill>
              <a:srgbClr val="136AB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0350" tIns="59097" rIns="220350" bIns="59097" spcCol="127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defTabSz="2888672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499" dirty="0">
                <a:latin typeface="+mn-lt"/>
                <a:ea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873125" y="2324100"/>
              <a:ext cx="1827213" cy="3387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 述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390" y="3718878"/>
            <a:ext cx="6282165" cy="2081965"/>
          </a:xfrm>
          <a:prstGeom prst="rect">
            <a:avLst/>
          </a:prstGeom>
        </p:spPr>
      </p:pic>
      <p:sp>
        <p:nvSpPr>
          <p:cNvPr id="22" name="圆角矩形标注 17"/>
          <p:cNvSpPr/>
          <p:nvPr/>
        </p:nvSpPr>
        <p:spPr bwMode="auto">
          <a:xfrm rot="16200000">
            <a:off x="5548573" y="5093253"/>
            <a:ext cx="554557" cy="2483337"/>
          </a:xfrm>
          <a:prstGeom prst="wedgeRoundRectCallout">
            <a:avLst>
              <a:gd name="adj1" fmla="val 89132"/>
              <a:gd name="adj2" fmla="val 6124"/>
              <a:gd name="adj3" fmla="val 16667"/>
            </a:avLst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800113" y="6020689"/>
            <a:ext cx="2768895" cy="5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66" tIns="60932" rIns="121866" bIns="6093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会员模块效果图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CSS 的成长史：CSS1 → CSS2 → CSS3 </a:t>
            </a:r>
            <a:r>
              <a:rPr lang="zh-CN" altLang="en-US" sz="30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sz="30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3000" b="1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模块化</a:t>
            </a:r>
            <a:r>
              <a:rPr lang="zh-CN" altLang="en-US" sz="3000" b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endParaRPr sz="3000" b="1" dirty="0">
              <a:solidFill>
                <a:srgbClr val="001548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86384" y="2697480"/>
            <a:ext cx="10618927" cy="0"/>
          </a:xfrm>
          <a:prstGeom prst="line">
            <a:avLst/>
          </a:prstGeom>
          <a:ln w="38100">
            <a:solidFill>
              <a:srgbClr val="E5ECFF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358626" y="260604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 flipV="1">
            <a:off x="1450066" y="2404872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211186" y="1362960"/>
            <a:ext cx="2521995" cy="105156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1994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Håkon Wium Lie 在 CERN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提出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CSS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构想（与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Tim Berners-Lee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共事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8" name="Oval 7"/>
          <p:cNvSpPr/>
          <p:nvPr/>
        </p:nvSpPr>
        <p:spPr>
          <a:xfrm>
            <a:off x="2685992" y="260604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777432" y="2788920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1516435" y="2990088"/>
            <a:ext cx="2521995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1996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CSS1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成为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W3C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推荐标准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13358" y="260604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4104798" y="2404872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2843801" y="1353312"/>
            <a:ext cx="2521995" cy="105156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1998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CSS2：定位、媒体类型</a:t>
            </a:r>
          </a:p>
        </p:txBody>
      </p:sp>
      <p:sp>
        <p:nvSpPr>
          <p:cNvPr id="14" name="Oval 13"/>
          <p:cNvSpPr/>
          <p:nvPr/>
        </p:nvSpPr>
        <p:spPr>
          <a:xfrm>
            <a:off x="5340724" y="260604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432164" y="2788920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4171167" y="2990088"/>
            <a:ext cx="2521995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2001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CSS3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拆成多个模块各自推进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68090" y="260604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 flipV="1">
            <a:off x="6759530" y="2404872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98532" y="1353312"/>
            <a:ext cx="2521995" cy="105156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2011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CSS 2.1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定稿；选择器、颜色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Level 3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完成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995456" y="260604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086896" y="2788920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825898" y="2990088"/>
            <a:ext cx="2521995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2017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Flexbox、Grid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主流浏览器全部支持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322822" y="260604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 flipV="1">
            <a:off x="9414262" y="2404872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8153264" y="1353312"/>
            <a:ext cx="2521995" cy="105156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2022–23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容器查询、嵌套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、:has()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落地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650188" y="2606040"/>
            <a:ext cx="182880" cy="182880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10741628" y="2788920"/>
            <a:ext cx="0" cy="201168"/>
          </a:xfrm>
          <a:prstGeom prst="line">
            <a:avLst/>
          </a:prstGeom>
          <a:ln w="12700">
            <a:solidFill>
              <a:srgbClr val="F59E0B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9480629" y="3017521"/>
            <a:ext cx="2521995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 err="1">
                <a:solidFill>
                  <a:srgbClr val="F59E0B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今天</a:t>
            </a:r>
            <a:endParaRPr sz="1600" b="1" i="0" dirty="0">
              <a:solidFill>
                <a:srgbClr val="F59E0B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W3C CSS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工作组维护，每年发布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CSS Snapshot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" y="425196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86384" y="4786884"/>
            <a:ext cx="530352" cy="530352"/>
          </a:xfrm>
          <a:prstGeom prst="ellipse">
            <a:avLst/>
          </a:prstGeom>
          <a:solidFill>
            <a:srgbClr val="EAF0FF"/>
          </a:solidFill>
          <a:ln>
            <a:noFill/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1" name="Picture 30" descr="TbBulb_2965F1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18" y="4896612"/>
            <a:ext cx="329184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72184" y="4361687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1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教材里的两个要点，今天仍然成立</a:t>
            </a:r>
            <a:endParaRPr sz="1300" b="1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40358" y="4746328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lnSpc>
                <a:spcPct val="112000"/>
              </a:lnSpc>
              <a:spcAft>
                <a:spcPts val="300"/>
              </a:spcAft>
              <a:buClr>
                <a:srgbClr val="2965F1"/>
              </a:buClr>
              <a:buFont typeface="Arial"/>
              <a:buChar char="•"/>
            </a:pPr>
            <a:r>
              <a:rPr sz="120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CSS3 </a:t>
            </a:r>
            <a:r>
              <a:rPr sz="120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建立在旧版本之上：旧属性依然可用（向下兼容</a:t>
            </a:r>
            <a:r>
              <a:rPr sz="120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）。</a:t>
            </a:r>
          </a:p>
          <a:p>
            <a:pPr marL="201168" indent="-201168" algn="l">
              <a:lnSpc>
                <a:spcPct val="112000"/>
              </a:lnSpc>
              <a:spcAft>
                <a:spcPts val="300"/>
              </a:spcAft>
              <a:buClr>
                <a:srgbClr val="2965F1"/>
              </a:buClr>
              <a:buFont typeface="Arial"/>
              <a:buChar char="•"/>
            </a:pPr>
            <a:r>
              <a:rPr sz="120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CSS3 </a:t>
            </a:r>
            <a:r>
              <a:rPr sz="120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新增了文字阴影、透明、渐变、变形（平移</a:t>
            </a:r>
            <a:r>
              <a:rPr sz="120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/ </a:t>
            </a:r>
            <a:r>
              <a:rPr sz="120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缩放</a:t>
            </a:r>
            <a:r>
              <a:rPr sz="120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/ </a:t>
            </a:r>
            <a:r>
              <a:rPr sz="120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旋转）等，后面项目会逐一学到</a:t>
            </a:r>
            <a:r>
              <a:rPr sz="120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4251960"/>
            <a:ext cx="5458968" cy="1600200"/>
          </a:xfrm>
          <a:prstGeom prst="roundRect">
            <a:avLst>
              <a:gd name="adj" fmla="val 6857"/>
            </a:avLst>
          </a:prstGeom>
          <a:solidFill>
            <a:srgbClr val="FFF3D6"/>
          </a:solidFill>
          <a:ln w="12700">
            <a:solidFill>
              <a:srgbClr val="F2C879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63055" y="489661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buNone/>
            </a:pPr>
            <a:r>
              <a:rPr sz="1100" b="1" i="0" dirty="0" err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教材更新</a:t>
            </a:r>
            <a:endParaRPr sz="1100" b="1" i="0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95744" y="4251960"/>
            <a:ext cx="4398264" cy="1600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20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世界上没有“CSS4”：CSS3 之后拆成几十个模块各自升级，“CSS3”今天泛指现代 </a:t>
            </a:r>
            <a:r>
              <a:rPr sz="120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CSS。和</a:t>
            </a:r>
            <a:r>
              <a:rPr sz="120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HTML </a:t>
            </a:r>
            <a:r>
              <a:rPr sz="120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不同，CSS</a:t>
            </a:r>
            <a:r>
              <a:rPr sz="120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20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一直由</a:t>
            </a:r>
            <a:r>
              <a:rPr sz="120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W3C 的 CSS </a:t>
            </a:r>
            <a:r>
              <a:rPr sz="120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工作组制定（浏览器厂商共同参与</a:t>
            </a:r>
            <a:r>
              <a:rPr sz="120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），没有“</a:t>
            </a:r>
            <a:r>
              <a:rPr sz="120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搬家</a:t>
            </a:r>
            <a:r>
              <a:rPr sz="120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”。</a:t>
            </a:r>
            <a:r>
              <a:rPr sz="120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工作中最常用的布局是</a:t>
            </a:r>
            <a:r>
              <a:rPr sz="120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Flex 和 </a:t>
            </a:r>
            <a:r>
              <a:rPr sz="120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Grid，教材项目</a:t>
            </a:r>
            <a:r>
              <a:rPr sz="120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4 </a:t>
            </a:r>
            <a:r>
              <a:rPr sz="120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的浮动、定位是基础</a:t>
            </a:r>
            <a:r>
              <a:rPr sz="120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JavaScript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272580" y="1727594"/>
            <a:ext cx="9790822" cy="1701406"/>
            <a:chOff x="676275" y="2314574"/>
            <a:chExt cx="9793089" cy="1704266"/>
          </a:xfrm>
        </p:grpSpPr>
        <p:sp>
          <p:nvSpPr>
            <p:cNvPr id="18" name="矩形 17"/>
            <p:cNvSpPr/>
            <p:nvPr/>
          </p:nvSpPr>
          <p:spPr bwMode="auto">
            <a:xfrm>
              <a:off x="676275" y="2538736"/>
              <a:ext cx="9793089" cy="1480104"/>
            </a:xfrm>
            <a:prstGeom prst="rect">
              <a:avLst/>
            </a:prstGeom>
            <a:ln w="9525">
              <a:solidFill>
                <a:srgbClr val="0070C0"/>
              </a:solidFill>
            </a:ln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854075" y="2752258"/>
              <a:ext cx="9471274" cy="11582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是一种运行在客户端的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脚本语言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。在网页制作中，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用于搭建页面结构，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页面样式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则用于为页面添加动态交互效果。人们在浏览网页时见到的焦点图切换、下拉菜单等都可以通过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代码实现。</a:t>
              </a:r>
            </a:p>
          </p:txBody>
        </p:sp>
        <p:sp>
          <p:nvSpPr>
            <p:cNvPr id="21" name="任意多边形 10"/>
            <p:cNvSpPr/>
            <p:nvPr/>
          </p:nvSpPr>
          <p:spPr bwMode="auto">
            <a:xfrm>
              <a:off x="873125" y="2314574"/>
              <a:ext cx="1905000" cy="372013"/>
            </a:xfrm>
            <a:custGeom>
              <a:avLst/>
              <a:gdLst>
                <a:gd name="connsiteX0" fmla="*/ 0 w 4267200"/>
                <a:gd name="connsiteY0" fmla="*/ 201820 h 1210897"/>
                <a:gd name="connsiteX1" fmla="*/ 201820 w 4267200"/>
                <a:gd name="connsiteY1" fmla="*/ 0 h 1210897"/>
                <a:gd name="connsiteX2" fmla="*/ 4065380 w 4267200"/>
                <a:gd name="connsiteY2" fmla="*/ 0 h 1210897"/>
                <a:gd name="connsiteX3" fmla="*/ 4267200 w 4267200"/>
                <a:gd name="connsiteY3" fmla="*/ 201820 h 1210897"/>
                <a:gd name="connsiteX4" fmla="*/ 4267200 w 4267200"/>
                <a:gd name="connsiteY4" fmla="*/ 1009077 h 1210897"/>
                <a:gd name="connsiteX5" fmla="*/ 4065380 w 4267200"/>
                <a:gd name="connsiteY5" fmla="*/ 1210897 h 1210897"/>
                <a:gd name="connsiteX6" fmla="*/ 201820 w 4267200"/>
                <a:gd name="connsiteY6" fmla="*/ 1210897 h 1210897"/>
                <a:gd name="connsiteX7" fmla="*/ 0 w 4267200"/>
                <a:gd name="connsiteY7" fmla="*/ 1009077 h 1210897"/>
                <a:gd name="connsiteX8" fmla="*/ 0 w 4267200"/>
                <a:gd name="connsiteY8" fmla="*/ 201820 h 12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67200" h="1210897">
                  <a:moveTo>
                    <a:pt x="0" y="201820"/>
                  </a:moveTo>
                  <a:cubicBezTo>
                    <a:pt x="0" y="90358"/>
                    <a:pt x="90358" y="0"/>
                    <a:pt x="201820" y="0"/>
                  </a:cubicBezTo>
                  <a:lnTo>
                    <a:pt x="4065380" y="0"/>
                  </a:lnTo>
                  <a:cubicBezTo>
                    <a:pt x="4176842" y="0"/>
                    <a:pt x="4267200" y="90358"/>
                    <a:pt x="4267200" y="201820"/>
                  </a:cubicBezTo>
                  <a:lnTo>
                    <a:pt x="4267200" y="1009077"/>
                  </a:lnTo>
                  <a:cubicBezTo>
                    <a:pt x="4267200" y="1120539"/>
                    <a:pt x="4176842" y="1210897"/>
                    <a:pt x="4065380" y="1210897"/>
                  </a:cubicBezTo>
                  <a:lnTo>
                    <a:pt x="201820" y="1210897"/>
                  </a:lnTo>
                  <a:cubicBezTo>
                    <a:pt x="90358" y="1210897"/>
                    <a:pt x="0" y="1120539"/>
                    <a:pt x="0" y="1009077"/>
                  </a:cubicBezTo>
                  <a:lnTo>
                    <a:pt x="0" y="201820"/>
                  </a:lnTo>
                  <a:close/>
                </a:path>
              </a:pathLst>
            </a:custGeom>
            <a:solidFill>
              <a:srgbClr val="136AB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0350" tIns="59097" rIns="220350" bIns="59097" spcCol="127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defTabSz="2888672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6499" dirty="0">
                <a:latin typeface="+mn-lt"/>
                <a:ea typeface="+mn-ea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873125" y="2324100"/>
              <a:ext cx="1827213" cy="3387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 述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485" y="4148914"/>
            <a:ext cx="7740886" cy="1273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教材更新：JavaScript</a:t>
            </a:r>
            <a:r>
              <a:rPr sz="30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3000" b="1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早已不只运行在浏览器里</a:t>
            </a:r>
            <a:endParaRPr sz="3000" b="1" dirty="0">
              <a:solidFill>
                <a:srgbClr val="001548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94944" y="1371600"/>
            <a:ext cx="48463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3544" y="1591054"/>
            <a:ext cx="282549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0" i="0" dirty="0" err="1">
                <a:solidFill>
                  <a:srgbClr val="9CA3A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教材原话（任务</a:t>
            </a:r>
            <a:r>
              <a:rPr sz="1300" b="0" i="0" dirty="0">
                <a:solidFill>
                  <a:srgbClr val="9CA3A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1-2 · JavaScript </a:t>
            </a:r>
            <a:r>
              <a:rPr sz="1300" b="0" i="0" dirty="0" err="1">
                <a:solidFill>
                  <a:srgbClr val="9CA3A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简介</a:t>
            </a:r>
            <a:r>
              <a:rPr sz="1300" b="0" i="0" dirty="0">
                <a:solidFill>
                  <a:srgbClr val="9CA3A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1755648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00" b="1" i="1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“JavaScript </a:t>
            </a:r>
            <a:r>
              <a:rPr sz="1500" b="1" i="1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是一种运行在客户端的脚本语言</a:t>
            </a:r>
            <a:r>
              <a:rPr sz="1500" b="1" i="1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。”</a:t>
            </a:r>
          </a:p>
        </p:txBody>
      </p:sp>
      <p:sp>
        <p:nvSpPr>
          <p:cNvPr id="7" name="Rounded Rectangle 6"/>
          <p:cNvSpPr/>
          <p:nvPr/>
        </p:nvSpPr>
        <p:spPr>
          <a:xfrm rot="20880000">
            <a:off x="4261104" y="1234440"/>
            <a:ext cx="1234440" cy="457200"/>
          </a:xfrm>
          <a:prstGeom prst="roundRect">
            <a:avLst>
              <a:gd name="adj" fmla="val 16000"/>
            </a:avLst>
          </a:prstGeom>
          <a:noFill/>
          <a:ln w="31750">
            <a:solidFill>
              <a:srgbClr val="EF4444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>
              <a:buNone/>
            </a:pPr>
            <a:r>
              <a:rPr lang="zh-CN" altLang="en-US" sz="1400" b="1" i="0" dirty="0">
                <a:solidFill>
                  <a:srgbClr val="EF444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表述不完整</a:t>
            </a:r>
            <a:endParaRPr sz="1400" b="1" i="0" dirty="0">
              <a:solidFill>
                <a:srgbClr val="EF444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06440" y="1371600"/>
            <a:ext cx="5687568" cy="1234440"/>
          </a:xfrm>
          <a:prstGeom prst="roundRect">
            <a:avLst>
              <a:gd name="adj" fmla="val 10370"/>
            </a:avLst>
          </a:prstGeom>
          <a:solidFill>
            <a:srgbClr val="FFF3D6"/>
          </a:solidFill>
          <a:ln w="12700">
            <a:solidFill>
              <a:srgbClr val="F2C879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9" name="Picture 8" descr="TbRocket_F59E0B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9164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1444752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600" b="1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2009 年 Node.js </a:t>
            </a:r>
            <a:r>
              <a:rPr sz="1600" b="1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诞生</a:t>
            </a:r>
            <a:endParaRPr sz="1600" b="1" i="0" dirty="0">
              <a:solidFill>
                <a:srgbClr val="92400E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  <a:buNone/>
            </a:pPr>
            <a:r>
              <a:rPr sz="13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把浏览器的</a:t>
            </a:r>
            <a:r>
              <a:rPr sz="13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JS 引擎（V8）搬到浏览器外面，JS </a:t>
            </a:r>
            <a:r>
              <a:rPr sz="13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从此能像</a:t>
            </a:r>
            <a:r>
              <a:rPr sz="13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3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Python、Java</a:t>
            </a:r>
            <a:r>
              <a:rPr sz="13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3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一样直接在电脑和服务器上运行</a:t>
            </a:r>
            <a:r>
              <a:rPr sz="13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2834640"/>
            <a:ext cx="2048256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68096" y="2907791"/>
            <a:ext cx="621792" cy="621792"/>
          </a:xfrm>
          <a:prstGeom prst="ellipse">
            <a:avLst/>
          </a:prstGeom>
          <a:solidFill>
            <a:srgbClr val="376FFF"/>
          </a:solidFill>
          <a:ln>
            <a:noFill/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3" name="Picture 12" descr="TbBrowser_FFFFFF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035808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63624" y="3017520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300" b="1" i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浏览器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785615"/>
            <a:ext cx="169164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网页交互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——教材说的“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客户端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”，JS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最早的家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2048256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953512" y="2907791"/>
            <a:ext cx="621792" cy="6217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8" name="Picture 17" descr="TbServer_FFFFFF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3035808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49040" y="3017520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300" b="1" i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服务器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3712463"/>
            <a:ext cx="1691640" cy="9054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Node.js / Deno / Bun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写后端接口，和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Java、Python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抢饭碗（Deno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的作者就是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Node.js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之父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5776" y="2834640"/>
            <a:ext cx="2048256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138928" y="2907791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3" name="Picture 22" descr="TbDeviceDesktop_FFFFFF_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944" y="3035808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34456" y="3017520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300" b="1" i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桌面软件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85615"/>
            <a:ext cx="1691640" cy="5624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Electron：</a:t>
            </a:r>
            <a:r>
              <a:rPr lang="en-US" altLang="zh-CN" sz="105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QQ</a:t>
            </a:r>
            <a:r>
              <a:rPr lang="zh-CN" altLang="en-US" sz="105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新版电脑界面等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是用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JS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写的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51192" y="2834640"/>
            <a:ext cx="2048256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324344" y="2907791"/>
            <a:ext cx="621792" cy="62179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8" name="Picture 27" descr="TbDeviceMobile_FFFFFF_2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3035808"/>
            <a:ext cx="365760" cy="365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119871" y="3017520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300" b="1" i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手机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753729"/>
            <a:ext cx="1691640" cy="4114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React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Native、uni-app、微信小程序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36608" y="2834640"/>
            <a:ext cx="2048256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9509760" y="2907791"/>
            <a:ext cx="621792" cy="621792"/>
          </a:xfrm>
          <a:prstGeom prst="ellipse">
            <a:avLst/>
          </a:prstGeom>
          <a:solidFill>
            <a:srgbClr val="001548"/>
          </a:solidFill>
          <a:ln>
            <a:noFill/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3" name="Picture 32" descr="TbTerminal2_FFFFFF_25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7776" y="3035808"/>
            <a:ext cx="365760" cy="365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305288" y="3017520"/>
            <a:ext cx="990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300" b="1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命令行与</a:t>
            </a:r>
            <a:r>
              <a:rPr sz="1300" b="1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AI </a:t>
            </a:r>
            <a:r>
              <a:rPr sz="1300" b="1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工具</a:t>
            </a:r>
            <a:endParaRPr sz="1300" b="1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637776" y="3709078"/>
            <a:ext cx="1691640" cy="7748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DeepSeek Harness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就是用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TypeScript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写的：npx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@deepseek-ai/dsh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一行命令，跑在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Node.js 上。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" y="5029200"/>
            <a:ext cx="10801807" cy="822960"/>
          </a:xfrm>
          <a:prstGeom prst="roundRect">
            <a:avLst>
              <a:gd name="adj" fmla="val 13333"/>
            </a:avLst>
          </a:prstGeom>
          <a:solidFill>
            <a:srgbClr val="F3F6FF"/>
          </a:solidFill>
          <a:ln w="12700">
            <a:solidFill>
              <a:srgbClr val="E5EC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22960" y="528523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76FFF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buNone/>
            </a:pPr>
            <a:r>
              <a:rPr sz="1200" b="1" i="0" dirty="0" err="1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结论</a:t>
            </a:r>
            <a:endParaRPr sz="1200" b="1" i="0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709928" y="5029200"/>
            <a:ext cx="9658807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400" b="0" i="0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教材的说法在</a:t>
            </a:r>
            <a:r>
              <a:rPr sz="1400" b="0" i="0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2009 </a:t>
            </a:r>
            <a:r>
              <a:rPr sz="1400" b="0" i="0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年以前是对的；今天更准确的说法是</a:t>
            </a:r>
            <a:r>
              <a:rPr sz="1400" b="0" i="0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——JavaScript </a:t>
            </a:r>
            <a:r>
              <a:rPr sz="1400" b="0" i="0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是一门通用编程语言，浏览器只是它最早的家。学会</a:t>
            </a:r>
            <a:r>
              <a:rPr sz="1400" b="0" i="0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400" b="0" i="0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JS，前端、后端、桌面、移动都能碰</a:t>
            </a:r>
            <a:r>
              <a:rPr sz="1400" b="0" i="0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6660804" cy="720000"/>
          </a:xfrm>
        </p:spPr>
        <p:txBody>
          <a:bodyPr/>
          <a:lstStyle/>
          <a:p>
            <a:r>
              <a:rPr sz="3000" b="1" dirty="0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JavaScript 的身世：10 </a:t>
            </a:r>
            <a:r>
              <a:rPr sz="3000" b="1" dirty="0" err="1">
                <a:solidFill>
                  <a:srgbClr val="001548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天写出来的语言</a:t>
            </a:r>
            <a:endParaRPr sz="3000" b="1" dirty="0">
              <a:solidFill>
                <a:srgbClr val="001548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86384" y="2743200"/>
            <a:ext cx="10618927" cy="0"/>
          </a:xfrm>
          <a:prstGeom prst="line">
            <a:avLst/>
          </a:prstGeom>
          <a:ln w="38100">
            <a:solidFill>
              <a:srgbClr val="E5ECFF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453438" y="265176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 flipV="1">
            <a:off x="1544878" y="2450592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55980" y="1344168"/>
            <a:ext cx="2377796" cy="109728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1995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网景公司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Brendan Eich 用 10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天设计出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LiveScript</a:t>
            </a:r>
            <a:endParaRPr sz="1050" b="0" i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2970428" y="265176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3061868" y="2834640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1620728" y="3035808"/>
            <a:ext cx="288228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1995 底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改名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JavaScript——蹭 Java </a:t>
            </a:r>
            <a:r>
              <a:rPr sz="1050" b="0" i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的热度，两者其实是“雷锋与雷锋塔</a:t>
            </a:r>
            <a:r>
              <a:rPr sz="1050" b="0" i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11" name="Oval 10"/>
          <p:cNvSpPr/>
          <p:nvPr/>
        </p:nvSpPr>
        <p:spPr>
          <a:xfrm>
            <a:off x="4487418" y="265176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4578858" y="2450592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3137717" y="1353312"/>
            <a:ext cx="2882280" cy="109728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1996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微软推出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JScript，浏览器大战开打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004407" y="265176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2834640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4654707" y="3035808"/>
            <a:ext cx="288228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1997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ECMA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制定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ECMAScript 标准（ECMA-262）</a:t>
            </a:r>
          </a:p>
        </p:txBody>
      </p:sp>
      <p:sp>
        <p:nvSpPr>
          <p:cNvPr id="17" name="Oval 16"/>
          <p:cNvSpPr/>
          <p:nvPr/>
        </p:nvSpPr>
        <p:spPr>
          <a:xfrm>
            <a:off x="7521397" y="265176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 flipV="1">
            <a:off x="7612837" y="2450592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156106" y="1353312"/>
            <a:ext cx="2882280" cy="109728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2009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ES5 发布；Node.js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诞生，JS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走出浏览器</a:t>
            </a:r>
            <a:endParaRPr sz="1050" b="0" i="0" dirty="0">
              <a:solidFill>
                <a:srgbClr val="1F2937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038386" y="2651760"/>
            <a:ext cx="182880" cy="182880"/>
          </a:xfrm>
          <a:prstGeom prst="ellipse">
            <a:avLst/>
          </a:prstGeom>
          <a:solidFill>
            <a:srgbClr val="376FFF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9129826" y="2834640"/>
            <a:ext cx="0" cy="201168"/>
          </a:xfrm>
          <a:prstGeom prst="line">
            <a:avLst/>
          </a:prstGeom>
          <a:ln w="12700">
            <a:solidFill>
              <a:srgbClr val="376FF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688686" y="3035808"/>
            <a:ext cx="288228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376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2015</a:t>
            </a:r>
          </a:p>
          <a:p>
            <a:pPr algn="ctr">
              <a:lnSpc>
                <a:spcPct val="108000"/>
              </a:lnSpc>
              <a:buNone/>
            </a:pP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ES6：现代 JS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的分水岭（let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/ </a:t>
            </a: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const、箭头函数、类、模块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3" name="Oval 22"/>
          <p:cNvSpPr/>
          <p:nvPr/>
        </p:nvSpPr>
        <p:spPr>
          <a:xfrm>
            <a:off x="10555376" y="2651760"/>
            <a:ext cx="182880" cy="182880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646816" y="2450592"/>
            <a:ext cx="0" cy="201168"/>
          </a:xfrm>
          <a:prstGeom prst="line">
            <a:avLst/>
          </a:prstGeom>
          <a:ln w="12700">
            <a:solidFill>
              <a:srgbClr val="F59E0B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699223" y="1365187"/>
            <a:ext cx="1895185" cy="1097280"/>
          </a:xfrm>
          <a:prstGeom prst="rect">
            <a:avLst/>
          </a:prstGeom>
          <a:noFill/>
        </p:spPr>
        <p:txBody>
          <a:bodyPr wrap="square" lIns="18288" tIns="18288" rIns="18288" bIns="18288" anchor="b">
            <a:no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  <a:buNone/>
            </a:pPr>
            <a:r>
              <a:rPr sz="1600" b="1" i="0" dirty="0">
                <a:solidFill>
                  <a:srgbClr val="F59E0B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2016 </a:t>
            </a:r>
            <a:r>
              <a:rPr sz="1600" b="1" i="0" dirty="0" err="1">
                <a:solidFill>
                  <a:srgbClr val="F59E0B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至今</a:t>
            </a:r>
            <a:endParaRPr sz="1600" b="1" i="0" dirty="0">
              <a:solidFill>
                <a:srgbClr val="F59E0B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>
              <a:lnSpc>
                <a:spcPct val="108000"/>
              </a:lnSpc>
              <a:buNone/>
            </a:pPr>
            <a:r>
              <a:rPr sz="1050" b="0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每年</a:t>
            </a:r>
            <a:r>
              <a:rPr sz="1050" b="0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6 月发布一版：ES2016 … ES2026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4343400"/>
            <a:ext cx="5120640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 w="12700">
            <a:solidFill>
              <a:srgbClr val="E5ECFF"/>
            </a:solidFill>
          </a:ln>
          <a:effectLst>
            <a:outerShdw blurRad="101600" dist="31750" dir="5400000" algn="t" rotWithShape="0">
              <a:srgbClr val="001548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95528" y="4837176"/>
            <a:ext cx="530352" cy="530352"/>
          </a:xfrm>
          <a:prstGeom prst="ellipse">
            <a:avLst/>
          </a:prstGeom>
          <a:solidFill>
            <a:srgbClr val="FFF8DB"/>
          </a:solidFill>
          <a:ln>
            <a:noFill/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8" name="Picture 27" descr="TbBulb_D4A800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88" y="4946904"/>
            <a:ext cx="329184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72184" y="458114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1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JavaScript 和 Java </a:t>
            </a:r>
            <a:r>
              <a:rPr sz="1300" b="1" i="0" dirty="0" err="1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有关系吗</a:t>
            </a:r>
            <a:r>
              <a:rPr sz="1300" b="1" i="0" dirty="0">
                <a:solidFill>
                  <a:srgbClr val="1F2937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72184" y="489204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除了名字像，几乎没关系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——就像“雷锋”和“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雷锋塔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”，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当年纯粹是借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Java 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的名气做营销。彩蛋：JS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之父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Brendan Eich 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后来创办了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Brave </a:t>
            </a:r>
            <a:r>
              <a:rPr sz="1200" b="0" i="0" dirty="0" err="1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浏览器，现任</a:t>
            </a:r>
            <a:r>
              <a:rPr sz="1200" b="0" i="0" dirty="0">
                <a:solidFill>
                  <a:srgbClr val="6B728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CEO。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343400"/>
            <a:ext cx="5458968" cy="1508760"/>
          </a:xfrm>
          <a:prstGeom prst="roundRect">
            <a:avLst>
              <a:gd name="adj" fmla="val 7272"/>
            </a:avLst>
          </a:prstGeom>
          <a:solidFill>
            <a:srgbClr val="FFF3D6"/>
          </a:solidFill>
          <a:ln w="12700">
            <a:solidFill>
              <a:srgbClr val="F2C879"/>
            </a:solidFill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63055" y="494233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教材更新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95744" y="4343400"/>
            <a:ext cx="4270247" cy="1508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教材提到的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JScript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已随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IE 于 2022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年退役；微软后来的路线是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2012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年推出的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TypeScript（给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JS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加类型的超集，编译成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JS），Edge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也改用了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Chromium。更准确地说：浏览器里的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JS =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ECMAScript（语法核心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）+ DOM / </a:t>
            </a:r>
            <a:r>
              <a:rPr sz="1200" b="0" i="0" dirty="0" err="1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BOM（操作网页和浏览器的接口</a:t>
            </a:r>
            <a:r>
              <a:rPr sz="1200" b="0" i="0" dirty="0">
                <a:solidFill>
                  <a:srgbClr val="9240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常用浏览器介绍</a:t>
            </a:r>
          </a:p>
        </p:txBody>
      </p:sp>
      <p:sp>
        <p:nvSpPr>
          <p:cNvPr id="11" name="矩形 10"/>
          <p:cNvSpPr/>
          <p:nvPr/>
        </p:nvSpPr>
        <p:spPr>
          <a:xfrm>
            <a:off x="984615" y="1629217"/>
            <a:ext cx="10150778" cy="8742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浏览器是网页运行的平台，只有经过浏览器渲染的网页才能呈现出美丽的效果。常见的浏览器有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Firefox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477" y="3022740"/>
            <a:ext cx="7236329" cy="26636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常用浏览器介绍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068470" y="1854102"/>
            <a:ext cx="602583" cy="602583"/>
            <a:chOff x="1792756" y="4149080"/>
            <a:chExt cx="2304000" cy="2304000"/>
          </a:xfrm>
        </p:grpSpPr>
        <p:grpSp>
          <p:nvGrpSpPr>
            <p:cNvPr id="10" name="组合 9"/>
            <p:cNvGrpSpPr/>
            <p:nvPr/>
          </p:nvGrpSpPr>
          <p:grpSpPr>
            <a:xfrm>
              <a:off x="1792756" y="4149080"/>
              <a:ext cx="2304000" cy="2304000"/>
              <a:chOff x="1827622" y="1343919"/>
              <a:chExt cx="2304000" cy="2304000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827622" y="1343919"/>
                <a:ext cx="2304000" cy="2304000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 cap="flat" cmpd="sng" algn="ctr">
                <a:noFill/>
                <a:prstDash val="solid"/>
              </a:ln>
              <a:effectLst>
                <a:outerShdw blurRad="635000" dist="469900" dir="8400000" sx="46000" sy="46000" algn="tr" rotWithShape="0">
                  <a:prstClr val="black">
                    <a:alpha val="61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>
                  <a:defRPr/>
                </a:pPr>
                <a:endParaRPr lang="zh-CN" altLang="en-US" sz="1800" kern="0">
                  <a:solidFill>
                    <a:sysClr val="window" lastClr="FFFFFF"/>
                  </a:solidFill>
                  <a:latin typeface="Franklin Gothic Book"/>
                  <a:ea typeface="黑体" panose="02010609060101010101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877481" y="1393778"/>
                <a:ext cx="2204282" cy="2204282"/>
              </a:xfrm>
              <a:prstGeom prst="ellipse">
                <a:avLst/>
              </a:prstGeom>
              <a:solidFill>
                <a:srgbClr val="F3F3F3"/>
              </a:solidFill>
              <a:ln w="22225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  <a:effectLst>
                <a:innerShdw blurRad="76200" dist="38100" dir="16200000">
                  <a:prstClr val="black">
                    <a:alpha val="37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椭圆 11"/>
            <p:cNvSpPr/>
            <p:nvPr/>
          </p:nvSpPr>
          <p:spPr>
            <a:xfrm>
              <a:off x="2132105" y="4488429"/>
              <a:ext cx="1625302" cy="1625302"/>
            </a:xfrm>
            <a:prstGeom prst="ellipse">
              <a:avLst/>
            </a:prstGeom>
            <a:solidFill>
              <a:srgbClr val="005DA2"/>
            </a:solidFill>
            <a:ln w="22225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17"/>
          <p:cNvSpPr txBox="1"/>
          <p:nvPr/>
        </p:nvSpPr>
        <p:spPr>
          <a:xfrm>
            <a:off x="1692667" y="1918776"/>
            <a:ext cx="1823050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DFDFDF"/>
                </a:solidFill>
                <a:latin typeface="大梁体字库-繁简素材版" panose="03000502000000000000" pitchFamily="66" charset="-122"/>
                <a:ea typeface="大梁体字库-繁简素材版" panose="03000502000000000000" pitchFamily="66" charset="-122"/>
              </a:defRPr>
            </a:lvl1pPr>
          </a:lstStyle>
          <a:p>
            <a:pPr algn="l"/>
            <a:r>
              <a:rPr lang="en-US" altLang="zh-CN" sz="2000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</a:t>
            </a:r>
            <a:r>
              <a:rPr lang="zh-CN" altLang="en-US" sz="2000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1746765" y="2347939"/>
            <a:ext cx="158029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1068469" y="2750741"/>
            <a:ext cx="10055063" cy="2981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是微软开发的一款高性能、安全且功能丰富的网页浏览器，它采用 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Chromium 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，能够很好地支持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等现代网页技术，为用户提供流畅的网页浏览体验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浏览器支持的操作系统：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693" indent="-28569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</a:p>
          <a:p>
            <a:pPr marL="285693" indent="-28569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macOS</a:t>
            </a:r>
          </a:p>
          <a:p>
            <a:pPr marL="285693" indent="-28569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</a:p>
          <a:p>
            <a:pPr marL="285693" indent="-28569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 </a:t>
            </a:r>
            <a:endParaRPr lang="zh-CN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常用浏览器介绍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068470" y="1854102"/>
            <a:ext cx="602583" cy="602583"/>
            <a:chOff x="1792756" y="4149080"/>
            <a:chExt cx="2304000" cy="2304000"/>
          </a:xfrm>
        </p:grpSpPr>
        <p:grpSp>
          <p:nvGrpSpPr>
            <p:cNvPr id="10" name="组合 9"/>
            <p:cNvGrpSpPr/>
            <p:nvPr/>
          </p:nvGrpSpPr>
          <p:grpSpPr>
            <a:xfrm>
              <a:off x="1792756" y="4149080"/>
              <a:ext cx="2304000" cy="2304000"/>
              <a:chOff x="1827622" y="1343919"/>
              <a:chExt cx="2304000" cy="2304000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827622" y="1343919"/>
                <a:ext cx="2304000" cy="2304000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 cap="flat" cmpd="sng" algn="ctr">
                <a:noFill/>
                <a:prstDash val="solid"/>
              </a:ln>
              <a:effectLst>
                <a:outerShdw blurRad="635000" dist="469900" dir="8400000" sx="46000" sy="46000" algn="tr" rotWithShape="0">
                  <a:prstClr val="black">
                    <a:alpha val="61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>
                  <a:defRPr/>
                </a:pPr>
                <a:endParaRPr lang="zh-CN" altLang="en-US" sz="1800" kern="0">
                  <a:solidFill>
                    <a:sysClr val="window" lastClr="FFFFFF"/>
                  </a:solidFill>
                  <a:latin typeface="Franklin Gothic Book"/>
                  <a:ea typeface="黑体" panose="02010609060101010101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877481" y="1393778"/>
                <a:ext cx="2204282" cy="2204282"/>
              </a:xfrm>
              <a:prstGeom prst="ellipse">
                <a:avLst/>
              </a:prstGeom>
              <a:solidFill>
                <a:srgbClr val="F3F3F3"/>
              </a:solidFill>
              <a:ln w="22225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  <a:effectLst>
                <a:innerShdw blurRad="76200" dist="38100" dir="16200000">
                  <a:prstClr val="black">
                    <a:alpha val="37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椭圆 11"/>
            <p:cNvSpPr/>
            <p:nvPr/>
          </p:nvSpPr>
          <p:spPr>
            <a:xfrm>
              <a:off x="2132105" y="4488429"/>
              <a:ext cx="1625302" cy="1625302"/>
            </a:xfrm>
            <a:prstGeom prst="ellipse">
              <a:avLst/>
            </a:prstGeom>
            <a:solidFill>
              <a:srgbClr val="005DA2"/>
            </a:solidFill>
            <a:ln w="22225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17"/>
          <p:cNvSpPr txBox="1"/>
          <p:nvPr/>
        </p:nvSpPr>
        <p:spPr>
          <a:xfrm>
            <a:off x="1692667" y="1918776"/>
            <a:ext cx="1823050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DFDFDF"/>
                </a:solidFill>
                <a:latin typeface="大梁体字库-繁简素材版" panose="03000502000000000000" pitchFamily="66" charset="-122"/>
                <a:ea typeface="大梁体字库-繁简素材版" panose="03000502000000000000" pitchFamily="66" charset="-122"/>
              </a:defRPr>
            </a:lvl1pPr>
          </a:lstStyle>
          <a:p>
            <a:pPr algn="l"/>
            <a:r>
              <a:rPr lang="en-US" altLang="zh-CN" sz="2000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Firefox</a:t>
            </a:r>
            <a:r>
              <a:rPr lang="zh-CN" altLang="en-US" sz="2000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1746765" y="2347939"/>
            <a:ext cx="158029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1157223" y="2781079"/>
            <a:ext cx="10055063" cy="1320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Firefox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浏览器由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Mozilla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公司开发，它是一个自由并开源的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网页浏览器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，其可开发程度很高。任何一个具有编程知识的人都可以为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Firefox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浏览器编写代码并增加一些个性化功能，因此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Firefox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浏览器受到许多人的青睐。在不少媒体和用户的口中，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Firefox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浏览器一度成为优秀浏览器的代名词。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常用浏览器介绍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068470" y="1854102"/>
            <a:ext cx="602583" cy="602583"/>
            <a:chOff x="1792756" y="4149080"/>
            <a:chExt cx="2304000" cy="2304000"/>
          </a:xfrm>
        </p:grpSpPr>
        <p:grpSp>
          <p:nvGrpSpPr>
            <p:cNvPr id="10" name="组合 9"/>
            <p:cNvGrpSpPr/>
            <p:nvPr/>
          </p:nvGrpSpPr>
          <p:grpSpPr>
            <a:xfrm>
              <a:off x="1792756" y="4149080"/>
              <a:ext cx="2304000" cy="2304000"/>
              <a:chOff x="1827622" y="1343919"/>
              <a:chExt cx="2304000" cy="2304000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827622" y="1343919"/>
                <a:ext cx="2304000" cy="2304000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 cap="flat" cmpd="sng" algn="ctr">
                <a:noFill/>
                <a:prstDash val="solid"/>
              </a:ln>
              <a:effectLst>
                <a:outerShdw blurRad="635000" dist="469900" dir="8400000" sx="46000" sy="46000" algn="tr" rotWithShape="0">
                  <a:prstClr val="black">
                    <a:alpha val="61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>
                  <a:defRPr/>
                </a:pPr>
                <a:endParaRPr lang="zh-CN" altLang="en-US" sz="1800" kern="0">
                  <a:solidFill>
                    <a:sysClr val="window" lastClr="FFFFFF"/>
                  </a:solidFill>
                  <a:latin typeface="Franklin Gothic Book"/>
                  <a:ea typeface="黑体" panose="02010609060101010101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877481" y="1393778"/>
                <a:ext cx="2204282" cy="2204282"/>
              </a:xfrm>
              <a:prstGeom prst="ellipse">
                <a:avLst/>
              </a:prstGeom>
              <a:solidFill>
                <a:srgbClr val="F3F3F3"/>
              </a:solidFill>
              <a:ln w="22225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  <a:effectLst>
                <a:innerShdw blurRad="76200" dist="38100" dir="16200000">
                  <a:prstClr val="black">
                    <a:alpha val="37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椭圆 11"/>
            <p:cNvSpPr/>
            <p:nvPr/>
          </p:nvSpPr>
          <p:spPr>
            <a:xfrm>
              <a:off x="2132105" y="4488429"/>
              <a:ext cx="1625302" cy="1625302"/>
            </a:xfrm>
            <a:prstGeom prst="ellipse">
              <a:avLst/>
            </a:prstGeom>
            <a:solidFill>
              <a:srgbClr val="005DA2"/>
            </a:solidFill>
            <a:ln w="22225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17"/>
          <p:cNvSpPr txBox="1"/>
          <p:nvPr/>
        </p:nvSpPr>
        <p:spPr>
          <a:xfrm>
            <a:off x="1692667" y="1918776"/>
            <a:ext cx="2099610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DFDFDF"/>
                </a:solidFill>
                <a:latin typeface="大梁体字库-繁简素材版" panose="03000502000000000000" pitchFamily="66" charset="-122"/>
                <a:ea typeface="大梁体字库-繁简素材版" panose="03000502000000000000" pitchFamily="66" charset="-122"/>
              </a:defRPr>
            </a:lvl1pPr>
          </a:lstStyle>
          <a:p>
            <a:pPr algn="l"/>
            <a:r>
              <a:rPr lang="en-US" altLang="zh-CN" sz="2000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sz="2000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1746765" y="2347939"/>
            <a:ext cx="158029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1157223" y="2781079"/>
            <a:ext cx="10055063" cy="2151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9" tIns="60944" rIns="121889" bIns="6094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由谷歌公司开发。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浏览器吸收了其他开源软件的优点，极大地提升了浏览器的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稳定性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安全性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响应速度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，并创造出简单高效的用户界面。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浏览器虽然界面简约，但强大的插件让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浏览器简约而不简单。凭借简约的界面、极快的响应速度、优秀的屏蔽广告功能，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浏览器深受广大用户青睐，绝大部分网页制作人员都将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浏览器作为网页制作的调试工具。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4911444" y="3013648"/>
            <a:ext cx="4640141" cy="706591"/>
          </a:xfrm>
          <a:prstGeom prst="rect">
            <a:avLst/>
          </a:prstGeom>
          <a:noFill/>
        </p:spPr>
        <p:txBody>
          <a:bodyPr wrap="square" lIns="91422" tIns="45709" rIns="91422" bIns="45709" rtlCol="0">
            <a:spAutoFit/>
          </a:bodyPr>
          <a:lstStyle/>
          <a:p>
            <a:r>
              <a:rPr lang="zh-CN" altLang="en-US" sz="3999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网页编辑器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488554" y="2781078"/>
            <a:ext cx="1734419" cy="1753920"/>
          </a:xfrm>
          <a:prstGeom prst="rect">
            <a:avLst/>
          </a:prstGeom>
          <a:noFill/>
        </p:spPr>
        <p:txBody>
          <a:bodyPr wrap="square" lIns="91422" tIns="45709" rIns="91422" bIns="45709" rtlCol="0">
            <a:spAutoFit/>
          </a:bodyPr>
          <a:lstStyle/>
          <a:p>
            <a:r>
              <a:rPr lang="zh-CN" altLang="en-US" sz="5399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任务</a:t>
            </a:r>
            <a:r>
              <a:rPr lang="en-US" altLang="en-GB" sz="5399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1-3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常见网页编辑器介绍</a:t>
            </a:r>
          </a:p>
        </p:txBody>
      </p:sp>
      <p:cxnSp>
        <p:nvCxnSpPr>
          <p:cNvPr id="21" name="꺾인 연결선 126"/>
          <p:cNvCxnSpPr/>
          <p:nvPr/>
        </p:nvCxnSpPr>
        <p:spPr>
          <a:xfrm rot="16200000" flipV="1">
            <a:off x="5562031" y="4173767"/>
            <a:ext cx="1067938" cy="3017"/>
          </a:xfrm>
          <a:prstGeom prst="bentConnector3">
            <a:avLst>
              <a:gd name="adj1" fmla="val 51693"/>
            </a:avLst>
          </a:prstGeom>
          <a:noFill/>
          <a:ln w="1905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cxnSp>
        <p:nvCxnSpPr>
          <p:cNvPr id="22" name="Shape 124"/>
          <p:cNvCxnSpPr/>
          <p:nvPr/>
        </p:nvCxnSpPr>
        <p:spPr>
          <a:xfrm rot="10800000">
            <a:off x="3142978" y="3201890"/>
            <a:ext cx="2900223" cy="1570153"/>
          </a:xfrm>
          <a:prstGeom prst="bentConnector2">
            <a:avLst/>
          </a:prstGeom>
          <a:noFill/>
          <a:ln w="1905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3" name="Shape 128"/>
          <p:cNvCxnSpPr/>
          <p:nvPr/>
        </p:nvCxnSpPr>
        <p:spPr>
          <a:xfrm flipV="1">
            <a:off x="6052886" y="3077710"/>
            <a:ext cx="2992216" cy="1694332"/>
          </a:xfrm>
          <a:prstGeom prst="bentConnector2">
            <a:avLst/>
          </a:prstGeom>
          <a:noFill/>
          <a:ln w="1905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sp>
        <p:nvSpPr>
          <p:cNvPr id="24" name="矩形: 圆角 23"/>
          <p:cNvSpPr/>
          <p:nvPr/>
        </p:nvSpPr>
        <p:spPr>
          <a:xfrm>
            <a:off x="4416858" y="4292896"/>
            <a:ext cx="3358284" cy="963948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508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4915938" y="2622342"/>
            <a:ext cx="2360125" cy="963948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76200" cap="flat" cmpd="sng" algn="ctr">
            <a:solidFill>
              <a:srgbClr val="3498DB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965028" y="2622342"/>
            <a:ext cx="2360125" cy="963948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76200" cap="flat" cmpd="sng" algn="ctr">
            <a:solidFill>
              <a:srgbClr val="1F74AD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7865339" y="2622342"/>
            <a:ext cx="2360125" cy="963948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76200" cap="flat" cmpd="sng" algn="ctr">
            <a:solidFill>
              <a:srgbClr val="1AA3AA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338709" y="2857370"/>
            <a:ext cx="1755000" cy="4276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 dirty="0" err="1">
                <a:solidFill>
                  <a:srgbClr val="1369B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HBuilder</a:t>
            </a:r>
            <a:r>
              <a:rPr lang="en-US" altLang="zh-CN" sz="2000" b="1" dirty="0">
                <a:solidFill>
                  <a:srgbClr val="1369B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X</a:t>
            </a:r>
            <a:endParaRPr lang="zh-CN" altLang="en-US" sz="2000" b="1" dirty="0">
              <a:solidFill>
                <a:srgbClr val="1369B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2195889" y="3032907"/>
            <a:ext cx="142820" cy="142820"/>
          </a:xfrm>
          <a:prstGeom prst="ellipse">
            <a:avLst/>
          </a:prstGeom>
          <a:solidFill>
            <a:srgbClr val="1F74AD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147495" y="3032907"/>
            <a:ext cx="142820" cy="142820"/>
          </a:xfrm>
          <a:prstGeom prst="ellipse">
            <a:avLst/>
          </a:prstGeom>
          <a:solidFill>
            <a:srgbClr val="3498DB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094880" y="3032907"/>
            <a:ext cx="142820" cy="142820"/>
          </a:xfrm>
          <a:prstGeom prst="ellipse">
            <a:avLst/>
          </a:prstGeom>
          <a:solidFill>
            <a:srgbClr val="1AA3AA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290314" y="2781078"/>
            <a:ext cx="1995432" cy="79689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1369B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Visual Studio Code</a:t>
            </a:r>
            <a:endParaRPr lang="zh-CN" altLang="en-US" sz="2000" b="1" dirty="0">
              <a:solidFill>
                <a:srgbClr val="1369B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237699" y="2857370"/>
            <a:ext cx="1889816" cy="4276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1369B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Dreamweaver</a:t>
            </a:r>
            <a:endParaRPr lang="zh-CN" altLang="en-US" sz="2000" b="1" dirty="0">
              <a:solidFill>
                <a:srgbClr val="1369B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48778" y="4526309"/>
            <a:ext cx="2494444" cy="497123"/>
          </a:xfrm>
          <a:prstGeom prst="rect">
            <a:avLst/>
          </a:prstGeom>
        </p:spPr>
        <p:txBody>
          <a:bodyPr wrap="square" lIns="91404" tIns="45701" rIns="91404" bIns="45701" anchor="ctr">
            <a:normAutofit fontScale="92500"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pc="3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常见网页编辑器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常见网页编辑器介绍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984616" y="1808437"/>
            <a:ext cx="731591" cy="648405"/>
            <a:chOff x="3885937" y="3040648"/>
            <a:chExt cx="1954833" cy="1732556"/>
          </a:xfrm>
        </p:grpSpPr>
        <p:grpSp>
          <p:nvGrpSpPr>
            <p:cNvPr id="47" name="组合 46"/>
            <p:cNvGrpSpPr/>
            <p:nvPr/>
          </p:nvGrpSpPr>
          <p:grpSpPr>
            <a:xfrm>
              <a:off x="3885937" y="3040648"/>
              <a:ext cx="1954833" cy="1732556"/>
              <a:chOff x="3295850" y="2263222"/>
              <a:chExt cx="2643765" cy="2343151"/>
            </a:xfrm>
          </p:grpSpPr>
          <p:sp>
            <p:nvSpPr>
              <p:cNvPr id="49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005DA2"/>
              </a:solidFill>
              <a:ln w="25400">
                <a:solidFill>
                  <a:schemeClr val="accent5">
                    <a:lumMod val="75000"/>
                  </a:schemeClr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文本框 32"/>
            <p:cNvSpPr txBox="1"/>
            <p:nvPr/>
          </p:nvSpPr>
          <p:spPr>
            <a:xfrm>
              <a:off x="4093595" y="3292001"/>
              <a:ext cx="1530112" cy="12298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857555" y="1773199"/>
            <a:ext cx="3095710" cy="699016"/>
            <a:chOff x="3971621" y="2453670"/>
            <a:chExt cx="3097000" cy="699307"/>
          </a:xfrm>
        </p:grpSpPr>
        <p:sp>
          <p:nvSpPr>
            <p:cNvPr id="45" name="圆角矩形 15"/>
            <p:cNvSpPr/>
            <p:nvPr/>
          </p:nvSpPr>
          <p:spPr>
            <a:xfrm>
              <a:off x="3971621" y="2508792"/>
              <a:ext cx="3097000" cy="64418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5400000" scaled="1"/>
            </a:gradFill>
            <a:ln w="22225">
              <a:solidFill>
                <a:schemeClr val="bg1">
                  <a:lumMod val="85000"/>
                </a:schemeClr>
              </a:soli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标题 1"/>
            <p:cNvSpPr txBox="1"/>
            <p:nvPr/>
          </p:nvSpPr>
          <p:spPr>
            <a:xfrm>
              <a:off x="4515843" y="2453670"/>
              <a:ext cx="2161024" cy="683927"/>
            </a:xfrm>
            <a:prstGeom prst="rect">
              <a:avLst/>
            </a:prstGeom>
          </p:spPr>
          <p:txBody>
            <a:bodyPr lIns="91377" tIns="45688" rIns="91377" bIns="45688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0" kern="1200">
                  <a:solidFill>
                    <a:schemeClr val="bg1"/>
                  </a:solidFill>
                  <a:effectLst/>
                  <a:latin typeface="+mj-ea"/>
                  <a:ea typeface="+mj-ea"/>
                  <a:cs typeface="+mj-cs"/>
                </a:defRPr>
              </a:lvl1pPr>
            </a:lstStyle>
            <a:p>
              <a:pPr algn="l" defTabSz="1218956">
                <a:lnSpc>
                  <a:spcPct val="150000"/>
                </a:lnSpc>
              </a:pPr>
              <a:r>
                <a:rPr lang="en-US" altLang="zh-CN" b="1" dirty="0" err="1">
                  <a:solidFill>
                    <a:srgbClr val="005D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HBuilder</a:t>
              </a:r>
              <a:r>
                <a:rPr lang="en-US" altLang="zh-CN" b="1" dirty="0">
                  <a:solidFill>
                    <a:srgbClr val="005D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X</a:t>
              </a:r>
              <a:endParaRPr lang="zh-CN" altLang="en-US" b="1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4" name="TextBox 35"/>
          <p:cNvSpPr txBox="1">
            <a:spLocks noChangeArrowheads="1"/>
          </p:cNvSpPr>
          <p:nvPr/>
        </p:nvSpPr>
        <p:spPr bwMode="auto">
          <a:xfrm>
            <a:off x="5592061" y="3141035"/>
            <a:ext cx="5247744" cy="145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66" tIns="60932" rIns="121866" bIns="6093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DCloud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开发的基于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Electron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的集成开发环境，主要用于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移动应用程序开发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934" y="1398189"/>
            <a:ext cx="3583331" cy="5206651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常见网页编辑器介绍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984616" y="1808437"/>
            <a:ext cx="731591" cy="648405"/>
            <a:chOff x="3885937" y="3040648"/>
            <a:chExt cx="1954833" cy="1732556"/>
          </a:xfrm>
        </p:grpSpPr>
        <p:grpSp>
          <p:nvGrpSpPr>
            <p:cNvPr id="47" name="组合 46"/>
            <p:cNvGrpSpPr/>
            <p:nvPr/>
          </p:nvGrpSpPr>
          <p:grpSpPr>
            <a:xfrm>
              <a:off x="3885937" y="3040648"/>
              <a:ext cx="1954833" cy="1732556"/>
              <a:chOff x="3295850" y="2263222"/>
              <a:chExt cx="2643765" cy="2343151"/>
            </a:xfrm>
          </p:grpSpPr>
          <p:sp>
            <p:nvSpPr>
              <p:cNvPr id="49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005DA2"/>
              </a:solidFill>
              <a:ln w="25400">
                <a:solidFill>
                  <a:schemeClr val="accent5">
                    <a:lumMod val="75000"/>
                  </a:schemeClr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文本框 32"/>
            <p:cNvSpPr txBox="1"/>
            <p:nvPr/>
          </p:nvSpPr>
          <p:spPr>
            <a:xfrm>
              <a:off x="4093595" y="3292001"/>
              <a:ext cx="1530112" cy="12298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857555" y="1773199"/>
            <a:ext cx="3095710" cy="699016"/>
            <a:chOff x="3971621" y="2453670"/>
            <a:chExt cx="3097000" cy="699307"/>
          </a:xfrm>
        </p:grpSpPr>
        <p:sp>
          <p:nvSpPr>
            <p:cNvPr id="45" name="圆角矩形 15"/>
            <p:cNvSpPr/>
            <p:nvPr/>
          </p:nvSpPr>
          <p:spPr>
            <a:xfrm>
              <a:off x="3971621" y="2508792"/>
              <a:ext cx="3097000" cy="64418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5400000" scaled="1"/>
            </a:gradFill>
            <a:ln w="22225">
              <a:solidFill>
                <a:schemeClr val="bg1">
                  <a:lumMod val="85000"/>
                </a:schemeClr>
              </a:soli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标题 1"/>
            <p:cNvSpPr txBox="1"/>
            <p:nvPr/>
          </p:nvSpPr>
          <p:spPr>
            <a:xfrm>
              <a:off x="4515843" y="2453670"/>
              <a:ext cx="2161024" cy="683927"/>
            </a:xfrm>
            <a:prstGeom prst="rect">
              <a:avLst/>
            </a:prstGeom>
          </p:spPr>
          <p:txBody>
            <a:bodyPr lIns="91377" tIns="45688" rIns="91377" bIns="45688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0" kern="1200">
                  <a:solidFill>
                    <a:schemeClr val="bg1"/>
                  </a:solidFill>
                  <a:effectLst/>
                  <a:latin typeface="+mj-ea"/>
                  <a:ea typeface="+mj-ea"/>
                  <a:cs typeface="+mj-cs"/>
                </a:defRPr>
              </a:lvl1pPr>
            </a:lstStyle>
            <a:p>
              <a:pPr algn="l" defTabSz="1218956">
                <a:lnSpc>
                  <a:spcPct val="150000"/>
                </a:lnSpc>
              </a:pPr>
              <a:r>
                <a:rPr lang="en-US" altLang="zh-CN" b="1" dirty="0" err="1">
                  <a:solidFill>
                    <a:srgbClr val="005D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HBuilder</a:t>
              </a:r>
              <a:r>
                <a:rPr lang="en-US" altLang="zh-CN" b="1" dirty="0">
                  <a:solidFill>
                    <a:srgbClr val="005D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X</a:t>
              </a:r>
              <a:endParaRPr lang="zh-CN" altLang="en-US" b="1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4" name="Line 23"/>
          <p:cNvSpPr>
            <a:spLocks noChangeShapeType="1"/>
          </p:cNvSpPr>
          <p:nvPr/>
        </p:nvSpPr>
        <p:spPr bwMode="auto">
          <a:xfrm flipH="1">
            <a:off x="801079" y="3007305"/>
            <a:ext cx="3159826" cy="0"/>
          </a:xfrm>
          <a:prstGeom prst="line">
            <a:avLst/>
          </a:prstGeom>
          <a:noFill/>
          <a:ln w="5" cap="flat">
            <a:solidFill>
              <a:srgbClr val="5893D9">
                <a:lumMod val="75000"/>
              </a:srgbClr>
            </a:solidFill>
            <a:prstDash val="dash"/>
            <a:miter lim="800000"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529283" y="2574719"/>
            <a:ext cx="1093712" cy="986666"/>
            <a:chOff x="3720691" y="2824413"/>
            <a:chExt cx="1341120" cy="1209172"/>
          </a:xfrm>
        </p:grpSpPr>
        <p:sp>
          <p:nvSpPr>
            <p:cNvPr id="5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Freeform 27"/>
          <p:cNvSpPr/>
          <p:nvPr/>
        </p:nvSpPr>
        <p:spPr bwMode="auto">
          <a:xfrm>
            <a:off x="3011109" y="3102194"/>
            <a:ext cx="1741102" cy="1479539"/>
          </a:xfrm>
          <a:custGeom>
            <a:avLst/>
            <a:gdLst>
              <a:gd name="T0" fmla="*/ 172 w 223"/>
              <a:gd name="T1" fmla="*/ 172 h 190"/>
              <a:gd name="T2" fmla="*/ 50 w 223"/>
              <a:gd name="T3" fmla="*/ 122 h 190"/>
              <a:gd name="T4" fmla="*/ 0 w 223"/>
              <a:gd name="T5" fmla="*/ 0 h 190"/>
              <a:gd name="T6" fmla="*/ 22 w 223"/>
              <a:gd name="T7" fmla="*/ 0 h 190"/>
              <a:gd name="T8" fmla="*/ 66 w 223"/>
              <a:gd name="T9" fmla="*/ 106 h 190"/>
              <a:gd name="T10" fmla="*/ 172 w 223"/>
              <a:gd name="T11" fmla="*/ 150 h 190"/>
              <a:gd name="T12" fmla="*/ 172 w 223"/>
              <a:gd name="T13" fmla="*/ 132 h 190"/>
              <a:gd name="T14" fmla="*/ 223 w 223"/>
              <a:gd name="T15" fmla="*/ 163 h 190"/>
              <a:gd name="T16" fmla="*/ 172 w 223"/>
              <a:gd name="T17" fmla="*/ 190 h 190"/>
              <a:gd name="T18" fmla="*/ 172 w 223"/>
              <a:gd name="T19" fmla="*/ 172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3" h="190">
                <a:moveTo>
                  <a:pt x="172" y="172"/>
                </a:moveTo>
                <a:cubicBezTo>
                  <a:pt x="124" y="172"/>
                  <a:pt x="81" y="153"/>
                  <a:pt x="50" y="122"/>
                </a:cubicBezTo>
                <a:cubicBezTo>
                  <a:pt x="19" y="91"/>
                  <a:pt x="0" y="48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41"/>
                  <a:pt x="39" y="79"/>
                  <a:pt x="66" y="106"/>
                </a:cubicBezTo>
                <a:cubicBezTo>
                  <a:pt x="93" y="133"/>
                  <a:pt x="131" y="150"/>
                  <a:pt x="172" y="150"/>
                </a:cubicBezTo>
                <a:cubicBezTo>
                  <a:pt x="172" y="132"/>
                  <a:pt x="172" y="132"/>
                  <a:pt x="172" y="132"/>
                </a:cubicBezTo>
                <a:cubicBezTo>
                  <a:pt x="223" y="163"/>
                  <a:pt x="223" y="163"/>
                  <a:pt x="223" y="163"/>
                </a:cubicBezTo>
                <a:cubicBezTo>
                  <a:pt x="172" y="190"/>
                  <a:pt x="172" y="190"/>
                  <a:pt x="172" y="190"/>
                </a:cubicBezTo>
                <a:lnTo>
                  <a:pt x="172" y="172"/>
                </a:lnTo>
                <a:close/>
              </a:path>
            </a:pathLst>
          </a:custGeom>
          <a:solidFill>
            <a:srgbClr val="5893D9">
              <a:alpha val="50196"/>
            </a:srgbClr>
          </a:solidFill>
          <a:ln>
            <a:noFill/>
          </a:ln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sp>
        <p:nvSpPr>
          <p:cNvPr id="19" name="Freeform 28"/>
          <p:cNvSpPr/>
          <p:nvPr/>
        </p:nvSpPr>
        <p:spPr bwMode="auto">
          <a:xfrm>
            <a:off x="2001723" y="3102194"/>
            <a:ext cx="2715971" cy="2367899"/>
          </a:xfrm>
          <a:custGeom>
            <a:avLst/>
            <a:gdLst>
              <a:gd name="T0" fmla="*/ 285 w 336"/>
              <a:gd name="T1" fmla="*/ 285 h 303"/>
              <a:gd name="T2" fmla="*/ 84 w 336"/>
              <a:gd name="T3" fmla="*/ 202 h 303"/>
              <a:gd name="T4" fmla="*/ 0 w 336"/>
              <a:gd name="T5" fmla="*/ 0 h 303"/>
              <a:gd name="T6" fmla="*/ 23 w 336"/>
              <a:gd name="T7" fmla="*/ 0 h 303"/>
              <a:gd name="T8" fmla="*/ 100 w 336"/>
              <a:gd name="T9" fmla="*/ 186 h 303"/>
              <a:gd name="T10" fmla="*/ 285 w 336"/>
              <a:gd name="T11" fmla="*/ 262 h 303"/>
              <a:gd name="T12" fmla="*/ 285 w 336"/>
              <a:gd name="T13" fmla="*/ 245 h 303"/>
              <a:gd name="T14" fmla="*/ 336 w 336"/>
              <a:gd name="T15" fmla="*/ 275 h 303"/>
              <a:gd name="T16" fmla="*/ 285 w 336"/>
              <a:gd name="T17" fmla="*/ 303 h 303"/>
              <a:gd name="T18" fmla="*/ 285 w 336"/>
              <a:gd name="T19" fmla="*/ 285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6" h="303">
                <a:moveTo>
                  <a:pt x="285" y="285"/>
                </a:moveTo>
                <a:cubicBezTo>
                  <a:pt x="206" y="285"/>
                  <a:pt x="135" y="253"/>
                  <a:pt x="84" y="202"/>
                </a:cubicBezTo>
                <a:cubicBezTo>
                  <a:pt x="32" y="150"/>
                  <a:pt x="0" y="7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72"/>
                  <a:pt x="52" y="138"/>
                  <a:pt x="100" y="186"/>
                </a:cubicBezTo>
                <a:cubicBezTo>
                  <a:pt x="147" y="233"/>
                  <a:pt x="213" y="262"/>
                  <a:pt x="285" y="262"/>
                </a:cubicBezTo>
                <a:cubicBezTo>
                  <a:pt x="285" y="245"/>
                  <a:pt x="285" y="245"/>
                  <a:pt x="285" y="245"/>
                </a:cubicBezTo>
                <a:cubicBezTo>
                  <a:pt x="336" y="275"/>
                  <a:pt x="336" y="275"/>
                  <a:pt x="336" y="275"/>
                </a:cubicBezTo>
                <a:cubicBezTo>
                  <a:pt x="285" y="303"/>
                  <a:pt x="285" y="303"/>
                  <a:pt x="285" y="303"/>
                </a:cubicBezTo>
                <a:lnTo>
                  <a:pt x="285" y="285"/>
                </a:lnTo>
                <a:close/>
              </a:path>
            </a:pathLst>
          </a:custGeom>
          <a:solidFill>
            <a:srgbClr val="003984">
              <a:alpha val="50196"/>
            </a:srgbClr>
          </a:solidFill>
          <a:ln>
            <a:noFill/>
          </a:ln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sp>
        <p:nvSpPr>
          <p:cNvPr id="21" name="Freeform 29"/>
          <p:cNvSpPr/>
          <p:nvPr/>
        </p:nvSpPr>
        <p:spPr bwMode="auto">
          <a:xfrm>
            <a:off x="995632" y="3102192"/>
            <a:ext cx="3722063" cy="3293490"/>
          </a:xfrm>
          <a:custGeom>
            <a:avLst/>
            <a:gdLst>
              <a:gd name="T0" fmla="*/ 395 w 446"/>
              <a:gd name="T1" fmla="*/ 395 h 413"/>
              <a:gd name="T2" fmla="*/ 116 w 446"/>
              <a:gd name="T3" fmla="*/ 279 h 413"/>
              <a:gd name="T4" fmla="*/ 0 w 446"/>
              <a:gd name="T5" fmla="*/ 0 h 413"/>
              <a:gd name="T6" fmla="*/ 23 w 446"/>
              <a:gd name="T7" fmla="*/ 0 h 413"/>
              <a:gd name="T8" fmla="*/ 132 w 446"/>
              <a:gd name="T9" fmla="*/ 263 h 413"/>
              <a:gd name="T10" fmla="*/ 395 w 446"/>
              <a:gd name="T11" fmla="*/ 373 h 413"/>
              <a:gd name="T12" fmla="*/ 395 w 446"/>
              <a:gd name="T13" fmla="*/ 355 h 413"/>
              <a:gd name="T14" fmla="*/ 446 w 446"/>
              <a:gd name="T15" fmla="*/ 385 h 413"/>
              <a:gd name="T16" fmla="*/ 395 w 446"/>
              <a:gd name="T17" fmla="*/ 413 h 413"/>
              <a:gd name="T18" fmla="*/ 395 w 446"/>
              <a:gd name="T19" fmla="*/ 395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6" h="413">
                <a:moveTo>
                  <a:pt x="395" y="395"/>
                </a:moveTo>
                <a:cubicBezTo>
                  <a:pt x="286" y="395"/>
                  <a:pt x="187" y="351"/>
                  <a:pt x="116" y="279"/>
                </a:cubicBezTo>
                <a:cubicBezTo>
                  <a:pt x="44" y="208"/>
                  <a:pt x="0" y="10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103"/>
                  <a:pt x="64" y="196"/>
                  <a:pt x="132" y="263"/>
                </a:cubicBezTo>
                <a:cubicBezTo>
                  <a:pt x="199" y="331"/>
                  <a:pt x="292" y="372"/>
                  <a:pt x="395" y="373"/>
                </a:cubicBezTo>
                <a:cubicBezTo>
                  <a:pt x="395" y="355"/>
                  <a:pt x="395" y="355"/>
                  <a:pt x="395" y="355"/>
                </a:cubicBezTo>
                <a:cubicBezTo>
                  <a:pt x="446" y="385"/>
                  <a:pt x="446" y="385"/>
                  <a:pt x="446" y="385"/>
                </a:cubicBezTo>
                <a:cubicBezTo>
                  <a:pt x="395" y="413"/>
                  <a:pt x="395" y="413"/>
                  <a:pt x="395" y="413"/>
                </a:cubicBezTo>
                <a:lnTo>
                  <a:pt x="395" y="395"/>
                </a:lnTo>
                <a:close/>
              </a:path>
            </a:pathLst>
          </a:custGeom>
          <a:solidFill>
            <a:srgbClr val="003984">
              <a:alpha val="50196"/>
            </a:srgbClr>
          </a:solidFill>
          <a:ln>
            <a:noFill/>
          </a:ln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953787" y="2890722"/>
            <a:ext cx="258464" cy="233168"/>
            <a:chOff x="3720691" y="2824413"/>
            <a:chExt cx="1341120" cy="1209172"/>
          </a:xfrm>
        </p:grpSpPr>
        <p:sp>
          <p:nvSpPr>
            <p:cNvPr id="4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963270" y="2918094"/>
            <a:ext cx="258464" cy="233168"/>
            <a:chOff x="3720691" y="2824413"/>
            <a:chExt cx="1341120" cy="1209172"/>
          </a:xfrm>
        </p:grpSpPr>
        <p:sp>
          <p:nvSpPr>
            <p:cNvPr id="38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9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949617" y="2918094"/>
            <a:ext cx="258464" cy="233168"/>
            <a:chOff x="3720691" y="2824413"/>
            <a:chExt cx="1341120" cy="1209172"/>
          </a:xfrm>
        </p:grpSpPr>
        <p:sp>
          <p:nvSpPr>
            <p:cNvPr id="3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25" name="TextBox 57"/>
          <p:cNvSpPr txBox="1"/>
          <p:nvPr/>
        </p:nvSpPr>
        <p:spPr>
          <a:xfrm>
            <a:off x="4754309" y="4037834"/>
            <a:ext cx="453623" cy="691448"/>
          </a:xfrm>
          <a:prstGeom prst="rect">
            <a:avLst/>
          </a:prstGeom>
          <a:noFill/>
        </p:spPr>
        <p:txBody>
          <a:bodyPr wrap="none" lIns="75428" tIns="37714" rIns="75428" bIns="37714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/>
            <a:r>
              <a:rPr lang="en-US" altLang="zh-CN" sz="3999" dirty="0">
                <a:solidFill>
                  <a:srgbClr val="3156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999" dirty="0">
              <a:solidFill>
                <a:srgbClr val="3156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58"/>
          <p:cNvSpPr txBox="1"/>
          <p:nvPr/>
        </p:nvSpPr>
        <p:spPr>
          <a:xfrm>
            <a:off x="4754309" y="4899730"/>
            <a:ext cx="453623" cy="691448"/>
          </a:xfrm>
          <a:prstGeom prst="rect">
            <a:avLst/>
          </a:prstGeom>
          <a:noFill/>
        </p:spPr>
        <p:txBody>
          <a:bodyPr wrap="none" lIns="75428" tIns="37714" rIns="75428" bIns="37714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/>
            <a:r>
              <a:rPr lang="en-US" altLang="zh-CN" sz="3999" dirty="0">
                <a:solidFill>
                  <a:srgbClr val="3156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999" dirty="0">
              <a:solidFill>
                <a:srgbClr val="3156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59"/>
          <p:cNvSpPr txBox="1"/>
          <p:nvPr/>
        </p:nvSpPr>
        <p:spPr>
          <a:xfrm>
            <a:off x="4754308" y="5859128"/>
            <a:ext cx="453623" cy="691448"/>
          </a:xfrm>
          <a:prstGeom prst="rect">
            <a:avLst/>
          </a:prstGeom>
          <a:noFill/>
        </p:spPr>
        <p:txBody>
          <a:bodyPr wrap="none" lIns="75428" tIns="37714" rIns="75428" bIns="37714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/>
            <a:r>
              <a:rPr lang="en-US" altLang="zh-CN" sz="3999" dirty="0">
                <a:solidFill>
                  <a:srgbClr val="3156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999" dirty="0">
              <a:solidFill>
                <a:srgbClr val="3156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4248618" y="2358784"/>
            <a:ext cx="278109" cy="184434"/>
            <a:chOff x="9482595" y="2565731"/>
            <a:chExt cx="278384" cy="184511"/>
          </a:xfrm>
        </p:grpSpPr>
        <p:sp>
          <p:nvSpPr>
            <p:cNvPr id="34" name="椭圆 33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321">
                <a:defRPr/>
              </a:pPr>
              <a:endParaRPr lang="zh-CN" altLang="en-US" sz="2400" kern="0">
                <a:solidFill>
                  <a:srgbClr val="FFFFFF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321">
                <a:defRPr/>
              </a:pPr>
              <a:endParaRPr lang="zh-CN" altLang="en-US" sz="2400" kern="0">
                <a:solidFill>
                  <a:srgbClr val="FFFFFF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原创设计师QQ598969553          _4"/>
          <p:cNvSpPr/>
          <p:nvPr/>
        </p:nvSpPr>
        <p:spPr>
          <a:xfrm>
            <a:off x="5396532" y="3926905"/>
            <a:ext cx="6151451" cy="8742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具备强大的代码编辑功能，支持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语法高亮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代码折叠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自动补全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等，可以提高代码编写效率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原创设计师QQ598969553          _4"/>
          <p:cNvSpPr/>
          <p:nvPr/>
        </p:nvSpPr>
        <p:spPr>
          <a:xfrm>
            <a:off x="5412223" y="4858798"/>
            <a:ext cx="6286167" cy="8742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提供了丰富的快捷键操作，方便开发者快速执行各种命令，如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快速保存文件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查找替换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代码格式化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等，提升开发速度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原创设计师QQ598969553          _4"/>
          <p:cNvSpPr/>
          <p:nvPr/>
        </p:nvSpPr>
        <p:spPr>
          <a:xfrm>
            <a:off x="5396532" y="5770173"/>
            <a:ext cx="6286167" cy="8742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支持多种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前端开发框架和库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，通过安装插件，可满足不同项目的开发需求，帮助开发者快速搭建项目架构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4526761" y="4849850"/>
            <a:ext cx="7155938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542452" y="5788202"/>
            <a:ext cx="7155938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650930" y="2764719"/>
            <a:ext cx="954832" cy="497123"/>
          </a:xfrm>
          <a:prstGeom prst="rect">
            <a:avLst/>
          </a:prstGeom>
        </p:spPr>
        <p:txBody>
          <a:bodyPr wrap="square" lIns="91404" tIns="45701" rIns="91404" bIns="45701" anchor="ctr">
            <a:norm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pc="3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特点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631" y="1240762"/>
            <a:ext cx="3865906" cy="5617238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常见网页编辑器介绍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984616" y="1808437"/>
            <a:ext cx="731591" cy="648405"/>
            <a:chOff x="3885937" y="3040648"/>
            <a:chExt cx="1954833" cy="1732556"/>
          </a:xfrm>
        </p:grpSpPr>
        <p:grpSp>
          <p:nvGrpSpPr>
            <p:cNvPr id="47" name="组合 46"/>
            <p:cNvGrpSpPr/>
            <p:nvPr/>
          </p:nvGrpSpPr>
          <p:grpSpPr>
            <a:xfrm>
              <a:off x="3885937" y="3040648"/>
              <a:ext cx="1954833" cy="1732556"/>
              <a:chOff x="3295850" y="2263222"/>
              <a:chExt cx="2643765" cy="2343151"/>
            </a:xfrm>
          </p:grpSpPr>
          <p:sp>
            <p:nvSpPr>
              <p:cNvPr id="49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005DA2"/>
              </a:solidFill>
              <a:ln w="25400">
                <a:solidFill>
                  <a:schemeClr val="accent5">
                    <a:lumMod val="75000"/>
                  </a:schemeClr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文本框 32"/>
            <p:cNvSpPr txBox="1"/>
            <p:nvPr/>
          </p:nvSpPr>
          <p:spPr>
            <a:xfrm>
              <a:off x="4093595" y="3292001"/>
              <a:ext cx="1530112" cy="12298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857555" y="1773199"/>
            <a:ext cx="3095710" cy="699016"/>
            <a:chOff x="3971621" y="2453670"/>
            <a:chExt cx="3097000" cy="699307"/>
          </a:xfrm>
        </p:grpSpPr>
        <p:sp>
          <p:nvSpPr>
            <p:cNvPr id="45" name="圆角矩形 15"/>
            <p:cNvSpPr/>
            <p:nvPr/>
          </p:nvSpPr>
          <p:spPr>
            <a:xfrm>
              <a:off x="3971621" y="2508792"/>
              <a:ext cx="3097000" cy="64418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5400000" scaled="1"/>
            </a:gradFill>
            <a:ln w="22225">
              <a:solidFill>
                <a:schemeClr val="bg1">
                  <a:lumMod val="85000"/>
                </a:schemeClr>
              </a:soli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标题 1"/>
            <p:cNvSpPr txBox="1"/>
            <p:nvPr/>
          </p:nvSpPr>
          <p:spPr>
            <a:xfrm>
              <a:off x="4201156" y="2453670"/>
              <a:ext cx="2570250" cy="683927"/>
            </a:xfrm>
            <a:prstGeom prst="rect">
              <a:avLst/>
            </a:prstGeom>
          </p:spPr>
          <p:txBody>
            <a:bodyPr lIns="91377" tIns="45688" rIns="91377" bIns="45688" anchor="ctr">
              <a:normAutofit fontScale="77500" lnSpcReduction="2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0" kern="1200">
                  <a:solidFill>
                    <a:schemeClr val="bg1"/>
                  </a:solidFill>
                  <a:effectLst/>
                  <a:latin typeface="+mj-ea"/>
                  <a:ea typeface="+mj-ea"/>
                  <a:cs typeface="+mj-cs"/>
                </a:defRPr>
              </a:lvl1pPr>
            </a:lstStyle>
            <a:p>
              <a:pPr algn="l" defTabSz="1218956">
                <a:lnSpc>
                  <a:spcPct val="150000"/>
                </a:lnSpc>
              </a:pPr>
              <a:r>
                <a:rPr lang="en-US" altLang="zh-CN" b="1" dirty="0">
                  <a:solidFill>
                    <a:srgbClr val="005D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Visual Studio Code</a:t>
              </a:r>
              <a:endParaRPr lang="zh-CN" altLang="en-US" b="1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4" name="TextBox 35"/>
          <p:cNvSpPr txBox="1">
            <a:spLocks noChangeArrowheads="1"/>
          </p:cNvSpPr>
          <p:nvPr/>
        </p:nvSpPr>
        <p:spPr bwMode="auto">
          <a:xfrm>
            <a:off x="5592061" y="3141035"/>
            <a:ext cx="5247744" cy="145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66" tIns="60932" rIns="121866" bIns="6093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Code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）是微软公司推出的一款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轻量级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开源的代码编辑器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，在网页开发方面也有出色表现。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常见网页编辑器介绍</a:t>
            </a:r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 flipH="1">
            <a:off x="801079" y="3007305"/>
            <a:ext cx="3159826" cy="0"/>
          </a:xfrm>
          <a:prstGeom prst="line">
            <a:avLst/>
          </a:prstGeom>
          <a:noFill/>
          <a:ln w="5" cap="flat">
            <a:solidFill>
              <a:srgbClr val="5893D9">
                <a:lumMod val="75000"/>
              </a:srgbClr>
            </a:solidFill>
            <a:prstDash val="dash"/>
            <a:miter lim="800000"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529283" y="2574719"/>
            <a:ext cx="1093712" cy="986666"/>
            <a:chOff x="3720691" y="2824413"/>
            <a:chExt cx="1341120" cy="1209172"/>
          </a:xfrm>
        </p:grpSpPr>
        <p:sp>
          <p:nvSpPr>
            <p:cNvPr id="5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Freeform 27"/>
          <p:cNvSpPr/>
          <p:nvPr/>
        </p:nvSpPr>
        <p:spPr bwMode="auto">
          <a:xfrm>
            <a:off x="3011109" y="3102194"/>
            <a:ext cx="1741102" cy="1479539"/>
          </a:xfrm>
          <a:custGeom>
            <a:avLst/>
            <a:gdLst>
              <a:gd name="T0" fmla="*/ 172 w 223"/>
              <a:gd name="T1" fmla="*/ 172 h 190"/>
              <a:gd name="T2" fmla="*/ 50 w 223"/>
              <a:gd name="T3" fmla="*/ 122 h 190"/>
              <a:gd name="T4" fmla="*/ 0 w 223"/>
              <a:gd name="T5" fmla="*/ 0 h 190"/>
              <a:gd name="T6" fmla="*/ 22 w 223"/>
              <a:gd name="T7" fmla="*/ 0 h 190"/>
              <a:gd name="T8" fmla="*/ 66 w 223"/>
              <a:gd name="T9" fmla="*/ 106 h 190"/>
              <a:gd name="T10" fmla="*/ 172 w 223"/>
              <a:gd name="T11" fmla="*/ 150 h 190"/>
              <a:gd name="T12" fmla="*/ 172 w 223"/>
              <a:gd name="T13" fmla="*/ 132 h 190"/>
              <a:gd name="T14" fmla="*/ 223 w 223"/>
              <a:gd name="T15" fmla="*/ 163 h 190"/>
              <a:gd name="T16" fmla="*/ 172 w 223"/>
              <a:gd name="T17" fmla="*/ 190 h 190"/>
              <a:gd name="T18" fmla="*/ 172 w 223"/>
              <a:gd name="T19" fmla="*/ 172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3" h="190">
                <a:moveTo>
                  <a:pt x="172" y="172"/>
                </a:moveTo>
                <a:cubicBezTo>
                  <a:pt x="124" y="172"/>
                  <a:pt x="81" y="153"/>
                  <a:pt x="50" y="122"/>
                </a:cubicBezTo>
                <a:cubicBezTo>
                  <a:pt x="19" y="91"/>
                  <a:pt x="0" y="48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41"/>
                  <a:pt x="39" y="79"/>
                  <a:pt x="66" y="106"/>
                </a:cubicBezTo>
                <a:cubicBezTo>
                  <a:pt x="93" y="133"/>
                  <a:pt x="131" y="150"/>
                  <a:pt x="172" y="150"/>
                </a:cubicBezTo>
                <a:cubicBezTo>
                  <a:pt x="172" y="132"/>
                  <a:pt x="172" y="132"/>
                  <a:pt x="172" y="132"/>
                </a:cubicBezTo>
                <a:cubicBezTo>
                  <a:pt x="223" y="163"/>
                  <a:pt x="223" y="163"/>
                  <a:pt x="223" y="163"/>
                </a:cubicBezTo>
                <a:cubicBezTo>
                  <a:pt x="172" y="190"/>
                  <a:pt x="172" y="190"/>
                  <a:pt x="172" y="190"/>
                </a:cubicBezTo>
                <a:lnTo>
                  <a:pt x="172" y="172"/>
                </a:lnTo>
                <a:close/>
              </a:path>
            </a:pathLst>
          </a:custGeom>
          <a:solidFill>
            <a:srgbClr val="5893D9">
              <a:alpha val="50196"/>
            </a:srgbClr>
          </a:solidFill>
          <a:ln>
            <a:noFill/>
          </a:ln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sp>
        <p:nvSpPr>
          <p:cNvPr id="19" name="Freeform 28"/>
          <p:cNvSpPr/>
          <p:nvPr/>
        </p:nvSpPr>
        <p:spPr bwMode="auto">
          <a:xfrm>
            <a:off x="2001723" y="3102194"/>
            <a:ext cx="2715971" cy="2367899"/>
          </a:xfrm>
          <a:custGeom>
            <a:avLst/>
            <a:gdLst>
              <a:gd name="T0" fmla="*/ 285 w 336"/>
              <a:gd name="T1" fmla="*/ 285 h 303"/>
              <a:gd name="T2" fmla="*/ 84 w 336"/>
              <a:gd name="T3" fmla="*/ 202 h 303"/>
              <a:gd name="T4" fmla="*/ 0 w 336"/>
              <a:gd name="T5" fmla="*/ 0 h 303"/>
              <a:gd name="T6" fmla="*/ 23 w 336"/>
              <a:gd name="T7" fmla="*/ 0 h 303"/>
              <a:gd name="T8" fmla="*/ 100 w 336"/>
              <a:gd name="T9" fmla="*/ 186 h 303"/>
              <a:gd name="T10" fmla="*/ 285 w 336"/>
              <a:gd name="T11" fmla="*/ 262 h 303"/>
              <a:gd name="T12" fmla="*/ 285 w 336"/>
              <a:gd name="T13" fmla="*/ 245 h 303"/>
              <a:gd name="T14" fmla="*/ 336 w 336"/>
              <a:gd name="T15" fmla="*/ 275 h 303"/>
              <a:gd name="T16" fmla="*/ 285 w 336"/>
              <a:gd name="T17" fmla="*/ 303 h 303"/>
              <a:gd name="T18" fmla="*/ 285 w 336"/>
              <a:gd name="T19" fmla="*/ 285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6" h="303">
                <a:moveTo>
                  <a:pt x="285" y="285"/>
                </a:moveTo>
                <a:cubicBezTo>
                  <a:pt x="206" y="285"/>
                  <a:pt x="135" y="253"/>
                  <a:pt x="84" y="202"/>
                </a:cubicBezTo>
                <a:cubicBezTo>
                  <a:pt x="32" y="150"/>
                  <a:pt x="0" y="7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72"/>
                  <a:pt x="52" y="138"/>
                  <a:pt x="100" y="186"/>
                </a:cubicBezTo>
                <a:cubicBezTo>
                  <a:pt x="147" y="233"/>
                  <a:pt x="213" y="262"/>
                  <a:pt x="285" y="262"/>
                </a:cubicBezTo>
                <a:cubicBezTo>
                  <a:pt x="285" y="245"/>
                  <a:pt x="285" y="245"/>
                  <a:pt x="285" y="245"/>
                </a:cubicBezTo>
                <a:cubicBezTo>
                  <a:pt x="336" y="275"/>
                  <a:pt x="336" y="275"/>
                  <a:pt x="336" y="275"/>
                </a:cubicBezTo>
                <a:cubicBezTo>
                  <a:pt x="285" y="303"/>
                  <a:pt x="285" y="303"/>
                  <a:pt x="285" y="303"/>
                </a:cubicBezTo>
                <a:lnTo>
                  <a:pt x="285" y="285"/>
                </a:lnTo>
                <a:close/>
              </a:path>
            </a:pathLst>
          </a:custGeom>
          <a:solidFill>
            <a:srgbClr val="003984">
              <a:alpha val="50196"/>
            </a:srgbClr>
          </a:solidFill>
          <a:ln>
            <a:noFill/>
          </a:ln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sp>
        <p:nvSpPr>
          <p:cNvPr id="21" name="Freeform 29"/>
          <p:cNvSpPr/>
          <p:nvPr/>
        </p:nvSpPr>
        <p:spPr bwMode="auto">
          <a:xfrm>
            <a:off x="995632" y="3102192"/>
            <a:ext cx="3722063" cy="3293490"/>
          </a:xfrm>
          <a:custGeom>
            <a:avLst/>
            <a:gdLst>
              <a:gd name="T0" fmla="*/ 395 w 446"/>
              <a:gd name="T1" fmla="*/ 395 h 413"/>
              <a:gd name="T2" fmla="*/ 116 w 446"/>
              <a:gd name="T3" fmla="*/ 279 h 413"/>
              <a:gd name="T4" fmla="*/ 0 w 446"/>
              <a:gd name="T5" fmla="*/ 0 h 413"/>
              <a:gd name="T6" fmla="*/ 23 w 446"/>
              <a:gd name="T7" fmla="*/ 0 h 413"/>
              <a:gd name="T8" fmla="*/ 132 w 446"/>
              <a:gd name="T9" fmla="*/ 263 h 413"/>
              <a:gd name="T10" fmla="*/ 395 w 446"/>
              <a:gd name="T11" fmla="*/ 373 h 413"/>
              <a:gd name="T12" fmla="*/ 395 w 446"/>
              <a:gd name="T13" fmla="*/ 355 h 413"/>
              <a:gd name="T14" fmla="*/ 446 w 446"/>
              <a:gd name="T15" fmla="*/ 385 h 413"/>
              <a:gd name="T16" fmla="*/ 395 w 446"/>
              <a:gd name="T17" fmla="*/ 413 h 413"/>
              <a:gd name="T18" fmla="*/ 395 w 446"/>
              <a:gd name="T19" fmla="*/ 395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6" h="413">
                <a:moveTo>
                  <a:pt x="395" y="395"/>
                </a:moveTo>
                <a:cubicBezTo>
                  <a:pt x="286" y="395"/>
                  <a:pt x="187" y="351"/>
                  <a:pt x="116" y="279"/>
                </a:cubicBezTo>
                <a:cubicBezTo>
                  <a:pt x="44" y="208"/>
                  <a:pt x="0" y="10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103"/>
                  <a:pt x="64" y="196"/>
                  <a:pt x="132" y="263"/>
                </a:cubicBezTo>
                <a:cubicBezTo>
                  <a:pt x="199" y="331"/>
                  <a:pt x="292" y="372"/>
                  <a:pt x="395" y="373"/>
                </a:cubicBezTo>
                <a:cubicBezTo>
                  <a:pt x="395" y="355"/>
                  <a:pt x="395" y="355"/>
                  <a:pt x="395" y="355"/>
                </a:cubicBezTo>
                <a:cubicBezTo>
                  <a:pt x="446" y="385"/>
                  <a:pt x="446" y="385"/>
                  <a:pt x="446" y="385"/>
                </a:cubicBezTo>
                <a:cubicBezTo>
                  <a:pt x="395" y="413"/>
                  <a:pt x="395" y="413"/>
                  <a:pt x="395" y="413"/>
                </a:cubicBezTo>
                <a:lnTo>
                  <a:pt x="395" y="395"/>
                </a:lnTo>
                <a:close/>
              </a:path>
            </a:pathLst>
          </a:custGeom>
          <a:solidFill>
            <a:srgbClr val="003984">
              <a:alpha val="50196"/>
            </a:srgbClr>
          </a:solidFill>
          <a:ln>
            <a:noFill/>
          </a:ln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953787" y="2890722"/>
            <a:ext cx="258464" cy="233168"/>
            <a:chOff x="3720691" y="2824413"/>
            <a:chExt cx="1341120" cy="1209172"/>
          </a:xfrm>
        </p:grpSpPr>
        <p:sp>
          <p:nvSpPr>
            <p:cNvPr id="4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963270" y="2918094"/>
            <a:ext cx="258464" cy="233168"/>
            <a:chOff x="3720691" y="2824413"/>
            <a:chExt cx="1341120" cy="1209172"/>
          </a:xfrm>
        </p:grpSpPr>
        <p:sp>
          <p:nvSpPr>
            <p:cNvPr id="38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9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949617" y="2918094"/>
            <a:ext cx="258464" cy="233168"/>
            <a:chOff x="3720691" y="2824413"/>
            <a:chExt cx="1341120" cy="1209172"/>
          </a:xfrm>
        </p:grpSpPr>
        <p:sp>
          <p:nvSpPr>
            <p:cNvPr id="3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25" name="TextBox 57"/>
          <p:cNvSpPr txBox="1"/>
          <p:nvPr/>
        </p:nvSpPr>
        <p:spPr>
          <a:xfrm>
            <a:off x="4754309" y="4037834"/>
            <a:ext cx="453623" cy="691448"/>
          </a:xfrm>
          <a:prstGeom prst="rect">
            <a:avLst/>
          </a:prstGeom>
          <a:noFill/>
        </p:spPr>
        <p:txBody>
          <a:bodyPr wrap="none" lIns="75428" tIns="37714" rIns="75428" bIns="37714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/>
            <a:r>
              <a:rPr lang="en-US" altLang="zh-CN" sz="3999" dirty="0">
                <a:solidFill>
                  <a:srgbClr val="3156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999" dirty="0">
              <a:solidFill>
                <a:srgbClr val="3156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58"/>
          <p:cNvSpPr txBox="1"/>
          <p:nvPr/>
        </p:nvSpPr>
        <p:spPr>
          <a:xfrm>
            <a:off x="4754309" y="4899730"/>
            <a:ext cx="453623" cy="691448"/>
          </a:xfrm>
          <a:prstGeom prst="rect">
            <a:avLst/>
          </a:prstGeom>
          <a:noFill/>
        </p:spPr>
        <p:txBody>
          <a:bodyPr wrap="none" lIns="75428" tIns="37714" rIns="75428" bIns="37714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/>
            <a:r>
              <a:rPr lang="en-US" altLang="zh-CN" sz="3999" dirty="0">
                <a:solidFill>
                  <a:srgbClr val="3156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999" dirty="0">
              <a:solidFill>
                <a:srgbClr val="3156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59"/>
          <p:cNvSpPr txBox="1"/>
          <p:nvPr/>
        </p:nvSpPr>
        <p:spPr>
          <a:xfrm>
            <a:off x="4754308" y="5859128"/>
            <a:ext cx="453623" cy="691448"/>
          </a:xfrm>
          <a:prstGeom prst="rect">
            <a:avLst/>
          </a:prstGeom>
          <a:noFill/>
        </p:spPr>
        <p:txBody>
          <a:bodyPr wrap="none" lIns="75428" tIns="37714" rIns="75428" bIns="37714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/>
            <a:r>
              <a:rPr lang="en-US" altLang="zh-CN" sz="3999" dirty="0">
                <a:solidFill>
                  <a:srgbClr val="3156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999" dirty="0">
              <a:solidFill>
                <a:srgbClr val="3156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原创设计师QQ598969553          _4"/>
          <p:cNvSpPr/>
          <p:nvPr/>
        </p:nvSpPr>
        <p:spPr>
          <a:xfrm>
            <a:off x="5304096" y="3926905"/>
            <a:ext cx="6151451" cy="8742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拥有庞大的插件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生态系统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，涵盖了从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代码调试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版本控制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、代码规范检查到代码生成等各个方面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原创设计师QQ598969553          _4"/>
          <p:cNvSpPr/>
          <p:nvPr/>
        </p:nvSpPr>
        <p:spPr>
          <a:xfrm>
            <a:off x="5304095" y="4858798"/>
            <a:ext cx="6480820" cy="8742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内置了强大的调试工具，支持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断点调试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单步执行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等功能，能够帮助开发者快速定位和解决代码中的问题，提高开发效率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原创设计师QQ598969553          _4"/>
          <p:cNvSpPr/>
          <p:nvPr/>
        </p:nvSpPr>
        <p:spPr>
          <a:xfrm>
            <a:off x="5304096" y="5770173"/>
            <a:ext cx="6378603" cy="8742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等版本控制系统深度集成，方便开发者进行代码的版本管理，包括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推送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拉取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等操作，可直接在编辑器中完成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4526761" y="4849850"/>
            <a:ext cx="7155938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542452" y="5788202"/>
            <a:ext cx="7155938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650930" y="2764719"/>
            <a:ext cx="954832" cy="497123"/>
          </a:xfrm>
          <a:prstGeom prst="rect">
            <a:avLst/>
          </a:prstGeom>
        </p:spPr>
        <p:txBody>
          <a:bodyPr wrap="square" lIns="91404" tIns="45701" rIns="91404" bIns="45701" anchor="ctr">
            <a:norm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pc="3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特点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984616" y="1808437"/>
            <a:ext cx="731591" cy="648405"/>
            <a:chOff x="3885937" y="3040648"/>
            <a:chExt cx="1954833" cy="1732556"/>
          </a:xfrm>
        </p:grpSpPr>
        <p:grpSp>
          <p:nvGrpSpPr>
            <p:cNvPr id="51" name="组合 50"/>
            <p:cNvGrpSpPr/>
            <p:nvPr/>
          </p:nvGrpSpPr>
          <p:grpSpPr>
            <a:xfrm>
              <a:off x="3885937" y="3040648"/>
              <a:ext cx="1954833" cy="1732556"/>
              <a:chOff x="3295850" y="2263222"/>
              <a:chExt cx="2643765" cy="2343151"/>
            </a:xfrm>
          </p:grpSpPr>
          <p:sp>
            <p:nvSpPr>
              <p:cNvPr id="56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005DA2"/>
              </a:solidFill>
              <a:ln w="25400">
                <a:solidFill>
                  <a:schemeClr val="accent5">
                    <a:lumMod val="75000"/>
                  </a:schemeClr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5" name="文本框 32"/>
            <p:cNvSpPr txBox="1"/>
            <p:nvPr/>
          </p:nvSpPr>
          <p:spPr>
            <a:xfrm>
              <a:off x="4093595" y="3292001"/>
              <a:ext cx="1530112" cy="12298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857555" y="1773199"/>
            <a:ext cx="3095710" cy="699016"/>
            <a:chOff x="3971621" y="2453670"/>
            <a:chExt cx="3097000" cy="699307"/>
          </a:xfrm>
        </p:grpSpPr>
        <p:sp>
          <p:nvSpPr>
            <p:cNvPr id="59" name="圆角矩形 15"/>
            <p:cNvSpPr/>
            <p:nvPr/>
          </p:nvSpPr>
          <p:spPr>
            <a:xfrm>
              <a:off x="3971621" y="2508792"/>
              <a:ext cx="3097000" cy="64418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5400000" scaled="1"/>
            </a:gradFill>
            <a:ln w="22225">
              <a:solidFill>
                <a:schemeClr val="bg1">
                  <a:lumMod val="85000"/>
                </a:schemeClr>
              </a:soli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标题 1"/>
            <p:cNvSpPr txBox="1"/>
            <p:nvPr/>
          </p:nvSpPr>
          <p:spPr>
            <a:xfrm>
              <a:off x="4201156" y="2453670"/>
              <a:ext cx="2570250" cy="683927"/>
            </a:xfrm>
            <a:prstGeom prst="rect">
              <a:avLst/>
            </a:prstGeom>
          </p:spPr>
          <p:txBody>
            <a:bodyPr lIns="91377" tIns="45688" rIns="91377" bIns="45688" anchor="ctr">
              <a:normAutofit fontScale="77500" lnSpcReduction="2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0" kern="1200">
                  <a:solidFill>
                    <a:schemeClr val="bg1"/>
                  </a:solidFill>
                  <a:effectLst/>
                  <a:latin typeface="+mj-ea"/>
                  <a:ea typeface="+mj-ea"/>
                  <a:cs typeface="+mj-cs"/>
                </a:defRPr>
              </a:lvl1pPr>
            </a:lstStyle>
            <a:p>
              <a:pPr algn="l" defTabSz="1218956">
                <a:lnSpc>
                  <a:spcPct val="150000"/>
                </a:lnSpc>
              </a:pPr>
              <a:r>
                <a:rPr lang="en-US" altLang="zh-CN" b="1" dirty="0">
                  <a:solidFill>
                    <a:srgbClr val="005D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Visual Studio Code</a:t>
              </a:r>
              <a:endParaRPr lang="zh-CN" altLang="en-US" b="1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48618" y="2358784"/>
            <a:ext cx="278109" cy="184434"/>
            <a:chOff x="9482595" y="2565731"/>
            <a:chExt cx="278384" cy="184511"/>
          </a:xfrm>
        </p:grpSpPr>
        <p:sp>
          <p:nvSpPr>
            <p:cNvPr id="62" name="椭圆 61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321">
                <a:defRPr/>
              </a:pPr>
              <a:endParaRPr lang="zh-CN" altLang="en-US" sz="2400" kern="0">
                <a:solidFill>
                  <a:srgbClr val="FFFFFF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321">
                <a:defRPr/>
              </a:pPr>
              <a:endParaRPr lang="zh-CN" altLang="en-US" sz="2400" kern="0">
                <a:solidFill>
                  <a:srgbClr val="FFFFFF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59" y="1439570"/>
            <a:ext cx="4076461" cy="5923179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常见网页编辑器介绍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984616" y="1808437"/>
            <a:ext cx="731591" cy="648405"/>
            <a:chOff x="3885937" y="3040648"/>
            <a:chExt cx="1954833" cy="1732556"/>
          </a:xfrm>
        </p:grpSpPr>
        <p:grpSp>
          <p:nvGrpSpPr>
            <p:cNvPr id="47" name="组合 46"/>
            <p:cNvGrpSpPr/>
            <p:nvPr/>
          </p:nvGrpSpPr>
          <p:grpSpPr>
            <a:xfrm>
              <a:off x="3885937" y="3040648"/>
              <a:ext cx="1954833" cy="1732556"/>
              <a:chOff x="3295850" y="2263222"/>
              <a:chExt cx="2643765" cy="2343151"/>
            </a:xfrm>
          </p:grpSpPr>
          <p:sp>
            <p:nvSpPr>
              <p:cNvPr id="49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005DA2"/>
              </a:solidFill>
              <a:ln w="25400">
                <a:solidFill>
                  <a:schemeClr val="accent5">
                    <a:lumMod val="75000"/>
                  </a:schemeClr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文本框 32"/>
            <p:cNvSpPr txBox="1"/>
            <p:nvPr/>
          </p:nvSpPr>
          <p:spPr>
            <a:xfrm>
              <a:off x="4093595" y="3292001"/>
              <a:ext cx="1530112" cy="12298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857555" y="1773199"/>
            <a:ext cx="3095710" cy="699016"/>
            <a:chOff x="3971621" y="2453670"/>
            <a:chExt cx="3097000" cy="699307"/>
          </a:xfrm>
        </p:grpSpPr>
        <p:sp>
          <p:nvSpPr>
            <p:cNvPr id="45" name="圆角矩形 15"/>
            <p:cNvSpPr/>
            <p:nvPr/>
          </p:nvSpPr>
          <p:spPr>
            <a:xfrm>
              <a:off x="3971621" y="2508792"/>
              <a:ext cx="3097000" cy="64418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5400000" scaled="1"/>
            </a:gradFill>
            <a:ln w="22225">
              <a:solidFill>
                <a:schemeClr val="bg1">
                  <a:lumMod val="85000"/>
                </a:schemeClr>
              </a:soli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标题 1"/>
            <p:cNvSpPr txBox="1"/>
            <p:nvPr/>
          </p:nvSpPr>
          <p:spPr>
            <a:xfrm>
              <a:off x="4201156" y="2453670"/>
              <a:ext cx="2570250" cy="683927"/>
            </a:xfrm>
            <a:prstGeom prst="rect">
              <a:avLst/>
            </a:prstGeom>
          </p:spPr>
          <p:txBody>
            <a:bodyPr lIns="91377" tIns="45688" rIns="91377" bIns="45688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0" kern="1200">
                  <a:solidFill>
                    <a:schemeClr val="bg1"/>
                  </a:solidFill>
                  <a:effectLst/>
                  <a:latin typeface="+mj-ea"/>
                  <a:ea typeface="+mj-ea"/>
                  <a:cs typeface="+mj-cs"/>
                </a:defRPr>
              </a:lvl1pPr>
            </a:lstStyle>
            <a:p>
              <a:pPr algn="l" defTabSz="1218956">
                <a:lnSpc>
                  <a:spcPct val="150000"/>
                </a:lnSpc>
              </a:pPr>
              <a:r>
                <a:rPr lang="en-US" altLang="zh-CN" b="1" dirty="0">
                  <a:solidFill>
                    <a:srgbClr val="005D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Dreamweaver</a:t>
              </a:r>
              <a:endParaRPr lang="zh-CN" altLang="en-US" b="1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4" name="TextBox 35"/>
          <p:cNvSpPr txBox="1">
            <a:spLocks noChangeArrowheads="1"/>
          </p:cNvSpPr>
          <p:nvPr/>
        </p:nvSpPr>
        <p:spPr bwMode="auto">
          <a:xfrm>
            <a:off x="5592061" y="3141035"/>
            <a:ext cx="5247744" cy="145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66" tIns="60932" rIns="121866" bIns="6093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Adobe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旗下一款流行的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开发和设计软件，专为构建动态网站而设计。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4615" y="842192"/>
            <a:ext cx="2879653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常见网页编辑器介绍</a:t>
            </a:r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 flipH="1">
            <a:off x="801079" y="3007305"/>
            <a:ext cx="3159826" cy="0"/>
          </a:xfrm>
          <a:prstGeom prst="line">
            <a:avLst/>
          </a:prstGeom>
          <a:noFill/>
          <a:ln w="5" cap="flat">
            <a:solidFill>
              <a:srgbClr val="5893D9">
                <a:lumMod val="75000"/>
              </a:srgbClr>
            </a:solidFill>
            <a:prstDash val="dash"/>
            <a:miter lim="800000"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529283" y="2574719"/>
            <a:ext cx="1093712" cy="986666"/>
            <a:chOff x="3720691" y="2824413"/>
            <a:chExt cx="1341120" cy="1209172"/>
          </a:xfrm>
        </p:grpSpPr>
        <p:sp>
          <p:nvSpPr>
            <p:cNvPr id="5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Freeform 27"/>
          <p:cNvSpPr/>
          <p:nvPr/>
        </p:nvSpPr>
        <p:spPr bwMode="auto">
          <a:xfrm>
            <a:off x="3011109" y="3102194"/>
            <a:ext cx="1741102" cy="1479539"/>
          </a:xfrm>
          <a:custGeom>
            <a:avLst/>
            <a:gdLst>
              <a:gd name="T0" fmla="*/ 172 w 223"/>
              <a:gd name="T1" fmla="*/ 172 h 190"/>
              <a:gd name="T2" fmla="*/ 50 w 223"/>
              <a:gd name="T3" fmla="*/ 122 h 190"/>
              <a:gd name="T4" fmla="*/ 0 w 223"/>
              <a:gd name="T5" fmla="*/ 0 h 190"/>
              <a:gd name="T6" fmla="*/ 22 w 223"/>
              <a:gd name="T7" fmla="*/ 0 h 190"/>
              <a:gd name="T8" fmla="*/ 66 w 223"/>
              <a:gd name="T9" fmla="*/ 106 h 190"/>
              <a:gd name="T10" fmla="*/ 172 w 223"/>
              <a:gd name="T11" fmla="*/ 150 h 190"/>
              <a:gd name="T12" fmla="*/ 172 w 223"/>
              <a:gd name="T13" fmla="*/ 132 h 190"/>
              <a:gd name="T14" fmla="*/ 223 w 223"/>
              <a:gd name="T15" fmla="*/ 163 h 190"/>
              <a:gd name="T16" fmla="*/ 172 w 223"/>
              <a:gd name="T17" fmla="*/ 190 h 190"/>
              <a:gd name="T18" fmla="*/ 172 w 223"/>
              <a:gd name="T19" fmla="*/ 172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3" h="190">
                <a:moveTo>
                  <a:pt x="172" y="172"/>
                </a:moveTo>
                <a:cubicBezTo>
                  <a:pt x="124" y="172"/>
                  <a:pt x="81" y="153"/>
                  <a:pt x="50" y="122"/>
                </a:cubicBezTo>
                <a:cubicBezTo>
                  <a:pt x="19" y="91"/>
                  <a:pt x="0" y="48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41"/>
                  <a:pt x="39" y="79"/>
                  <a:pt x="66" y="106"/>
                </a:cubicBezTo>
                <a:cubicBezTo>
                  <a:pt x="93" y="133"/>
                  <a:pt x="131" y="150"/>
                  <a:pt x="172" y="150"/>
                </a:cubicBezTo>
                <a:cubicBezTo>
                  <a:pt x="172" y="132"/>
                  <a:pt x="172" y="132"/>
                  <a:pt x="172" y="132"/>
                </a:cubicBezTo>
                <a:cubicBezTo>
                  <a:pt x="223" y="163"/>
                  <a:pt x="223" y="163"/>
                  <a:pt x="223" y="163"/>
                </a:cubicBezTo>
                <a:cubicBezTo>
                  <a:pt x="172" y="190"/>
                  <a:pt x="172" y="190"/>
                  <a:pt x="172" y="190"/>
                </a:cubicBezTo>
                <a:lnTo>
                  <a:pt x="172" y="172"/>
                </a:lnTo>
                <a:close/>
              </a:path>
            </a:pathLst>
          </a:custGeom>
          <a:solidFill>
            <a:srgbClr val="5893D9">
              <a:alpha val="50196"/>
            </a:srgbClr>
          </a:solidFill>
          <a:ln>
            <a:noFill/>
          </a:ln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sp>
        <p:nvSpPr>
          <p:cNvPr id="19" name="Freeform 28"/>
          <p:cNvSpPr/>
          <p:nvPr/>
        </p:nvSpPr>
        <p:spPr bwMode="auto">
          <a:xfrm>
            <a:off x="2001723" y="3102194"/>
            <a:ext cx="2715971" cy="2367899"/>
          </a:xfrm>
          <a:custGeom>
            <a:avLst/>
            <a:gdLst>
              <a:gd name="T0" fmla="*/ 285 w 336"/>
              <a:gd name="T1" fmla="*/ 285 h 303"/>
              <a:gd name="T2" fmla="*/ 84 w 336"/>
              <a:gd name="T3" fmla="*/ 202 h 303"/>
              <a:gd name="T4" fmla="*/ 0 w 336"/>
              <a:gd name="T5" fmla="*/ 0 h 303"/>
              <a:gd name="T6" fmla="*/ 23 w 336"/>
              <a:gd name="T7" fmla="*/ 0 h 303"/>
              <a:gd name="T8" fmla="*/ 100 w 336"/>
              <a:gd name="T9" fmla="*/ 186 h 303"/>
              <a:gd name="T10" fmla="*/ 285 w 336"/>
              <a:gd name="T11" fmla="*/ 262 h 303"/>
              <a:gd name="T12" fmla="*/ 285 w 336"/>
              <a:gd name="T13" fmla="*/ 245 h 303"/>
              <a:gd name="T14" fmla="*/ 336 w 336"/>
              <a:gd name="T15" fmla="*/ 275 h 303"/>
              <a:gd name="T16" fmla="*/ 285 w 336"/>
              <a:gd name="T17" fmla="*/ 303 h 303"/>
              <a:gd name="T18" fmla="*/ 285 w 336"/>
              <a:gd name="T19" fmla="*/ 285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6" h="303">
                <a:moveTo>
                  <a:pt x="285" y="285"/>
                </a:moveTo>
                <a:cubicBezTo>
                  <a:pt x="206" y="285"/>
                  <a:pt x="135" y="253"/>
                  <a:pt x="84" y="202"/>
                </a:cubicBezTo>
                <a:cubicBezTo>
                  <a:pt x="32" y="150"/>
                  <a:pt x="0" y="7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72"/>
                  <a:pt x="52" y="138"/>
                  <a:pt x="100" y="186"/>
                </a:cubicBezTo>
                <a:cubicBezTo>
                  <a:pt x="147" y="233"/>
                  <a:pt x="213" y="262"/>
                  <a:pt x="285" y="262"/>
                </a:cubicBezTo>
                <a:cubicBezTo>
                  <a:pt x="285" y="245"/>
                  <a:pt x="285" y="245"/>
                  <a:pt x="285" y="245"/>
                </a:cubicBezTo>
                <a:cubicBezTo>
                  <a:pt x="336" y="275"/>
                  <a:pt x="336" y="275"/>
                  <a:pt x="336" y="275"/>
                </a:cubicBezTo>
                <a:cubicBezTo>
                  <a:pt x="285" y="303"/>
                  <a:pt x="285" y="303"/>
                  <a:pt x="285" y="303"/>
                </a:cubicBezTo>
                <a:lnTo>
                  <a:pt x="285" y="285"/>
                </a:lnTo>
                <a:close/>
              </a:path>
            </a:pathLst>
          </a:custGeom>
          <a:solidFill>
            <a:srgbClr val="003984">
              <a:alpha val="50196"/>
            </a:srgbClr>
          </a:solidFill>
          <a:ln>
            <a:noFill/>
          </a:ln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sp>
        <p:nvSpPr>
          <p:cNvPr id="21" name="Freeform 29"/>
          <p:cNvSpPr/>
          <p:nvPr/>
        </p:nvSpPr>
        <p:spPr bwMode="auto">
          <a:xfrm>
            <a:off x="995632" y="3102192"/>
            <a:ext cx="3722063" cy="3293490"/>
          </a:xfrm>
          <a:custGeom>
            <a:avLst/>
            <a:gdLst>
              <a:gd name="T0" fmla="*/ 395 w 446"/>
              <a:gd name="T1" fmla="*/ 395 h 413"/>
              <a:gd name="T2" fmla="*/ 116 w 446"/>
              <a:gd name="T3" fmla="*/ 279 h 413"/>
              <a:gd name="T4" fmla="*/ 0 w 446"/>
              <a:gd name="T5" fmla="*/ 0 h 413"/>
              <a:gd name="T6" fmla="*/ 23 w 446"/>
              <a:gd name="T7" fmla="*/ 0 h 413"/>
              <a:gd name="T8" fmla="*/ 132 w 446"/>
              <a:gd name="T9" fmla="*/ 263 h 413"/>
              <a:gd name="T10" fmla="*/ 395 w 446"/>
              <a:gd name="T11" fmla="*/ 373 h 413"/>
              <a:gd name="T12" fmla="*/ 395 w 446"/>
              <a:gd name="T13" fmla="*/ 355 h 413"/>
              <a:gd name="T14" fmla="*/ 446 w 446"/>
              <a:gd name="T15" fmla="*/ 385 h 413"/>
              <a:gd name="T16" fmla="*/ 395 w 446"/>
              <a:gd name="T17" fmla="*/ 413 h 413"/>
              <a:gd name="T18" fmla="*/ 395 w 446"/>
              <a:gd name="T19" fmla="*/ 395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6" h="413">
                <a:moveTo>
                  <a:pt x="395" y="395"/>
                </a:moveTo>
                <a:cubicBezTo>
                  <a:pt x="286" y="395"/>
                  <a:pt x="187" y="351"/>
                  <a:pt x="116" y="279"/>
                </a:cubicBezTo>
                <a:cubicBezTo>
                  <a:pt x="44" y="208"/>
                  <a:pt x="0" y="10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103"/>
                  <a:pt x="64" y="196"/>
                  <a:pt x="132" y="263"/>
                </a:cubicBezTo>
                <a:cubicBezTo>
                  <a:pt x="199" y="331"/>
                  <a:pt x="292" y="372"/>
                  <a:pt x="395" y="373"/>
                </a:cubicBezTo>
                <a:cubicBezTo>
                  <a:pt x="395" y="355"/>
                  <a:pt x="395" y="355"/>
                  <a:pt x="395" y="355"/>
                </a:cubicBezTo>
                <a:cubicBezTo>
                  <a:pt x="446" y="385"/>
                  <a:pt x="446" y="385"/>
                  <a:pt x="446" y="385"/>
                </a:cubicBezTo>
                <a:cubicBezTo>
                  <a:pt x="395" y="413"/>
                  <a:pt x="395" y="413"/>
                  <a:pt x="395" y="413"/>
                </a:cubicBezTo>
                <a:lnTo>
                  <a:pt x="395" y="395"/>
                </a:lnTo>
                <a:close/>
              </a:path>
            </a:pathLst>
          </a:custGeom>
          <a:solidFill>
            <a:srgbClr val="003984">
              <a:alpha val="50196"/>
            </a:srgbClr>
          </a:solidFill>
          <a:ln>
            <a:noFill/>
          </a:ln>
        </p:spPr>
        <p:txBody>
          <a:bodyPr vert="horz" wrap="square" lIns="75428" tIns="37714" rIns="75428" bIns="377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>
              <a:defRPr/>
            </a:pPr>
            <a:endParaRPr lang="zh-CN" altLang="en-US" sz="2400" kern="0">
              <a:solidFill>
                <a:srgbClr val="000000">
                  <a:lumMod val="75000"/>
                  <a:lumOff val="25000"/>
                </a:srgbClr>
              </a:solidFill>
              <a:latin typeface="Microsoft Sans Serif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953787" y="2890722"/>
            <a:ext cx="258464" cy="233168"/>
            <a:chOff x="3720691" y="2824413"/>
            <a:chExt cx="1341120" cy="1209172"/>
          </a:xfrm>
        </p:grpSpPr>
        <p:sp>
          <p:nvSpPr>
            <p:cNvPr id="4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963270" y="2918094"/>
            <a:ext cx="258464" cy="233168"/>
            <a:chOff x="3720691" y="2824413"/>
            <a:chExt cx="1341120" cy="1209172"/>
          </a:xfrm>
        </p:grpSpPr>
        <p:sp>
          <p:nvSpPr>
            <p:cNvPr id="38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9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949617" y="2918094"/>
            <a:ext cx="258464" cy="233168"/>
            <a:chOff x="3720691" y="2824413"/>
            <a:chExt cx="1341120" cy="1209172"/>
          </a:xfrm>
        </p:grpSpPr>
        <p:sp>
          <p:nvSpPr>
            <p:cNvPr id="3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831" tIns="60915" rIns="121831" bIns="60915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321"/>
              <a:endParaRPr lang="zh-CN" altLang="en-US" sz="240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25" name="TextBox 57"/>
          <p:cNvSpPr txBox="1"/>
          <p:nvPr/>
        </p:nvSpPr>
        <p:spPr>
          <a:xfrm>
            <a:off x="4754309" y="4037834"/>
            <a:ext cx="453623" cy="691448"/>
          </a:xfrm>
          <a:prstGeom prst="rect">
            <a:avLst/>
          </a:prstGeom>
          <a:noFill/>
        </p:spPr>
        <p:txBody>
          <a:bodyPr wrap="none" lIns="75428" tIns="37714" rIns="75428" bIns="37714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/>
            <a:r>
              <a:rPr lang="en-US" altLang="zh-CN" sz="3999" dirty="0">
                <a:solidFill>
                  <a:srgbClr val="3156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999" dirty="0">
              <a:solidFill>
                <a:srgbClr val="3156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58"/>
          <p:cNvSpPr txBox="1"/>
          <p:nvPr/>
        </p:nvSpPr>
        <p:spPr>
          <a:xfrm>
            <a:off x="4754309" y="4899730"/>
            <a:ext cx="453623" cy="691448"/>
          </a:xfrm>
          <a:prstGeom prst="rect">
            <a:avLst/>
          </a:prstGeom>
          <a:noFill/>
        </p:spPr>
        <p:txBody>
          <a:bodyPr wrap="none" lIns="75428" tIns="37714" rIns="75428" bIns="37714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/>
            <a:r>
              <a:rPr lang="en-US" altLang="zh-CN" sz="3999" dirty="0">
                <a:solidFill>
                  <a:srgbClr val="3156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999" dirty="0">
              <a:solidFill>
                <a:srgbClr val="3156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59"/>
          <p:cNvSpPr txBox="1"/>
          <p:nvPr/>
        </p:nvSpPr>
        <p:spPr>
          <a:xfrm>
            <a:off x="4754308" y="5859128"/>
            <a:ext cx="453623" cy="691448"/>
          </a:xfrm>
          <a:prstGeom prst="rect">
            <a:avLst/>
          </a:prstGeom>
          <a:noFill/>
        </p:spPr>
        <p:txBody>
          <a:bodyPr wrap="none" lIns="75428" tIns="37714" rIns="75428" bIns="37714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321"/>
            <a:r>
              <a:rPr lang="en-US" altLang="zh-CN" sz="3999" dirty="0">
                <a:solidFill>
                  <a:srgbClr val="3156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999" dirty="0">
              <a:solidFill>
                <a:srgbClr val="3156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原创设计师QQ598969553          _4"/>
          <p:cNvSpPr/>
          <p:nvPr/>
        </p:nvSpPr>
        <p:spPr>
          <a:xfrm>
            <a:off x="5304096" y="3926905"/>
            <a:ext cx="6151451" cy="8742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提供了可视化的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网页设计界面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，通过拖曳和设置属性等操作，无须编写大量代码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原创设计师QQ598969553          _4"/>
          <p:cNvSpPr/>
          <p:nvPr/>
        </p:nvSpPr>
        <p:spPr>
          <a:xfrm>
            <a:off x="5304095" y="4858798"/>
            <a:ext cx="6480820" cy="8742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代码视图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设计视图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的实时切换，方便开发者在进行可视化设计的同时，能够随时查看和修改对应的代码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原创设计师QQ598969553          _4"/>
          <p:cNvSpPr/>
          <p:nvPr/>
        </p:nvSpPr>
        <p:spPr>
          <a:xfrm>
            <a:off x="5304096" y="5770173"/>
            <a:ext cx="6378603" cy="8742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具备强大的代码编辑功能，并且针对不同的网页技术提供了相应的代码编辑支持，确保代码的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准确性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规范性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4526761" y="4849850"/>
            <a:ext cx="7155938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542452" y="5788202"/>
            <a:ext cx="7155938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650930" y="2764719"/>
            <a:ext cx="954832" cy="497123"/>
          </a:xfrm>
          <a:prstGeom prst="rect">
            <a:avLst/>
          </a:prstGeom>
        </p:spPr>
        <p:txBody>
          <a:bodyPr wrap="square" lIns="91404" tIns="45701" rIns="91404" bIns="45701" anchor="ctr">
            <a:norm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pc="3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特点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4248618" y="2358784"/>
            <a:ext cx="278109" cy="184434"/>
            <a:chOff x="9482595" y="2565731"/>
            <a:chExt cx="278384" cy="184511"/>
          </a:xfrm>
        </p:grpSpPr>
        <p:sp>
          <p:nvSpPr>
            <p:cNvPr id="62" name="椭圆 61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321">
                <a:defRPr/>
              </a:pPr>
              <a:endParaRPr lang="zh-CN" altLang="en-US" sz="2400" kern="0">
                <a:solidFill>
                  <a:srgbClr val="FFFFFF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321">
                <a:defRPr/>
              </a:pPr>
              <a:endParaRPr lang="zh-CN" altLang="en-US" sz="2400" kern="0">
                <a:solidFill>
                  <a:srgbClr val="FFFFFF"/>
                </a:solidFill>
                <a:latin typeface="Microsoft Sans Serif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984616" y="1808437"/>
            <a:ext cx="731591" cy="648405"/>
            <a:chOff x="3885937" y="3040648"/>
            <a:chExt cx="1954833" cy="1732556"/>
          </a:xfrm>
        </p:grpSpPr>
        <p:grpSp>
          <p:nvGrpSpPr>
            <p:cNvPr id="43" name="组合 42"/>
            <p:cNvGrpSpPr/>
            <p:nvPr/>
          </p:nvGrpSpPr>
          <p:grpSpPr>
            <a:xfrm>
              <a:off x="3885937" y="3040648"/>
              <a:ext cx="1954833" cy="1732556"/>
              <a:chOff x="3295850" y="2263222"/>
              <a:chExt cx="2643765" cy="2343151"/>
            </a:xfrm>
          </p:grpSpPr>
          <p:sp>
            <p:nvSpPr>
              <p:cNvPr id="46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005DA2"/>
              </a:solidFill>
              <a:ln w="25400">
                <a:solidFill>
                  <a:schemeClr val="accent5">
                    <a:lumMod val="75000"/>
                  </a:schemeClr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02" tIns="45700" rIns="91402" bIns="4570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1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5" name="文本框 32"/>
            <p:cNvSpPr txBox="1"/>
            <p:nvPr/>
          </p:nvSpPr>
          <p:spPr>
            <a:xfrm>
              <a:off x="4093595" y="3292001"/>
              <a:ext cx="1530112" cy="12298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857555" y="1773199"/>
            <a:ext cx="3095710" cy="699016"/>
            <a:chOff x="3971621" y="2453670"/>
            <a:chExt cx="3097000" cy="699307"/>
          </a:xfrm>
        </p:grpSpPr>
        <p:sp>
          <p:nvSpPr>
            <p:cNvPr id="49" name="圆角矩形 15"/>
            <p:cNvSpPr/>
            <p:nvPr/>
          </p:nvSpPr>
          <p:spPr>
            <a:xfrm>
              <a:off x="3971621" y="2508792"/>
              <a:ext cx="3097000" cy="64418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5400000" scaled="1"/>
            </a:gradFill>
            <a:ln w="22225">
              <a:solidFill>
                <a:schemeClr val="bg1">
                  <a:lumMod val="85000"/>
                </a:schemeClr>
              </a:solidFill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标题 1"/>
            <p:cNvSpPr txBox="1"/>
            <p:nvPr/>
          </p:nvSpPr>
          <p:spPr>
            <a:xfrm>
              <a:off x="4201156" y="2453670"/>
              <a:ext cx="2570250" cy="683927"/>
            </a:xfrm>
            <a:prstGeom prst="rect">
              <a:avLst/>
            </a:prstGeom>
          </p:spPr>
          <p:txBody>
            <a:bodyPr lIns="91377" tIns="45688" rIns="91377" bIns="45688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0" kern="1200">
                  <a:solidFill>
                    <a:schemeClr val="bg1"/>
                  </a:solidFill>
                  <a:effectLst/>
                  <a:latin typeface="+mj-ea"/>
                  <a:ea typeface="+mj-ea"/>
                  <a:cs typeface="+mj-cs"/>
                </a:defRPr>
              </a:lvl1pPr>
            </a:lstStyle>
            <a:p>
              <a:pPr algn="l" defTabSz="1218956">
                <a:lnSpc>
                  <a:spcPct val="150000"/>
                </a:lnSpc>
              </a:pPr>
              <a:r>
                <a:rPr lang="en-US" altLang="zh-CN" b="1" dirty="0">
                  <a:solidFill>
                    <a:srgbClr val="005D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Dreamweaver</a:t>
              </a:r>
              <a:endParaRPr lang="zh-CN" altLang="en-US" b="1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0" name="1"/>
          <p:cNvSpPr txBox="1"/>
          <p:nvPr/>
        </p:nvSpPr>
        <p:spPr>
          <a:xfrm>
            <a:off x="2821246" y="1797226"/>
            <a:ext cx="5552629" cy="4588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en-US" altLang="zh-CN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的官网，下载安装包。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sp>
        <p:nvSpPr>
          <p:cNvPr id="16" name="圆角矩形 8"/>
          <p:cNvSpPr/>
          <p:nvPr/>
        </p:nvSpPr>
        <p:spPr>
          <a:xfrm>
            <a:off x="984616" y="2943926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7" name="文本框 10"/>
          <p:cNvSpPr txBox="1"/>
          <p:nvPr/>
        </p:nvSpPr>
        <p:spPr>
          <a:xfrm flipH="1">
            <a:off x="1073707" y="3079634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02</a:t>
            </a:r>
          </a:p>
        </p:txBody>
      </p:sp>
      <p:sp>
        <p:nvSpPr>
          <p:cNvPr id="18" name="1"/>
          <p:cNvSpPr txBox="1"/>
          <p:nvPr/>
        </p:nvSpPr>
        <p:spPr>
          <a:xfrm>
            <a:off x="2821246" y="2853070"/>
            <a:ext cx="8890078" cy="8742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找到安装包并双击以运行安装程序，按照安装向导的提示逐步操作。安装完成后，在桌面或开始菜单中找到</a:t>
            </a:r>
            <a:r>
              <a:rPr lang="en-US" altLang="zh-CN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的快捷方式，单击即可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，首次启动后的界面如图。</a:t>
            </a:r>
          </a:p>
        </p:txBody>
      </p:sp>
      <p:pic>
        <p:nvPicPr>
          <p:cNvPr id="10242" name="Picture 2" descr="C:\Users\16366\AppData\Local\Temp\ksohtml13348\wps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191" y="3820966"/>
            <a:ext cx="4247489" cy="2770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矩形 18"/>
          <p:cNvSpPr/>
          <p:nvPr/>
        </p:nvSpPr>
        <p:spPr>
          <a:xfrm>
            <a:off x="5952017" y="6164671"/>
            <a:ext cx="1079870" cy="306897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文本框 5"/>
          <p:cNvSpPr txBox="1"/>
          <p:nvPr/>
        </p:nvSpPr>
        <p:spPr>
          <a:xfrm>
            <a:off x="3115701" y="6020688"/>
            <a:ext cx="2260386" cy="33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单击“开始体验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</a:t>
            </a: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5367088" y="6164671"/>
            <a:ext cx="5939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02</a:t>
            </a:r>
          </a:p>
        </p:txBody>
      </p:sp>
      <p:sp>
        <p:nvSpPr>
          <p:cNvPr id="10" name="1"/>
          <p:cNvSpPr txBox="1"/>
          <p:nvPr/>
        </p:nvSpPr>
        <p:spPr>
          <a:xfrm>
            <a:off x="2821246" y="1797226"/>
            <a:ext cx="8297048" cy="4995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下图是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自述文件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，该文件简单介绍了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的特性。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346" y="2745800"/>
            <a:ext cx="4173839" cy="27132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835" y="4004931"/>
            <a:ext cx="4058157" cy="2638054"/>
          </a:xfrm>
          <a:prstGeom prst="rect">
            <a:avLst/>
          </a:prstGeom>
        </p:spPr>
      </p:pic>
      <p:sp>
        <p:nvSpPr>
          <p:cNvPr id="20" name="圆角右箭头 9"/>
          <p:cNvSpPr/>
          <p:nvPr/>
        </p:nvSpPr>
        <p:spPr>
          <a:xfrm flipV="1">
            <a:off x="6573938" y="5588740"/>
            <a:ext cx="791662" cy="763093"/>
          </a:xfrm>
          <a:prstGeom prst="bentArrow">
            <a:avLst/>
          </a:prstGeom>
          <a:solidFill>
            <a:srgbClr val="1369B2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文本框 5"/>
          <p:cNvSpPr txBox="1"/>
          <p:nvPr/>
        </p:nvSpPr>
        <p:spPr>
          <a:xfrm>
            <a:off x="4296218" y="5752419"/>
            <a:ext cx="2499971" cy="33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单击标签卡上的     按钮</a:t>
            </a:r>
          </a:p>
        </p:txBody>
      </p:sp>
      <p:pic>
        <p:nvPicPr>
          <p:cNvPr id="14340" name="Picture 4" descr="C:\Users\16366\AppData\Local\Temp\ksohtml13348\wps18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026" y="5829656"/>
            <a:ext cx="208400" cy="19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03</a:t>
            </a:r>
          </a:p>
        </p:txBody>
      </p:sp>
      <p:sp>
        <p:nvSpPr>
          <p:cNvPr id="10" name="1"/>
          <p:cNvSpPr txBox="1"/>
          <p:nvPr/>
        </p:nvSpPr>
        <p:spPr>
          <a:xfrm>
            <a:off x="2821246" y="1797226"/>
            <a:ext cx="8297048" cy="4995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创建项目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。我们从新建项目开始体验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356" y="2498970"/>
            <a:ext cx="3413137" cy="2834540"/>
          </a:xfrm>
          <a:prstGeom prst="rect">
            <a:avLst/>
          </a:prstGeom>
        </p:spPr>
      </p:pic>
      <p:pic>
        <p:nvPicPr>
          <p:cNvPr id="15366" name="Picture 6" descr="C:\Users\16366\AppData\Local\Temp\ksohtml13348\wps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913" y="4055687"/>
            <a:ext cx="4514051" cy="255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圆角右箭头 9"/>
          <p:cNvSpPr/>
          <p:nvPr/>
        </p:nvSpPr>
        <p:spPr>
          <a:xfrm flipV="1">
            <a:off x="5962891" y="5444758"/>
            <a:ext cx="791662" cy="763093"/>
          </a:xfrm>
          <a:prstGeom prst="bentArrow">
            <a:avLst/>
          </a:prstGeom>
          <a:solidFill>
            <a:srgbClr val="1369B2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04</a:t>
            </a:r>
          </a:p>
        </p:txBody>
      </p:sp>
      <p:sp>
        <p:nvSpPr>
          <p:cNvPr id="10" name="1"/>
          <p:cNvSpPr txBox="1"/>
          <p:nvPr/>
        </p:nvSpPr>
        <p:spPr>
          <a:xfrm>
            <a:off x="2854589" y="1557226"/>
            <a:ext cx="8297048" cy="9610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新建文件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。选中项目并右击，在弹出的快捷菜单中选择新建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文件，将文件命名为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hello.html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，单击“创建”按钮，会生成一个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391" y="2784511"/>
            <a:ext cx="7913443" cy="378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05</a:t>
            </a:r>
          </a:p>
        </p:txBody>
      </p:sp>
      <p:sp>
        <p:nvSpPr>
          <p:cNvPr id="10" name="1"/>
          <p:cNvSpPr txBox="1"/>
          <p:nvPr/>
        </p:nvSpPr>
        <p:spPr>
          <a:xfrm>
            <a:off x="2854588" y="1557226"/>
            <a:ext cx="8496779" cy="9610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编写代码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hello.html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&lt;title&gt;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&lt;/title&gt;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标签中输入“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第一个网页文件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&lt;body&gt;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标签中输入“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欢迎学习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，如图。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347" y="2853070"/>
            <a:ext cx="7536284" cy="3600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06</a:t>
            </a:r>
          </a:p>
        </p:txBody>
      </p:sp>
      <p:sp>
        <p:nvSpPr>
          <p:cNvPr id="10" name="1"/>
          <p:cNvSpPr txBox="1"/>
          <p:nvPr/>
        </p:nvSpPr>
        <p:spPr>
          <a:xfrm>
            <a:off x="2854588" y="1557226"/>
            <a:ext cx="8496779" cy="9610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运行代码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。按“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Ctrl+S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组合键保存文件，选择“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”→“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运行到浏览器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”，浏览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hello.html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文件在浏览器中的显示效果，如图。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951" y="2925061"/>
            <a:ext cx="5650054" cy="22059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0" name="1"/>
          <p:cNvSpPr txBox="1"/>
          <p:nvPr/>
        </p:nvSpPr>
        <p:spPr>
          <a:xfrm>
            <a:off x="2821246" y="1797226"/>
            <a:ext cx="5552629" cy="4588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Code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的官网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，下载安装包。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圆角矩形 8"/>
          <p:cNvSpPr/>
          <p:nvPr/>
        </p:nvSpPr>
        <p:spPr>
          <a:xfrm>
            <a:off x="984616" y="2799944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7" name="文本框 10"/>
          <p:cNvSpPr txBox="1"/>
          <p:nvPr/>
        </p:nvSpPr>
        <p:spPr>
          <a:xfrm flipH="1">
            <a:off x="1073707" y="2935651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02</a:t>
            </a:r>
          </a:p>
        </p:txBody>
      </p:sp>
      <p:sp>
        <p:nvSpPr>
          <p:cNvPr id="18" name="1"/>
          <p:cNvSpPr txBox="1"/>
          <p:nvPr/>
        </p:nvSpPr>
        <p:spPr>
          <a:xfrm>
            <a:off x="2821246" y="2709087"/>
            <a:ext cx="8890078" cy="8742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找到安装包并双击以运行安装程序，按照安装向导的提示逐步操作。安装完成后，启动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Code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，即可进入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Code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的初始界面，如图。</a:t>
            </a:r>
          </a:p>
        </p:txBody>
      </p:sp>
      <p:sp>
        <p:nvSpPr>
          <p:cNvPr id="22" name="矩形 21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VS Code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182" y="3716965"/>
            <a:ext cx="3996070" cy="29970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03</a:t>
            </a:r>
          </a:p>
        </p:txBody>
      </p:sp>
      <p:sp>
        <p:nvSpPr>
          <p:cNvPr id="10" name="1"/>
          <p:cNvSpPr txBox="1"/>
          <p:nvPr/>
        </p:nvSpPr>
        <p:spPr>
          <a:xfrm>
            <a:off x="2821246" y="1557226"/>
            <a:ext cx="8818087" cy="128960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安装中文插件。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Code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默认使用的语言是英文，如果想要切换为中文，首先单击左侧边栏中的     按钮进入插件界面，然后在搜索框中输入关键词“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Chinese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找到中文插件，如图。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VS Code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pic>
        <p:nvPicPr>
          <p:cNvPr id="16386" name="Picture 2" descr="C:\Users\16366\AppData\Local\Temp\ksohtml13348\wps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544" y="2129323"/>
            <a:ext cx="179870" cy="209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381" y="3213026"/>
            <a:ext cx="3900371" cy="223173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844" y="4138516"/>
            <a:ext cx="4006868" cy="2292668"/>
          </a:xfrm>
          <a:prstGeom prst="rect">
            <a:avLst/>
          </a:prstGeom>
        </p:spPr>
      </p:pic>
      <p:sp>
        <p:nvSpPr>
          <p:cNvPr id="19" name="圆角右箭头 9"/>
          <p:cNvSpPr/>
          <p:nvPr/>
        </p:nvSpPr>
        <p:spPr>
          <a:xfrm flipV="1">
            <a:off x="6527948" y="5540110"/>
            <a:ext cx="791662" cy="763093"/>
          </a:xfrm>
          <a:prstGeom prst="bentArrow">
            <a:avLst/>
          </a:prstGeom>
          <a:solidFill>
            <a:srgbClr val="1369B2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框 5"/>
          <p:cNvSpPr txBox="1"/>
          <p:nvPr/>
        </p:nvSpPr>
        <p:spPr>
          <a:xfrm>
            <a:off x="4535803" y="5752419"/>
            <a:ext cx="2260386" cy="33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Install”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04</a:t>
            </a:r>
          </a:p>
        </p:txBody>
      </p:sp>
      <p:sp>
        <p:nvSpPr>
          <p:cNvPr id="10" name="1"/>
          <p:cNvSpPr txBox="1"/>
          <p:nvPr/>
        </p:nvSpPr>
        <p:spPr>
          <a:xfrm>
            <a:off x="2821246" y="1618909"/>
            <a:ext cx="8818087" cy="128960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 Server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插件。安装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 Server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插件，首先单击图所示界面左侧边栏的     按钮进入插件界面，然后在搜索框中输入关键词“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 Server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 Server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插件，单击“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”按钮进行安装。安装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Live Server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插件的界面如图。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VS Code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pic>
        <p:nvPicPr>
          <p:cNvPr id="21506" name="Picture 2" descr="C:\Users\16366\AppData\Local\Temp\ksohtml13348\wps1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3399" y="1795732"/>
            <a:ext cx="201912" cy="20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277" y="2997052"/>
            <a:ext cx="6429288" cy="36787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05</a:t>
            </a:r>
          </a:p>
        </p:txBody>
      </p:sp>
      <p:sp>
        <p:nvSpPr>
          <p:cNvPr id="10" name="1"/>
          <p:cNvSpPr txBox="1"/>
          <p:nvPr/>
        </p:nvSpPr>
        <p:spPr>
          <a:xfrm>
            <a:off x="2821246" y="1618909"/>
            <a:ext cx="8818087" cy="17050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创建项目文件夹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D:\workspace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目录下创建一个项目文件夹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chapter01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，该文件夹用于保存本项目所有的文件。打开项目文件夹。在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Code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的菜单栏中选择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“文件”→“打开文件夹”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，然后选择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D:\workspace\chapter01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文件夹。打开文件夹后的界面如图。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VS Code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182" y="3141035"/>
            <a:ext cx="5366269" cy="35651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06</a:t>
            </a:r>
          </a:p>
        </p:txBody>
      </p:sp>
      <p:sp>
        <p:nvSpPr>
          <p:cNvPr id="10" name="1"/>
          <p:cNvSpPr txBox="1"/>
          <p:nvPr/>
        </p:nvSpPr>
        <p:spPr>
          <a:xfrm>
            <a:off x="2821246" y="1618908"/>
            <a:ext cx="8602113" cy="14226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。单击图“打开文件夹后的界面”中的      按钮，输入要创建的文件名称，例如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index.html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，即可创建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文档。此时创建的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index.html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是一个空白的文档。</a:t>
            </a:r>
          </a:p>
        </p:txBody>
      </p:sp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VS Code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pic>
        <p:nvPicPr>
          <p:cNvPr id="22530" name="Picture 2" descr="C:\Users\16366\AppData\Local\Temp\ksohtml13348\wps1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645" y="1836916"/>
            <a:ext cx="269143" cy="22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053" y="3500991"/>
            <a:ext cx="3074314" cy="296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VS Code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sp>
        <p:nvSpPr>
          <p:cNvPr id="11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2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07</a:t>
            </a:r>
          </a:p>
        </p:txBody>
      </p:sp>
      <p:sp>
        <p:nvSpPr>
          <p:cNvPr id="13" name="1"/>
          <p:cNvSpPr txBox="1"/>
          <p:nvPr/>
        </p:nvSpPr>
        <p:spPr>
          <a:xfrm>
            <a:off x="2821246" y="1557226"/>
            <a:ext cx="8962069" cy="128960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。在空白的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index.html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文件中，确保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Code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已启用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Emmet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语法支持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之后输入“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Code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会给出智能提示，然后按“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键会自动生成一个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文档结构，具体如下。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2946805" y="3063966"/>
            <a:ext cx="8548545" cy="33166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&lt;!DOCTYPE html&gt;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&lt;html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&lt;meta charset="utf-8"&gt;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&lt;meta name="viewport" content="width=device-width, initial-scale=1.0"&gt;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&lt;title&gt;Document&lt;/title&gt;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&lt;body&gt;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&lt;/html&gt;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/>
          <p:nvPr/>
        </p:nvSpPr>
        <p:spPr>
          <a:xfrm>
            <a:off x="1145631" y="266933"/>
            <a:ext cx="3894634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84615" y="842192"/>
            <a:ext cx="3095627" cy="505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VS Code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</a:p>
        </p:txBody>
      </p:sp>
      <p:sp>
        <p:nvSpPr>
          <p:cNvPr id="11" name="圆角矩形 8"/>
          <p:cNvSpPr/>
          <p:nvPr/>
        </p:nvSpPr>
        <p:spPr>
          <a:xfrm>
            <a:off x="984616" y="1701208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2" name="文本框 10"/>
          <p:cNvSpPr txBox="1"/>
          <p:nvPr/>
        </p:nvSpPr>
        <p:spPr>
          <a:xfrm flipH="1">
            <a:off x="1073707" y="1836915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08</a:t>
            </a:r>
          </a:p>
        </p:txBody>
      </p:sp>
      <p:sp>
        <p:nvSpPr>
          <p:cNvPr id="13" name="1"/>
          <p:cNvSpPr txBox="1"/>
          <p:nvPr/>
        </p:nvSpPr>
        <p:spPr>
          <a:xfrm>
            <a:off x="2787387" y="1773199"/>
            <a:ext cx="8962069" cy="4588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编写页面内容。在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&lt;body&gt;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标签中编写页面内容，具体代码如下。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2928381" y="2571342"/>
            <a:ext cx="8135021" cy="12896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Hello World!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</a:p>
        </p:txBody>
      </p:sp>
      <p:sp>
        <p:nvSpPr>
          <p:cNvPr id="8" name="圆角矩形 8"/>
          <p:cNvSpPr/>
          <p:nvPr/>
        </p:nvSpPr>
        <p:spPr>
          <a:xfrm>
            <a:off x="984616" y="4078659"/>
            <a:ext cx="1747538" cy="77303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 flipH="1">
            <a:off x="1073707" y="4214366"/>
            <a:ext cx="1624589" cy="52309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799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 08</a:t>
            </a:r>
          </a:p>
        </p:txBody>
      </p:sp>
      <p:sp>
        <p:nvSpPr>
          <p:cNvPr id="10" name="1"/>
          <p:cNvSpPr txBox="1"/>
          <p:nvPr/>
        </p:nvSpPr>
        <p:spPr>
          <a:xfrm>
            <a:off x="2787387" y="4004931"/>
            <a:ext cx="8563981" cy="128960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运行代码。保存上述代码，并在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index.html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文件中右击，在弹出的快捷菜单中选择“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with Live Server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，在浏览器中打开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index.html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文件，该文件的运行效果如图。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243" y="5012810"/>
            <a:ext cx="4780443" cy="1685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5631" y="266933"/>
            <a:ext cx="5670282" cy="505969"/>
          </a:xfrm>
          <a:prstGeom prst="rect">
            <a:avLst/>
          </a:prstGeom>
        </p:spPr>
        <p:txBody>
          <a:bodyPr lIns="0" tIns="60944" rIns="0" bIns="6094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项目总结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64703" y="1865127"/>
            <a:ext cx="9862595" cy="3867596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199">
              <a:cs typeface="+mn-ea"/>
              <a:sym typeface="+mn-lt"/>
            </a:endParaRPr>
          </a:p>
        </p:txBody>
      </p:sp>
      <p:sp>
        <p:nvSpPr>
          <p:cNvPr id="4" name="TextBox 38"/>
          <p:cNvSpPr txBox="1"/>
          <p:nvPr/>
        </p:nvSpPr>
        <p:spPr>
          <a:xfrm>
            <a:off x="1542548" y="2932973"/>
            <a:ext cx="9232889" cy="17918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（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）了解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网页相关名词和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标准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，对网页形成简单的认识。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（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）熟悉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HTML5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CSS3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的发展过程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，体验这些网页制作语言的用法。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（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）掌握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HBuilder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X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VS Code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的基本操作，能够熟练使用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HBuilder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X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VS Code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创建简单的网页。希望读者以此为开端，认真学习本书的内容。</a:t>
            </a:r>
          </a:p>
        </p:txBody>
      </p:sp>
      <p:sp>
        <p:nvSpPr>
          <p:cNvPr id="5" name="椭圆 4"/>
          <p:cNvSpPr/>
          <p:nvPr/>
        </p:nvSpPr>
        <p:spPr>
          <a:xfrm>
            <a:off x="4385313" y="1505170"/>
            <a:ext cx="718654" cy="71865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7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</a:p>
        </p:txBody>
      </p:sp>
      <p:sp>
        <p:nvSpPr>
          <p:cNvPr id="6" name="椭圆 5"/>
          <p:cNvSpPr/>
          <p:nvPr/>
        </p:nvSpPr>
        <p:spPr>
          <a:xfrm>
            <a:off x="5103966" y="1505170"/>
            <a:ext cx="718654" cy="71865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zh-CN" altLang="en-US" sz="2799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</a:t>
            </a:r>
          </a:p>
        </p:txBody>
      </p:sp>
      <p:sp>
        <p:nvSpPr>
          <p:cNvPr id="7" name="椭圆 6"/>
          <p:cNvSpPr/>
          <p:nvPr/>
        </p:nvSpPr>
        <p:spPr>
          <a:xfrm>
            <a:off x="5822620" y="1505170"/>
            <a:ext cx="718654" cy="71865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zh-CN" altLang="en-US" sz="2799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</a:t>
            </a:r>
          </a:p>
        </p:txBody>
      </p:sp>
      <p:sp>
        <p:nvSpPr>
          <p:cNvPr id="8" name="椭圆 7"/>
          <p:cNvSpPr/>
          <p:nvPr/>
        </p:nvSpPr>
        <p:spPr>
          <a:xfrm>
            <a:off x="6541274" y="1505170"/>
            <a:ext cx="718654" cy="71865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zh-CN" altLang="en-US" sz="2799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dirty="0" err="1"/>
              <a:t>谢谢！下节课见</a:t>
            </a:r>
            <a:endParaRPr sz="4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KSO_WPP_MARK_KEY" val="abc6a601-e99f-4f63-a645-2e01033bbbfd"/>
  <p:tag name="COMMONDATA" val="eyJoZGlkIjoiNWU0Y2RkOTE2OTJlMDlmYzdjMmJjNjNkMTYxYWQyM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859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859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599"/>
  <p:tag name="KSO_WM_TEMPLATE_THUMBS_INDEX" val="1、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5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5"/>
  <p:tag name="KSO_WM_UNIT_SUBTYPE" val="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6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0"/>
  <p:tag name="KSO_WM_UNIT_TYPE" val="f"/>
  <p:tag name="KSO_WM_UNIT_INDEX" val="6"/>
  <p:tag name="KSO_WM_UNIT_SUBTYPE" val="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自定义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3448C"/>
      </a:accent1>
      <a:accent2>
        <a:srgbClr val="03448C"/>
      </a:accent2>
      <a:accent3>
        <a:srgbClr val="03448C"/>
      </a:accent3>
      <a:accent4>
        <a:srgbClr val="03448C"/>
      </a:accent4>
      <a:accent5>
        <a:srgbClr val="03448C"/>
      </a:accent5>
      <a:accent6>
        <a:srgbClr val="03448C"/>
      </a:accent6>
      <a:hlink>
        <a:srgbClr val="009999"/>
      </a:hlink>
      <a:folHlink>
        <a:srgbClr val="99CC00"/>
      </a:folHlink>
    </a:clrScheme>
    <a:fontScheme name="evv32pm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浅色背景职场办公">
  <a:themeElements>
    <a:clrScheme name="简约风浅色背景">
      <a:dk1>
        <a:srgbClr val="000000"/>
      </a:dk1>
      <a:lt1>
        <a:srgbClr val="FFFFFF"/>
      </a:lt1>
      <a:dk2>
        <a:srgbClr val="001548"/>
      </a:dk2>
      <a:lt2>
        <a:srgbClr val="E5ECFF"/>
      </a:lt2>
      <a:accent1>
        <a:srgbClr val="376FFF"/>
      </a:accent1>
      <a:accent2>
        <a:srgbClr val="37AAFF"/>
      </a:accent2>
      <a:accent3>
        <a:srgbClr val="00CAEE"/>
      </a:accent3>
      <a:accent4>
        <a:srgbClr val="00C8B3"/>
      </a:accent4>
      <a:accent5>
        <a:srgbClr val="00DC87"/>
      </a:accent5>
      <a:accent6>
        <a:srgbClr val="00D213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2003</TotalTime>
  <Words>5042</Words>
  <Application>Microsoft Macintosh PowerPoint</Application>
  <PresentationFormat>Widescreen</PresentationFormat>
  <Paragraphs>516</Paragraphs>
  <Slides>55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8" baseType="lpstr">
      <vt:lpstr>等线</vt:lpstr>
      <vt:lpstr>微软雅黑</vt:lpstr>
      <vt:lpstr>宋体</vt:lpstr>
      <vt:lpstr>方正兰亭黑简体</vt:lpstr>
      <vt:lpstr>Arial</vt:lpstr>
      <vt:lpstr>Calibri</vt:lpstr>
      <vt:lpstr>Franklin Gothic Book</vt:lpstr>
      <vt:lpstr>Impact</vt:lpstr>
      <vt:lpstr>Microsoft Sans Serif</vt:lpstr>
      <vt:lpstr>Times New Roman</vt:lpstr>
      <vt:lpstr>Wingdings</vt:lpstr>
      <vt:lpstr>Office 主题​​</vt:lpstr>
      <vt:lpstr>简约风浅色背景职场办公</vt:lpstr>
      <vt:lpstr>PowerPoint Presentation</vt:lpstr>
      <vt:lpstr>课堂规矩</vt:lpstr>
      <vt:lpstr>客户端、服务端区分</vt:lpstr>
      <vt:lpstr>AI 时代，“前端已死”？</vt:lpstr>
      <vt:lpstr>怎么学这门课：四条建议</vt:lpstr>
      <vt:lpstr>课外自学资源：教材远远不够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 的成长史：从 1989 到“活标准”</vt:lpstr>
      <vt:lpstr>PowerPoint Presentation</vt:lpstr>
      <vt:lpstr>CSS 的成长史：CSS1 → CSS2 → CSS3 （ 模块化）</vt:lpstr>
      <vt:lpstr>PowerPoint Presentation</vt:lpstr>
      <vt:lpstr>教材更新：JavaScript 早已不只运行在浏览器里</vt:lpstr>
      <vt:lpstr>JavaScript 的身世：10 天写出来的语言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谢谢！下节课见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jiakai</cp:lastModifiedBy>
  <cp:revision>431</cp:revision>
  <cp:lastPrinted>2021-11-22T08:51:00Z</cp:lastPrinted>
  <dcterms:created xsi:type="dcterms:W3CDTF">2021-11-22T07:08:00Z</dcterms:created>
  <dcterms:modified xsi:type="dcterms:W3CDTF">2026-09-17T06:00:10Z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A0EA79232555475D98CBAC3555324667_13</vt:lpwstr>
  </property>
  <property fmtid="{D5CDD505-2E9C-101B-9397-08002B2CF9AE}" pid="3" name="KSOProductBuildVer">
    <vt:lpwstr>2052-12.1.0.24657</vt:lpwstr>
  </property>
</Properties>
</file>