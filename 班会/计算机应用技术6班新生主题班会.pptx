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26"/>
  </p:notesMasterIdLst>
  <p:handoutMasterIdLst>
    <p:handoutMasterId r:id="rId27"/>
  </p:handoutMasterIdLst>
  <p:sldIdLst>
    <p:sldId id="546" r:id="rId3"/>
    <p:sldId id="547" r:id="rId4"/>
    <p:sldId id="548" r:id="rId5"/>
    <p:sldId id="549" r:id="rId6"/>
    <p:sldId id="550" r:id="rId7"/>
    <p:sldId id="551" r:id="rId8"/>
    <p:sldId id="552" r:id="rId9"/>
    <p:sldId id="553" r:id="rId10"/>
    <p:sldId id="554" r:id="rId11"/>
    <p:sldId id="555" r:id="rId12"/>
    <p:sldId id="556" r:id="rId13"/>
    <p:sldId id="557" r:id="rId14"/>
    <p:sldId id="558" r:id="rId15"/>
    <p:sldId id="559" r:id="rId16"/>
    <p:sldId id="560" r:id="rId17"/>
    <p:sldId id="561" r:id="rId18"/>
    <p:sldId id="562" r:id="rId19"/>
    <p:sldId id="563" r:id="rId20"/>
    <p:sldId id="564" r:id="rId21"/>
    <p:sldId id="565" r:id="rId22"/>
    <p:sldId id="566" r:id="rId23"/>
    <p:sldId id="567" r:id="rId24"/>
    <p:sldId id="568" r:id="rId25"/>
  </p:sldIdLst>
  <p:sldSz cx="12192000" cy="6858000"/>
  <p:notesSz cx="6735763" cy="9866313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3448C"/>
    <a:srgbClr val="2469B5"/>
    <a:srgbClr val="2757A6"/>
    <a:srgbClr val="2561AF"/>
    <a:srgbClr val="2467B4"/>
    <a:srgbClr val="1D92DA"/>
    <a:srgbClr val="1D95DD"/>
    <a:srgbClr val="18B4F8"/>
    <a:srgbClr val="275AA9"/>
    <a:srgbClr val="4A7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16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D0A63-9040-4BB1-807C-AAD8F3981A70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A202F-DB2C-4A0A-A3E7-3150CA7E1D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开场：大家好，我是计算机应用技术6班的班主任顾佳凯，欢迎大家来到广西水利电力职业技术学院信息工程学院。今天下午的班会分四个部分：相互介绍、班委竞选、学生手册带学、班主任交代。整场约两小时，学长学姐也会来分享经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简要说明四个环节及时间：自我介绍约30分钟，班委竞选约30分钟，学生手册带学约40分钟，班主任交代约20分钟。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班主任先做示范性自我介绍（姓名、家乡、兴趣、对大家的期待），然后按座位顺序进行。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提醒大家声音大一点，说完全班鼓掌。班助/班主任记录同学的兴趣特长，方便后面组织活动和竞选班委。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辅导员要求：多调动学生参选。班长、团支书、组织委员、宣传委员、纪律委员这五个岗位要求是团员，其他岗位没有要求。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逐个介绍岗位职责。班长、团支书、组织委员、宣传委员、纪律委员五个岗位须为共青团员（以团员证或智慧团建记录为准）。其他岗位不设条件，生活委员可男女各一名。鼓励每位同学都考虑参选。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参考多所高校和同学讨论的总结。核心观点：当班委值不值，取决于能否帮助你的目标和你能否承担实际工作量。想入党的同学注意，推优入党强调“作用发挥上先进”，班委是重要平台，但不是唯一途径。流程：报名后把名字写到黑板上，站到自己名字前面发言；投票在 QQ 群匿名进行；任期一年，每年改选一次。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强调：新生入学教育有考试，2027年1月在易班线上开卷考试，占入学教育成绩50%。今天只讲精华和关键数字，考前请同学们自己通读手册。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强调考试安排。开卷不等于不用学，题目多是“多少天、多少节、哪一级处分”这类细节，知道在手册哪一部分才找得到。思政类课程（包括新生入学教育、安全教育、军训、劳动教育）不及格会在综测思想品德里每科扣5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重点：注册时限、留级门槛、退学红线、毕业与结业的区别。特别提醒“连续两周不参加教学活动会被退学”和“处分未解除只能结业”。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强调请假流程和旷课的折算方式。一门课旷课累计6节就会被取消考核资格、总评0分——这比处分来得更快。综测里旷课1学时扣1分，迟到早退一次扣0.5分。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强调三条：补考只有一次机会、重修不及格在校期间不能再重修；缺考和作弊都是0分且不能补考；手机、电子手表、手环开考后发现一律按作弊处理，一般作弊直接留校察看，替考开除。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具体行为来讲：喝酒吸烟就是警告起步，翻围墙记过起步，打架先动手直接留校察看，出借银行卡电话卡不仅留校察看还可能触犯帮信罪。受处分期间没有任何奖助学金和评优资格，班委被免职；留校察看期间再犯直接开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宿舍是违纪最集中的地方。归宿时间周日到周四23点、周五周六24点。违规电器一经发现收缴并严重警告起步。留宿异性直接留校察看。文明宿舍每学期评一次，晚归、吸烟、喝酒、打麻将都会扣分。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综测每学年一次，是评奖评优、推优、就业推荐的依据。记住公式和加扣分，尤其是旷课迟到也会扣综测。评优的硬门槛：无不及格、无处分、综测前50%。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自治区人民政府奖学金新生也能申请，综测班级前20%。国奖、励志要大二以上。励志奖学金和国家助学金都需要先通过家庭经济困难认定，每学年申请，材料务必真实，弄虚作假记过以上并收回资金。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第二课堂是必修学分，不修满不能毕业，也不能评优和推优入党。到梦空间上报名活动一定要签到签退，3次未签到进黑名单。想入党的同学：入校后就可以递交入党申请书，团龄满1年且是优秀团员才能被推优。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四件事：校园网使用、防诈骗、锚定方向（专升本/就业）、养成好习惯。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不要明说“翻墙”。讲清楚三点：校园网实名，和你本人绑定；学校按规定定期把上网日志上报广西信息中心检测，访问记录学校领导都能看到；不良网站、未经许可的境外网站和服务（比如 ChatGPT 等）不要去访问，也不要用任何“特殊办法”去试——技术上留下的痕迹比想象的多，一旦被查到就是纪律处分甚至法律责任。同时给出合规替代：国内 AI 工具完全够用。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闲鱼等二手平台的低价陷阱：手机、电动车、演唱会票、游戏账号，一旦要求脱离平台私聊转账、扫码、点链接，百分之百是骗子。特别强调不要出借出租银行卡、电话卡——手册规定留校察看以上，还可能触犯帮助信息网络犯罪活动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大学和高中最大的不同是没人盯着你。请大家在这个学期内想清楚三年后要去哪：专升本还是就业。两条路都好，但路径不同，越早定越省力。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强调三个“多”与“少”：多锻炼、多泡图书馆、多学习；少玩游戏、少呆宿舍。体测成绩计入综测，也是三好学生的门槛。宿舍人多容易分心，学习要去图书馆、自习室。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结束语：接下来请学长学姐分享学习经验，同学们有问题可以现场提问。散会前提醒：明天新生体检和开学典礼直播，按通知时间到场。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48134"/>
            <a:ext cx="4069080" cy="578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4567376" y="303371"/>
            <a:ext cx="3057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天津大学十大优势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285521" y="30337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校园风采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400938" y="3244334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三</a:t>
            </a:r>
            <a:r>
              <a:rPr lang="en-US" altLang="zh-CN" sz="1800" dirty="0"/>
              <a:t>.</a:t>
            </a:r>
            <a:r>
              <a:rPr lang="zh-CN" altLang="en-US" sz="1800" dirty="0"/>
              <a:t>校园风采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12876"/>
            <a:ext cx="5384800" cy="4392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12876"/>
            <a:ext cx="5384800" cy="4392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</a:defRPr>
            </a:lvl1pPr>
          </a:lstStyle>
          <a:p>
            <a:fld id="{C212DB16-11CA-4DC9-A6F9-37826EE1E3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0"/>
            <a:ext cx="11582400" cy="580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</a:defRPr>
            </a:lvl1pPr>
          </a:lstStyle>
          <a:p>
            <a:fld id="{677EABCA-4AD2-44D0-90C8-79F8E6FCD1E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48134"/>
            <a:ext cx="4069080" cy="578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4567376" y="303371"/>
            <a:ext cx="3057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天津大学十大优势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285521" y="30337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校园风采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88000" y="2700000"/>
            <a:ext cx="6300000" cy="252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4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88000" y="1584000"/>
            <a:ext cx="6300000" cy="864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i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88000" y="756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188000" y="5580000"/>
            <a:ext cx="2088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9" name="任意多边形: 形状 8"/>
          <p:cNvSpPr/>
          <p:nvPr userDrawn="1">
            <p:custDataLst>
              <p:tags r:id="rId9"/>
            </p:custDataLst>
          </p:nvPr>
        </p:nvSpPr>
        <p:spPr>
          <a:xfrm>
            <a:off x="8303481" y="1"/>
            <a:ext cx="3888439" cy="2990663"/>
          </a:xfrm>
          <a:custGeom>
            <a:avLst/>
            <a:gdLst>
              <a:gd name="connsiteX0" fmla="*/ 701222 w 3888439"/>
              <a:gd name="connsiteY0" fmla="*/ 0 h 2990663"/>
              <a:gd name="connsiteX1" fmla="*/ 1837804 w 3888439"/>
              <a:gd name="connsiteY1" fmla="*/ 0 h 2990663"/>
              <a:gd name="connsiteX2" fmla="*/ 1073370 w 3888439"/>
              <a:gd name="connsiteY2" fmla="*/ 764434 h 2990663"/>
              <a:gd name="connsiteX3" fmla="*/ 1073369 w 3888439"/>
              <a:gd name="connsiteY3" fmla="*/ 1917293 h 2990663"/>
              <a:gd name="connsiteX4" fmla="*/ 2226228 w 3888439"/>
              <a:gd name="connsiteY4" fmla="*/ 1917293 h 2990663"/>
              <a:gd name="connsiteX5" fmla="*/ 3888439 w 3888439"/>
              <a:gd name="connsiteY5" fmla="*/ 255082 h 2990663"/>
              <a:gd name="connsiteX6" fmla="*/ 3888439 w 3888439"/>
              <a:gd name="connsiteY6" fmla="*/ 1391667 h 2990663"/>
              <a:gd name="connsiteX7" fmla="*/ 2763601 w 3888439"/>
              <a:gd name="connsiteY7" fmla="*/ 2516504 h 2990663"/>
              <a:gd name="connsiteX8" fmla="*/ 474159 w 3888439"/>
              <a:gd name="connsiteY8" fmla="*/ 2516504 h 2990663"/>
              <a:gd name="connsiteX9" fmla="*/ 474159 w 3888439"/>
              <a:gd name="connsiteY9" fmla="*/ 2516505 h 2990663"/>
              <a:gd name="connsiteX10" fmla="*/ 474159 w 3888439"/>
              <a:gd name="connsiteY10" fmla="*/ 227063 h 2990663"/>
              <a:gd name="connsiteX11" fmla="*/ 701222 w 3888439"/>
              <a:gd name="connsiteY11" fmla="*/ 0 h 299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88439" h="2990663">
                <a:moveTo>
                  <a:pt x="701222" y="0"/>
                </a:moveTo>
                <a:lnTo>
                  <a:pt x="1837804" y="0"/>
                </a:lnTo>
                <a:lnTo>
                  <a:pt x="1073370" y="764434"/>
                </a:lnTo>
                <a:cubicBezTo>
                  <a:pt x="755017" y="1082787"/>
                  <a:pt x="755017" y="1598941"/>
                  <a:pt x="1073369" y="1917293"/>
                </a:cubicBezTo>
                <a:cubicBezTo>
                  <a:pt x="1391723" y="2235647"/>
                  <a:pt x="1907876" y="2235648"/>
                  <a:pt x="2226228" y="1917293"/>
                </a:cubicBezTo>
                <a:lnTo>
                  <a:pt x="3888439" y="255082"/>
                </a:lnTo>
                <a:lnTo>
                  <a:pt x="3888439" y="1391667"/>
                </a:lnTo>
                <a:lnTo>
                  <a:pt x="2763601" y="2516504"/>
                </a:lnTo>
                <a:cubicBezTo>
                  <a:pt x="2131388" y="3148717"/>
                  <a:pt x="1106371" y="3148716"/>
                  <a:pt x="474159" y="2516504"/>
                </a:cubicBezTo>
                <a:lnTo>
                  <a:pt x="474159" y="2516505"/>
                </a:lnTo>
                <a:cubicBezTo>
                  <a:pt x="-158053" y="1884293"/>
                  <a:pt x="-158053" y="859275"/>
                  <a:pt x="474159" y="227063"/>
                </a:cubicBezTo>
                <a:lnTo>
                  <a:pt x="701222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140" y="4031014"/>
            <a:ext cx="3367833" cy="2826723"/>
          </a:xfrm>
          <a:custGeom>
            <a:avLst/>
            <a:gdLst>
              <a:gd name="connsiteX0" fmla="*/ 1739345 w 3367833"/>
              <a:gd name="connsiteY0" fmla="*/ 27 h 2826723"/>
              <a:gd name="connsiteX1" fmla="*/ 2879022 w 3367833"/>
              <a:gd name="connsiteY1" fmla="*/ 459570 h 2826723"/>
              <a:gd name="connsiteX2" fmla="*/ 2893839 w 3367833"/>
              <a:gd name="connsiteY2" fmla="*/ 474387 h 2826723"/>
              <a:gd name="connsiteX3" fmla="*/ 2908656 w 3367833"/>
              <a:gd name="connsiteY3" fmla="*/ 489203 h 2826723"/>
              <a:gd name="connsiteX4" fmla="*/ 2893816 w 3367833"/>
              <a:gd name="connsiteY4" fmla="*/ 2763402 h 2826723"/>
              <a:gd name="connsiteX5" fmla="*/ 2830506 w 3367833"/>
              <a:gd name="connsiteY5" fmla="*/ 2826712 h 2826723"/>
              <a:gd name="connsiteX6" fmla="*/ 1693631 w 3367833"/>
              <a:gd name="connsiteY6" fmla="*/ 2826723 h 2826723"/>
              <a:gd name="connsiteX7" fmla="*/ 2294403 w 3367833"/>
              <a:gd name="connsiteY7" fmla="*/ 2225952 h 2826723"/>
              <a:gd name="connsiteX8" fmla="*/ 2294414 w 3367833"/>
              <a:gd name="connsiteY8" fmla="*/ 1073811 h 2826723"/>
              <a:gd name="connsiteX9" fmla="*/ 1141825 w 3367833"/>
              <a:gd name="connsiteY9" fmla="*/ 1073374 h 2826723"/>
              <a:gd name="connsiteX10" fmla="*/ 0 w 3367833"/>
              <a:gd name="connsiteY10" fmla="*/ 2215198 h 2826723"/>
              <a:gd name="connsiteX11" fmla="*/ 11 w 3367833"/>
              <a:gd name="connsiteY11" fmla="*/ 1078324 h 2826723"/>
              <a:gd name="connsiteX12" fmla="*/ 604375 w 3367833"/>
              <a:gd name="connsiteY12" fmla="*/ 473960 h 2826723"/>
              <a:gd name="connsiteX13" fmla="*/ 1739345 w 3367833"/>
              <a:gd name="connsiteY13" fmla="*/ 27 h 28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7833" h="2826723">
                <a:moveTo>
                  <a:pt x="1739345" y="27"/>
                </a:moveTo>
                <a:cubicBezTo>
                  <a:pt x="2150407" y="-2335"/>
                  <a:pt x="2562254" y="150884"/>
                  <a:pt x="2879022" y="459570"/>
                </a:cubicBezTo>
                <a:lnTo>
                  <a:pt x="2893839" y="474387"/>
                </a:lnTo>
                <a:lnTo>
                  <a:pt x="2908656" y="489203"/>
                </a:lnTo>
                <a:cubicBezTo>
                  <a:pt x="3525579" y="1122291"/>
                  <a:pt x="3521079" y="2136139"/>
                  <a:pt x="2893816" y="2763402"/>
                </a:cubicBezTo>
                <a:lnTo>
                  <a:pt x="2830506" y="2826712"/>
                </a:lnTo>
                <a:lnTo>
                  <a:pt x="1693631" y="2826723"/>
                </a:lnTo>
                <a:lnTo>
                  <a:pt x="2294403" y="2225952"/>
                </a:lnTo>
                <a:cubicBezTo>
                  <a:pt x="2612749" y="1907606"/>
                  <a:pt x="2612754" y="1392151"/>
                  <a:pt x="2294414" y="1073811"/>
                </a:cubicBezTo>
                <a:cubicBezTo>
                  <a:pt x="1976075" y="755471"/>
                  <a:pt x="1460171" y="755028"/>
                  <a:pt x="1141825" y="1073374"/>
                </a:cubicBezTo>
                <a:lnTo>
                  <a:pt x="0" y="2215198"/>
                </a:lnTo>
                <a:lnTo>
                  <a:pt x="11" y="1078324"/>
                </a:lnTo>
                <a:lnTo>
                  <a:pt x="604375" y="473960"/>
                </a:lnTo>
                <a:cubicBezTo>
                  <a:pt x="918006" y="160329"/>
                  <a:pt x="1328284" y="2388"/>
                  <a:pt x="1739345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1"/>
            </p:custDataLst>
          </p:nvPr>
        </p:nvSpPr>
        <p:spPr>
          <a:xfrm>
            <a:off x="7951867" y="1"/>
            <a:ext cx="4240054" cy="5117611"/>
          </a:xfrm>
          <a:custGeom>
            <a:avLst/>
            <a:gdLst>
              <a:gd name="connsiteX0" fmla="*/ 2828170 w 4240054"/>
              <a:gd name="connsiteY0" fmla="*/ 0 h 5117611"/>
              <a:gd name="connsiteX1" fmla="*/ 3964752 w 4240054"/>
              <a:gd name="connsiteY1" fmla="*/ 0 h 5117611"/>
              <a:gd name="connsiteX2" fmla="*/ 1073370 w 4240054"/>
              <a:gd name="connsiteY2" fmla="*/ 2891382 h 5117611"/>
              <a:gd name="connsiteX3" fmla="*/ 1073369 w 4240054"/>
              <a:gd name="connsiteY3" fmla="*/ 4044241 h 5117611"/>
              <a:gd name="connsiteX4" fmla="*/ 2226228 w 4240054"/>
              <a:gd name="connsiteY4" fmla="*/ 4044241 h 5117611"/>
              <a:gd name="connsiteX5" fmla="*/ 4240053 w 4240054"/>
              <a:gd name="connsiteY5" fmla="*/ 2030415 h 5117611"/>
              <a:gd name="connsiteX6" fmla="*/ 4240054 w 4240054"/>
              <a:gd name="connsiteY6" fmla="*/ 3166999 h 5117611"/>
              <a:gd name="connsiteX7" fmla="*/ 2763600 w 4240054"/>
              <a:gd name="connsiteY7" fmla="*/ 4643452 h 5117611"/>
              <a:gd name="connsiteX8" fmla="*/ 597109 w 4240054"/>
              <a:gd name="connsiteY8" fmla="*/ 4754583 h 5117611"/>
              <a:gd name="connsiteX9" fmla="*/ 474159 w 4240054"/>
              <a:gd name="connsiteY9" fmla="*/ 4643453 h 5117611"/>
              <a:gd name="connsiteX10" fmla="*/ 363028 w 4240054"/>
              <a:gd name="connsiteY10" fmla="*/ 4520502 h 5117611"/>
              <a:gd name="connsiteX11" fmla="*/ 474159 w 4240054"/>
              <a:gd name="connsiteY11" fmla="*/ 2354011 h 5117611"/>
              <a:gd name="connsiteX12" fmla="*/ 2828170 w 4240054"/>
              <a:gd name="connsiteY12" fmla="*/ 0 h 5117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054" h="5117611">
                <a:moveTo>
                  <a:pt x="2828170" y="0"/>
                </a:moveTo>
                <a:lnTo>
                  <a:pt x="3964752" y="0"/>
                </a:lnTo>
                <a:lnTo>
                  <a:pt x="1073370" y="2891382"/>
                </a:lnTo>
                <a:cubicBezTo>
                  <a:pt x="755017" y="3209735"/>
                  <a:pt x="755017" y="3725889"/>
                  <a:pt x="1073369" y="4044241"/>
                </a:cubicBezTo>
                <a:cubicBezTo>
                  <a:pt x="1391723" y="4362595"/>
                  <a:pt x="1907875" y="4362595"/>
                  <a:pt x="2226228" y="4044241"/>
                </a:cubicBezTo>
                <a:lnTo>
                  <a:pt x="4240053" y="2030415"/>
                </a:lnTo>
                <a:lnTo>
                  <a:pt x="4240054" y="3166999"/>
                </a:lnTo>
                <a:lnTo>
                  <a:pt x="2763600" y="4643452"/>
                </a:lnTo>
                <a:cubicBezTo>
                  <a:pt x="2170901" y="5236151"/>
                  <a:pt x="1232963" y="5273195"/>
                  <a:pt x="597109" y="4754583"/>
                </a:cubicBezTo>
                <a:lnTo>
                  <a:pt x="474159" y="4643453"/>
                </a:lnTo>
                <a:lnTo>
                  <a:pt x="363028" y="4520502"/>
                </a:lnTo>
                <a:cubicBezTo>
                  <a:pt x="-155583" y="3884647"/>
                  <a:pt x="-118540" y="2946710"/>
                  <a:pt x="474159" y="2354011"/>
                </a:cubicBezTo>
                <a:lnTo>
                  <a:pt x="28281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68000" y="874800"/>
            <a:ext cx="3456000" cy="1081088"/>
          </a:xfrm>
          <a:noFill/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0" y="1"/>
            <a:ext cx="3257576" cy="1491245"/>
          </a:xfrm>
          <a:custGeom>
            <a:avLst/>
            <a:gdLst>
              <a:gd name="connsiteX0" fmla="*/ 2403742 w 3257576"/>
              <a:gd name="connsiteY0" fmla="*/ 0 h 1491245"/>
              <a:gd name="connsiteX1" fmla="*/ 3257576 w 3257576"/>
              <a:gd name="connsiteY1" fmla="*/ 0 h 1491245"/>
              <a:gd name="connsiteX2" fmla="*/ 3255663 w 3257576"/>
              <a:gd name="connsiteY2" fmla="*/ 37886 h 1491245"/>
              <a:gd name="connsiteX3" fmla="*/ 1645141 w 3257576"/>
              <a:gd name="connsiteY3" fmla="*/ 1491245 h 1491245"/>
              <a:gd name="connsiteX4" fmla="*/ 0 w 3257576"/>
              <a:gd name="connsiteY4" fmla="*/ 1491245 h 1491245"/>
              <a:gd name="connsiteX5" fmla="*/ 0 w 3257576"/>
              <a:gd name="connsiteY5" fmla="*/ 687558 h 1491245"/>
              <a:gd name="connsiteX6" fmla="*/ 1601415 w 3257576"/>
              <a:gd name="connsiteY6" fmla="*/ 687558 h 1491245"/>
              <a:gd name="connsiteX7" fmla="*/ 2400047 w 3257576"/>
              <a:gd name="connsiteY7" fmla="*/ 36654 h 149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7576" h="1491245">
                <a:moveTo>
                  <a:pt x="2403742" y="0"/>
                </a:moveTo>
                <a:lnTo>
                  <a:pt x="3257576" y="0"/>
                </a:lnTo>
                <a:lnTo>
                  <a:pt x="3255663" y="37886"/>
                </a:lnTo>
                <a:cubicBezTo>
                  <a:pt x="3172760" y="854217"/>
                  <a:pt x="2483344" y="1491245"/>
                  <a:pt x="1645141" y="1491245"/>
                </a:cubicBezTo>
                <a:lnTo>
                  <a:pt x="0" y="1491245"/>
                </a:lnTo>
                <a:lnTo>
                  <a:pt x="0" y="687558"/>
                </a:lnTo>
                <a:lnTo>
                  <a:pt x="1601415" y="687558"/>
                </a:lnTo>
                <a:cubicBezTo>
                  <a:pt x="1995357" y="687558"/>
                  <a:pt x="2324033" y="408124"/>
                  <a:pt x="2400047" y="36654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8581100" y="5555986"/>
            <a:ext cx="3610900" cy="1302015"/>
          </a:xfrm>
          <a:custGeom>
            <a:avLst/>
            <a:gdLst>
              <a:gd name="connsiteX0" fmla="*/ 1580630 w 3610900"/>
              <a:gd name="connsiteY0" fmla="*/ 0 h 1302015"/>
              <a:gd name="connsiteX1" fmla="*/ 3610900 w 3610900"/>
              <a:gd name="connsiteY1" fmla="*/ 0 h 1302015"/>
              <a:gd name="connsiteX2" fmla="*/ 3610900 w 3610900"/>
              <a:gd name="connsiteY2" fmla="*/ 803685 h 1302015"/>
              <a:gd name="connsiteX3" fmla="*/ 1624357 w 3610900"/>
              <a:gd name="connsiteY3" fmla="*/ 803685 h 1302015"/>
              <a:gd name="connsiteX4" fmla="*/ 873224 w 3610900"/>
              <a:gd name="connsiteY4" fmla="*/ 1301570 h 1302015"/>
              <a:gd name="connsiteX5" fmla="*/ 873086 w 3610900"/>
              <a:gd name="connsiteY5" fmla="*/ 1302015 h 1302015"/>
              <a:gd name="connsiteX6" fmla="*/ 0 w 3610900"/>
              <a:gd name="connsiteY6" fmla="*/ 1302015 h 1302015"/>
              <a:gd name="connsiteX7" fmla="*/ 28733 w 3610900"/>
              <a:gd name="connsiteY7" fmla="*/ 1156534 h 1302015"/>
              <a:gd name="connsiteX8" fmla="*/ 1580630 w 3610900"/>
              <a:gd name="connsiteY8" fmla="*/ 0 h 13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0900" h="1302015">
                <a:moveTo>
                  <a:pt x="1580630" y="0"/>
                </a:moveTo>
                <a:lnTo>
                  <a:pt x="3610900" y="0"/>
                </a:lnTo>
                <a:lnTo>
                  <a:pt x="3610900" y="803685"/>
                </a:lnTo>
                <a:lnTo>
                  <a:pt x="1624357" y="803685"/>
                </a:lnTo>
                <a:cubicBezTo>
                  <a:pt x="1286693" y="803685"/>
                  <a:pt x="996978" y="1008984"/>
                  <a:pt x="873224" y="1301570"/>
                </a:cubicBezTo>
                <a:lnTo>
                  <a:pt x="873086" y="1302015"/>
                </a:lnTo>
                <a:lnTo>
                  <a:pt x="0" y="1302015"/>
                </a:lnTo>
                <a:lnTo>
                  <a:pt x="28733" y="1156534"/>
                </a:lnTo>
                <a:cubicBezTo>
                  <a:pt x="227690" y="487725"/>
                  <a:pt x="847202" y="0"/>
                  <a:pt x="1580630" y="0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76000" y="3546000"/>
            <a:ext cx="8640000" cy="1404000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015000" y="1512000"/>
            <a:ext cx="8162000" cy="180000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5400" b="1">
                <a:solidFill>
                  <a:schemeClr val="tx1">
                    <a:alpha val="68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0" y="4345312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2"/>
            </p:custDataLst>
          </p:nvPr>
        </p:nvSpPr>
        <p:spPr>
          <a:xfrm>
            <a:off x="0" y="3971178"/>
            <a:ext cx="3368041" cy="2886822"/>
          </a:xfrm>
          <a:custGeom>
            <a:avLst/>
            <a:gdLst>
              <a:gd name="connsiteX0" fmla="*/ 1749162 w 3368041"/>
              <a:gd name="connsiteY0" fmla="*/ 1 h 2886822"/>
              <a:gd name="connsiteX1" fmla="*/ 2893883 w 3368041"/>
              <a:gd name="connsiteY1" fmla="*/ 474160 h 2886822"/>
              <a:gd name="connsiteX2" fmla="*/ 2893882 w 3368041"/>
              <a:gd name="connsiteY2" fmla="*/ 474161 h 2886822"/>
              <a:gd name="connsiteX3" fmla="*/ 2893882 w 3368041"/>
              <a:gd name="connsiteY3" fmla="*/ 2763603 h 2886822"/>
              <a:gd name="connsiteX4" fmla="*/ 2770663 w 3368041"/>
              <a:gd name="connsiteY4" fmla="*/ 2886822 h 2886822"/>
              <a:gd name="connsiteX5" fmla="*/ 1634078 w 3368041"/>
              <a:gd name="connsiteY5" fmla="*/ 2886822 h 2886822"/>
              <a:gd name="connsiteX6" fmla="*/ 2294671 w 3368041"/>
              <a:gd name="connsiteY6" fmla="*/ 2226229 h 2886822"/>
              <a:gd name="connsiteX7" fmla="*/ 2294671 w 3368041"/>
              <a:gd name="connsiteY7" fmla="*/ 1073371 h 2886822"/>
              <a:gd name="connsiteX8" fmla="*/ 1718242 w 3368041"/>
              <a:gd name="connsiteY8" fmla="*/ 834606 h 2886822"/>
              <a:gd name="connsiteX9" fmla="*/ 1141812 w 3368041"/>
              <a:gd name="connsiteY9" fmla="*/ 1073371 h 2886822"/>
              <a:gd name="connsiteX10" fmla="*/ 0 w 3368041"/>
              <a:gd name="connsiteY10" fmla="*/ 2215183 h 2886822"/>
              <a:gd name="connsiteX11" fmla="*/ 0 w 3368041"/>
              <a:gd name="connsiteY11" fmla="*/ 1078600 h 2886822"/>
              <a:gd name="connsiteX12" fmla="*/ 604441 w 3368041"/>
              <a:gd name="connsiteY12" fmla="*/ 474160 h 2886822"/>
              <a:gd name="connsiteX13" fmla="*/ 1749162 w 3368041"/>
              <a:gd name="connsiteY13" fmla="*/ 1 h 288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8041" h="2886822">
                <a:moveTo>
                  <a:pt x="1749162" y="1"/>
                </a:moveTo>
                <a:cubicBezTo>
                  <a:pt x="2163469" y="0"/>
                  <a:pt x="2577777" y="158053"/>
                  <a:pt x="2893883" y="474160"/>
                </a:cubicBezTo>
                <a:lnTo>
                  <a:pt x="2893882" y="474161"/>
                </a:lnTo>
                <a:cubicBezTo>
                  <a:pt x="3526094" y="1106373"/>
                  <a:pt x="3526094" y="2131391"/>
                  <a:pt x="2893882" y="2763603"/>
                </a:cubicBezTo>
                <a:lnTo>
                  <a:pt x="2770663" y="2886822"/>
                </a:lnTo>
                <a:lnTo>
                  <a:pt x="1634078" y="2886822"/>
                </a:lnTo>
                <a:lnTo>
                  <a:pt x="2294671" y="2226229"/>
                </a:lnTo>
                <a:cubicBezTo>
                  <a:pt x="2613024" y="1907876"/>
                  <a:pt x="2613024" y="1391724"/>
                  <a:pt x="2294671" y="1073371"/>
                </a:cubicBezTo>
                <a:cubicBezTo>
                  <a:pt x="2135495" y="914195"/>
                  <a:pt x="1926868" y="834606"/>
                  <a:pt x="1718242" y="834606"/>
                </a:cubicBezTo>
                <a:cubicBezTo>
                  <a:pt x="1509615" y="834606"/>
                  <a:pt x="1300989" y="914194"/>
                  <a:pt x="1141812" y="1073371"/>
                </a:cubicBezTo>
                <a:lnTo>
                  <a:pt x="0" y="2215183"/>
                </a:lnTo>
                <a:lnTo>
                  <a:pt x="0" y="1078600"/>
                </a:lnTo>
                <a:lnTo>
                  <a:pt x="604441" y="474160"/>
                </a:lnTo>
                <a:cubicBezTo>
                  <a:pt x="920547" y="158053"/>
                  <a:pt x="1334855" y="0"/>
                  <a:pt x="1749162" y="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08800" y="1944000"/>
            <a:ext cx="6408000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08800" y="828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108800" y="40932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47" name="图形 45"/>
          <p:cNvSpPr/>
          <p:nvPr>
            <p:custDataLst>
              <p:tags r:id="rId9"/>
            </p:custDataLst>
          </p:nvPr>
        </p:nvSpPr>
        <p:spPr>
          <a:xfrm>
            <a:off x="9070308" y="0"/>
            <a:ext cx="3121692" cy="5295900"/>
          </a:xfrm>
          <a:custGeom>
            <a:avLst/>
            <a:gdLst>
              <a:gd name="connsiteX0" fmla="*/ 2257901 w 2342673"/>
              <a:gd name="connsiteY0" fmla="*/ 0 h 3974306"/>
              <a:gd name="connsiteX1" fmla="*/ 2342674 w 2342673"/>
              <a:gd name="connsiteY1" fmla="*/ 0 h 3974306"/>
              <a:gd name="connsiteX2" fmla="*/ 2342674 w 2342673"/>
              <a:gd name="connsiteY2" fmla="*/ 767715 h 3974306"/>
              <a:gd name="connsiteX3" fmla="*/ 805339 w 2342673"/>
              <a:gd name="connsiteY3" fmla="*/ 2304098 h 3974306"/>
              <a:gd name="connsiteX4" fmla="*/ 805339 w 2342673"/>
              <a:gd name="connsiteY4" fmla="*/ 3168968 h 3974306"/>
              <a:gd name="connsiteX5" fmla="*/ 1670209 w 2342673"/>
              <a:gd name="connsiteY5" fmla="*/ 3168968 h 3974306"/>
              <a:gd name="connsiteX6" fmla="*/ 2342674 w 2342673"/>
              <a:gd name="connsiteY6" fmla="*/ 2496503 h 3974306"/>
              <a:gd name="connsiteX7" fmla="*/ 2342674 w 2342673"/>
              <a:gd name="connsiteY7" fmla="*/ 3348990 h 3974306"/>
              <a:gd name="connsiteX8" fmla="*/ 2073116 w 2342673"/>
              <a:gd name="connsiteY8" fmla="*/ 3618548 h 3974306"/>
              <a:gd name="connsiteX9" fmla="*/ 355759 w 2342673"/>
              <a:gd name="connsiteY9" fmla="*/ 3618548 h 3974306"/>
              <a:gd name="connsiteX10" fmla="*/ 355759 w 2342673"/>
              <a:gd name="connsiteY10" fmla="*/ 3618548 h 3974306"/>
              <a:gd name="connsiteX11" fmla="*/ 355759 w 2342673"/>
              <a:gd name="connsiteY11" fmla="*/ 1901190 h 3974306"/>
              <a:gd name="connsiteX12" fmla="*/ 2257901 w 2342673"/>
              <a:gd name="connsiteY12" fmla="*/ 0 h 397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42673" h="3974306">
                <a:moveTo>
                  <a:pt x="2257901" y="0"/>
                </a:moveTo>
                <a:lnTo>
                  <a:pt x="2342674" y="0"/>
                </a:lnTo>
                <a:lnTo>
                  <a:pt x="2342674" y="767715"/>
                </a:lnTo>
                <a:lnTo>
                  <a:pt x="805339" y="2304098"/>
                </a:lnTo>
                <a:cubicBezTo>
                  <a:pt x="566261" y="2543175"/>
                  <a:pt x="566261" y="2929890"/>
                  <a:pt x="805339" y="3168968"/>
                </a:cubicBezTo>
                <a:cubicBezTo>
                  <a:pt x="1044416" y="3408045"/>
                  <a:pt x="1431131" y="3408045"/>
                  <a:pt x="1670209" y="3168968"/>
                </a:cubicBezTo>
                <a:lnTo>
                  <a:pt x="2342674" y="2496503"/>
                </a:lnTo>
                <a:lnTo>
                  <a:pt x="2342674" y="3348990"/>
                </a:lnTo>
                <a:lnTo>
                  <a:pt x="2073116" y="3618548"/>
                </a:lnTo>
                <a:cubicBezTo>
                  <a:pt x="1598771" y="4092893"/>
                  <a:pt x="830104" y="4092893"/>
                  <a:pt x="355759" y="3618548"/>
                </a:cubicBezTo>
                <a:lnTo>
                  <a:pt x="355759" y="3618548"/>
                </a:lnTo>
                <a:cubicBezTo>
                  <a:pt x="-118586" y="3144203"/>
                  <a:pt x="-118586" y="2375535"/>
                  <a:pt x="355759" y="1901190"/>
                </a:cubicBezTo>
                <a:lnTo>
                  <a:pt x="22579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任意多边形: 形状 6"/>
          <p:cNvSpPr/>
          <p:nvPr userDrawn="1">
            <p:custDataLst>
              <p:tags r:id="rId10"/>
            </p:custDataLst>
          </p:nvPr>
        </p:nvSpPr>
        <p:spPr>
          <a:xfrm>
            <a:off x="9281163" y="0"/>
            <a:ext cx="2910837" cy="3267626"/>
          </a:xfrm>
          <a:custGeom>
            <a:avLst/>
            <a:gdLst>
              <a:gd name="connsiteX0" fmla="*/ 978185 w 2910837"/>
              <a:gd name="connsiteY0" fmla="*/ 0 h 3267626"/>
              <a:gd name="connsiteX1" fmla="*/ 2114766 w 2910837"/>
              <a:gd name="connsiteY1" fmla="*/ 1 h 3267626"/>
              <a:gd name="connsiteX2" fmla="*/ 1073370 w 2910837"/>
              <a:gd name="connsiteY2" fmla="*/ 1041397 h 3267626"/>
              <a:gd name="connsiteX3" fmla="*/ 1073370 w 2910837"/>
              <a:gd name="connsiteY3" fmla="*/ 2194256 h 3267626"/>
              <a:gd name="connsiteX4" fmla="*/ 2226228 w 2910837"/>
              <a:gd name="connsiteY4" fmla="*/ 2194256 h 3267626"/>
              <a:gd name="connsiteX5" fmla="*/ 2910837 w 2910837"/>
              <a:gd name="connsiteY5" fmla="*/ 1509647 h 3267626"/>
              <a:gd name="connsiteX6" fmla="*/ 2910837 w 2910837"/>
              <a:gd name="connsiteY6" fmla="*/ 2646231 h 3267626"/>
              <a:gd name="connsiteX7" fmla="*/ 2763601 w 2910837"/>
              <a:gd name="connsiteY7" fmla="*/ 2793466 h 3267626"/>
              <a:gd name="connsiteX8" fmla="*/ 597110 w 2910837"/>
              <a:gd name="connsiteY8" fmla="*/ 2904597 h 3267626"/>
              <a:gd name="connsiteX9" fmla="*/ 474160 w 2910837"/>
              <a:gd name="connsiteY9" fmla="*/ 2793467 h 3267626"/>
              <a:gd name="connsiteX10" fmla="*/ 363029 w 2910837"/>
              <a:gd name="connsiteY10" fmla="*/ 2670516 h 3267626"/>
              <a:gd name="connsiteX11" fmla="*/ 474160 w 2910837"/>
              <a:gd name="connsiteY11" fmla="*/ 504025 h 3267626"/>
              <a:gd name="connsiteX12" fmla="*/ 978185 w 2910837"/>
              <a:gd name="connsiteY12" fmla="*/ 0 h 326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0837" h="3267626">
                <a:moveTo>
                  <a:pt x="978185" y="0"/>
                </a:moveTo>
                <a:lnTo>
                  <a:pt x="2114766" y="1"/>
                </a:lnTo>
                <a:lnTo>
                  <a:pt x="1073370" y="1041397"/>
                </a:lnTo>
                <a:cubicBezTo>
                  <a:pt x="755017" y="1359749"/>
                  <a:pt x="755017" y="1875903"/>
                  <a:pt x="1073370" y="2194256"/>
                </a:cubicBezTo>
                <a:cubicBezTo>
                  <a:pt x="1391723" y="2512609"/>
                  <a:pt x="1907876" y="2512609"/>
                  <a:pt x="2226228" y="2194256"/>
                </a:cubicBezTo>
                <a:lnTo>
                  <a:pt x="2910837" y="1509647"/>
                </a:lnTo>
                <a:lnTo>
                  <a:pt x="2910837" y="2646231"/>
                </a:lnTo>
                <a:lnTo>
                  <a:pt x="2763601" y="2793466"/>
                </a:lnTo>
                <a:cubicBezTo>
                  <a:pt x="2170902" y="3386166"/>
                  <a:pt x="1232964" y="3423210"/>
                  <a:pt x="597110" y="2904597"/>
                </a:cubicBezTo>
                <a:lnTo>
                  <a:pt x="474160" y="2793467"/>
                </a:lnTo>
                <a:lnTo>
                  <a:pt x="363029" y="2670516"/>
                </a:lnTo>
                <a:cubicBezTo>
                  <a:pt x="-155583" y="2034662"/>
                  <a:pt x="-118540" y="1096724"/>
                  <a:pt x="474160" y="504025"/>
                </a:cubicBezTo>
                <a:lnTo>
                  <a:pt x="978185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0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8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02DE9-0492-451E-AF67-9AF24A86E00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9"/>
            </p:custDataLst>
          </p:nvPr>
        </p:nvSpPr>
        <p:spPr>
          <a:xfrm>
            <a:off x="10493375" y="0"/>
            <a:ext cx="1698625" cy="1416050"/>
          </a:xfrm>
          <a:custGeom>
            <a:avLst/>
            <a:gdLst>
              <a:gd name="connsiteX0" fmla="*/ 245177 w 2478363"/>
              <a:gd name="connsiteY0" fmla="*/ 0 h 2064784"/>
              <a:gd name="connsiteX1" fmla="*/ 1332458 w 2478363"/>
              <a:gd name="connsiteY1" fmla="*/ 1 h 2064784"/>
              <a:gd name="connsiteX2" fmla="*/ 969061 w 2478363"/>
              <a:gd name="connsiteY2" fmla="*/ 363398 h 2064784"/>
              <a:gd name="connsiteX3" fmla="*/ 905436 w 2478363"/>
              <a:gd name="connsiteY3" fmla="*/ 987699 h 2064784"/>
              <a:gd name="connsiteX4" fmla="*/ 969061 w 2478363"/>
              <a:gd name="connsiteY4" fmla="*/ 1065590 h 2064784"/>
              <a:gd name="connsiteX5" fmla="*/ 1046951 w 2478363"/>
              <a:gd name="connsiteY5" fmla="*/ 1129215 h 2064784"/>
              <a:gd name="connsiteX6" fmla="*/ 1671253 w 2478363"/>
              <a:gd name="connsiteY6" fmla="*/ 1065589 h 2064784"/>
              <a:gd name="connsiteX7" fmla="*/ 2478363 w 2478363"/>
              <a:gd name="connsiteY7" fmla="*/ 258481 h 2064784"/>
              <a:gd name="connsiteX8" fmla="*/ 2478362 w 2478363"/>
              <a:gd name="connsiteY8" fmla="*/ 1436994 h 2064784"/>
              <a:gd name="connsiteX9" fmla="*/ 2233837 w 2478363"/>
              <a:gd name="connsiteY9" fmla="*/ 1681519 h 2064784"/>
              <a:gd name="connsiteX10" fmla="*/ 383266 w 2478363"/>
              <a:gd name="connsiteY10" fmla="*/ 1681519 h 2064784"/>
              <a:gd name="connsiteX11" fmla="*/ 215587 w 2478363"/>
              <a:gd name="connsiteY11" fmla="*/ 36224 h 2064784"/>
              <a:gd name="connsiteX12" fmla="*/ 245177 w 2478363"/>
              <a:gd name="connsiteY12" fmla="*/ 0 h 206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363" h="2064784">
                <a:moveTo>
                  <a:pt x="245177" y="0"/>
                </a:moveTo>
                <a:lnTo>
                  <a:pt x="1332458" y="1"/>
                </a:lnTo>
                <a:lnTo>
                  <a:pt x="969061" y="363398"/>
                </a:lnTo>
                <a:cubicBezTo>
                  <a:pt x="799394" y="533064"/>
                  <a:pt x="778186" y="794972"/>
                  <a:pt x="905436" y="987699"/>
                </a:cubicBezTo>
                <a:lnTo>
                  <a:pt x="969061" y="1065590"/>
                </a:lnTo>
                <a:lnTo>
                  <a:pt x="1046951" y="1129215"/>
                </a:lnTo>
                <a:cubicBezTo>
                  <a:pt x="1239678" y="1256464"/>
                  <a:pt x="1501586" y="1235256"/>
                  <a:pt x="1671253" y="1065589"/>
                </a:cubicBezTo>
                <a:lnTo>
                  <a:pt x="2478363" y="258481"/>
                </a:lnTo>
                <a:lnTo>
                  <a:pt x="2478362" y="1436994"/>
                </a:lnTo>
                <a:lnTo>
                  <a:pt x="2233837" y="1681519"/>
                </a:lnTo>
                <a:cubicBezTo>
                  <a:pt x="1722816" y="2192540"/>
                  <a:pt x="894287" y="2192540"/>
                  <a:pt x="383266" y="1681519"/>
                </a:cubicBezTo>
                <a:cubicBezTo>
                  <a:pt x="-63877" y="1234376"/>
                  <a:pt x="-119770" y="544141"/>
                  <a:pt x="215587" y="36224"/>
                </a:cubicBezTo>
                <a:lnTo>
                  <a:pt x="24517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4.xml"/><Relationship Id="rId7" Type="http://schemas.openxmlformats.org/officeDocument/2006/relationships/image" Target="../media/image4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slideLayout" Target="../slideLayouts/slideLayout21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59"/>
          <a:stretch>
            <a:fillRect/>
          </a:stretch>
        </p:blipFill>
        <p:spPr>
          <a:xfrm>
            <a:off x="-141605" y="0"/>
            <a:ext cx="12414250" cy="6318250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140970" y="1334135"/>
            <a:ext cx="12413615" cy="2463165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-17145" y="1297305"/>
            <a:ext cx="12208510" cy="250126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kern="1400" spc="3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信息工程学院  ·  计算机应用技术6班</a:t>
            </a:r>
            <a:endParaRPr lang="en-US" sz="6200" b="1" kern="1400" spc="5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6000" b="1" kern="1400" spc="5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新生主题班会</a:t>
            </a:r>
            <a:endParaRPr lang="en-US" sz="6200" b="1" kern="1400" spc="5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200" b="0" kern="1400" spc="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相互介绍  ·  班委竞选  ·  学生手册带学  ·  班主任交代</a:t>
            </a:r>
            <a:endParaRPr lang="en-US" sz="6200" b="1" kern="1400" spc="5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-200660" y="4105275"/>
            <a:ext cx="125660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班主任：顾佳凯    2026年9月13日</a:t>
            </a:r>
            <a:endParaRPr lang="zh-CN" altLang="en-US" sz="32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广西水利电力标识【白边】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30" y="148590"/>
            <a:ext cx="4882515" cy="856615"/>
          </a:xfrm>
          <a:prstGeom prst="rect">
            <a:avLst/>
          </a:prstGeom>
        </p:spPr>
      </p:pic>
      <p:pic>
        <p:nvPicPr>
          <p:cNvPr id="7" name="图片 6" descr="插画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0960" y="4996180"/>
            <a:ext cx="12256770" cy="192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725930" y="2754630"/>
            <a:ext cx="647700" cy="6477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2646680" y="2754630"/>
            <a:ext cx="3176270" cy="647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自我介绍</a:t>
            </a:r>
          </a:p>
        </p:txBody>
      </p:sp>
      <p:sp>
        <p:nvSpPr>
          <p:cNvPr id="5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757035" y="2754630"/>
            <a:ext cx="647700" cy="6477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8" name="项标题"/>
          <p:cNvSpPr txBox="1"/>
          <p:nvPr>
            <p:custDataLst>
              <p:tags r:id="rId6"/>
            </p:custDataLst>
          </p:nvPr>
        </p:nvSpPr>
        <p:spPr>
          <a:xfrm>
            <a:off x="7677785" y="2754630"/>
            <a:ext cx="3176270" cy="647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班委竞选</a:t>
            </a:r>
          </a:p>
        </p:txBody>
      </p:sp>
      <p:sp>
        <p:nvSpPr>
          <p:cNvPr id="10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725930" y="4248150"/>
            <a:ext cx="647700" cy="6477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11" name="项标题"/>
          <p:cNvSpPr txBox="1"/>
          <p:nvPr>
            <p:custDataLst>
              <p:tags r:id="rId8"/>
            </p:custDataLst>
          </p:nvPr>
        </p:nvSpPr>
        <p:spPr>
          <a:xfrm>
            <a:off x="2646680" y="4248150"/>
            <a:ext cx="3176270" cy="647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学生手册带学</a:t>
            </a:r>
          </a:p>
        </p:txBody>
      </p:sp>
      <p:sp>
        <p:nvSpPr>
          <p:cNvPr id="13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757035" y="4248150"/>
            <a:ext cx="647700" cy="6477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14" name="项标题"/>
          <p:cNvSpPr txBox="1"/>
          <p:nvPr>
            <p:custDataLst>
              <p:tags r:id="rId10"/>
            </p:custDataLst>
          </p:nvPr>
        </p:nvSpPr>
        <p:spPr>
          <a:xfrm>
            <a:off x="7677785" y="4248150"/>
            <a:ext cx="3176270" cy="647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班主任交代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自我介绍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0" y="4990000"/>
            <a:ext cx="8640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5A6478"/>
                </a:solidFill>
              </a:rPr>
              <a:t>先认识彼此，未来三年一起走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自我介绍：每人 1 分钟，说清这几件事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3120" y="14264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752" y="137160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姓名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752" y="1810512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怎么称呼你？名字有什么含义或有趣的故事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6672" y="1261872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43832" y="14264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8464" y="137160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来自哪里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8464" y="1810512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家乡在哪、有什么特色（美食、风景、方言）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5960" y="2843784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3120" y="3008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7752" y="2953512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毕业学校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7752" y="3392424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高中 / 中职，来自哪所学校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6672" y="2843784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43832" y="3008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8464" y="2953512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兴趣爱好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8464" y="3392424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运动、游戏、音乐、摄影、编程、手工……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960" y="4425696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312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7752" y="4535424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一个标签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7752" y="4974336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用一个词或一句话形容自己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6672" y="4425696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43832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8464" y="4535424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001548"/>
                </a:solidFill>
              </a:rPr>
              <a:t>大学目标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8464" y="4974336"/>
            <a:ext cx="2514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三年里最想完成的一件事（专升本、拿证、实习、比赛……）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8824" y="1261872"/>
            <a:ext cx="403453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08824" y="1261872"/>
            <a:ext cx="4034536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小规则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1976" y="1700784"/>
            <a:ext cx="3888232" cy="23134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按座位顺序，每人 </a:t>
            </a:r>
            <a:r>
              <a:rPr sz="1300" b="1">
                <a:solidFill>
                  <a:srgbClr val="001548"/>
                </a:solidFill>
              </a:rPr>
              <a:t>1 分钟</a:t>
            </a:r>
            <a:r>
              <a:rPr sz="1300" b="0">
                <a:solidFill>
                  <a:srgbClr val="2B2B2B"/>
                </a:solidFill>
              </a:rPr>
              <a:t>，站到讲台前说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声音洪亮，看着同学说，说完 </a:t>
            </a:r>
            <a:r>
              <a:rPr sz="1300" b="1">
                <a:solidFill>
                  <a:srgbClr val="001548"/>
                </a:solidFill>
              </a:rPr>
              <a:t>全班鼓掌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班主任先示范，班助记录大家的特长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手机收起来，认真听同学介绍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8824" y="4233672"/>
            <a:ext cx="403453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08824" y="4233672"/>
            <a:ext cx="4034536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小任务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1976" y="4672584"/>
            <a:ext cx="3888232" cy="1307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今天至少记住 </a:t>
            </a:r>
            <a:r>
              <a:rPr sz="1300" b="1">
                <a:solidFill>
                  <a:srgbClr val="001548"/>
                </a:solidFill>
              </a:rPr>
              <a:t>3 位新同学</a:t>
            </a:r>
            <a:r>
              <a:rPr sz="1300" b="0">
                <a:solidFill>
                  <a:srgbClr val="2B2B2B"/>
                </a:solidFill>
              </a:rPr>
              <a:t> 的名字和家乡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找到 1 位和你 </a:t>
            </a:r>
            <a:r>
              <a:rPr sz="1300" b="1">
                <a:solidFill>
                  <a:srgbClr val="001548"/>
                </a:solidFill>
              </a:rPr>
              <a:t>兴趣相同</a:t>
            </a:r>
            <a:r>
              <a:rPr sz="1300" b="0">
                <a:solidFill>
                  <a:srgbClr val="2B2B2B"/>
                </a:solidFill>
              </a:rPr>
              <a:t> 的同学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班委竞选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0" y="4990000"/>
            <a:ext cx="8640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5A6478"/>
                </a:solidFill>
              </a:rPr>
              <a:t>班级是大家的，需要一批愿意做事的人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班委岗位一览：你适合哪一个？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95960" y="1261872"/>
          <a:ext cx="10799999" cy="4183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7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岗位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主要做什么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班长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对接班主任、辅导员，传达通知，组织班会与班级事务，协调各班委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6FFF"/>
                          </a:solidFill>
                        </a:rPr>
                        <a:t>共青团员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副班长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协助班长，分管考勤、活动等日常事务，班长不在时代行职责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团支书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团日活动、团员管理与团费、智慧团建、推优入党等团务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6FFF"/>
                          </a:solidFill>
                        </a:rPr>
                        <a:t>共青团员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组织委员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协助团支书组织活动，统计报名与签到，整理活动记录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6FFF"/>
                          </a:solidFill>
                        </a:rPr>
                        <a:t>共青团员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宣传委员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海报、推文、活动报道，拍照剪辑，班级宣传阵地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6FFF"/>
                          </a:solidFill>
                        </a:rPr>
                        <a:t>共青团员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纪律委员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课堂、自习、集体活动的纪律与考勤记录，配合老师做好日常纪律管理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6FFF"/>
                          </a:solidFill>
                        </a:rPr>
                        <a:t>共青团员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文艺委员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文艺节目、晚会报名与排练，动员同学参与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心理委员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心理健康宣传，朋辈关怀，发现情况及时联系老师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生活委员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班费管理与公示，采购，宿舍与生活问题反馈（可男女各一名）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劳动委员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劳动课考勤与安排，组织卫生大扫除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体育委员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体育课集合，运动会报名，体测组织，带动日常锻炼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学习委员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对接任课老师，收发作业，考试通知，课堂考勤，反馈学习问题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就业委员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收集发布实习、招聘信息，组织简历与职业规划活动，统计实习就业情况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易班班长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班级易班建设：注册率、活动发布、线上学习与考试通知（入学教育考试就在易班）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</a:rPr>
                        <a:t>不限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5960" y="5504688"/>
            <a:ext cx="10800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5A6478"/>
                </a:solidFill>
              </a:rPr>
              <a:t>班长、团支书、组织委员、宣传委员、纪律委员 5 个岗位须为 </a:t>
            </a:r>
            <a:r>
              <a:rPr sz="1250" b="1">
                <a:solidFill>
                  <a:srgbClr val="001548"/>
                </a:solidFill>
              </a:rPr>
              <a:t>共青团员</a:t>
            </a:r>
            <a:r>
              <a:rPr sz="1250" b="0">
                <a:solidFill>
                  <a:srgbClr val="5A6478"/>
                </a:solidFill>
              </a:rPr>
              <a:t>，其余岗位不设条件；生活委员可男女各一名。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当班委：能收获什么、要付出什么、怎么选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345643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3456432" cy="384048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能收获什么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3310128" cy="22677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真实的做事机会：组织活动、把通知说清楚、整理材料、处理分歧，</a:t>
            </a:r>
            <a:r>
              <a:rPr sz="1250" b="1">
                <a:solidFill>
                  <a:srgbClr val="001548"/>
                </a:solidFill>
              </a:rPr>
              <a:t>沟通与组织能力</a:t>
            </a:r>
            <a:r>
              <a:rPr sz="1250" b="0">
                <a:solidFill>
                  <a:srgbClr val="2B2B2B"/>
                </a:solidFill>
              </a:rPr>
              <a:t>练出来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更熟悉老师和学校办事流程，</a:t>
            </a:r>
            <a:r>
              <a:rPr sz="1250" b="1">
                <a:solidFill>
                  <a:srgbClr val="001548"/>
                </a:solidFill>
              </a:rPr>
              <a:t>信息更早、更全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手册里的硬收益：担任班委计入第二课堂 </a:t>
            </a:r>
            <a:r>
              <a:rPr sz="1250" b="1">
                <a:solidFill>
                  <a:srgbClr val="001548"/>
                </a:solidFill>
              </a:rPr>
              <a:t>“工作履历”学分</a:t>
            </a:r>
            <a:r>
              <a:rPr sz="1250" b="0">
                <a:solidFill>
                  <a:srgbClr val="2B2B2B"/>
                </a:solidFill>
              </a:rPr>
              <a:t>；每班有 </a:t>
            </a:r>
            <a:r>
              <a:rPr sz="1250" b="1">
                <a:solidFill>
                  <a:srgbClr val="001548"/>
                </a:solidFill>
              </a:rPr>
              <a:t>2 个优秀学生干部</a:t>
            </a:r>
            <a:r>
              <a:rPr sz="1250" b="0">
                <a:solidFill>
                  <a:srgbClr val="2B2B2B"/>
                </a:solidFill>
              </a:rPr>
              <a:t> 名额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推优入党看“作用发挥”，班委是重要的 </a:t>
            </a:r>
            <a:r>
              <a:rPr sz="1250" b="1">
                <a:solidFill>
                  <a:srgbClr val="001548"/>
                </a:solidFill>
              </a:rPr>
              <a:t>锻炼平台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5272" y="1261872"/>
            <a:ext cx="345643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5272" y="1261872"/>
            <a:ext cx="3456432" cy="38404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要付出什么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8424" y="1700784"/>
            <a:ext cx="3310128" cy="22677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时间被切碎：一张表本身 10 分钟，等回复、核对、催交要很久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夹在老师要求和同学意见之间，需要 </a:t>
            </a:r>
            <a:r>
              <a:rPr sz="1250" b="1">
                <a:solidFill>
                  <a:srgbClr val="001548"/>
                </a:solidFill>
              </a:rPr>
              <a:t>原则</a:t>
            </a:r>
            <a:r>
              <a:rPr sz="1250" b="0">
                <a:solidFill>
                  <a:srgbClr val="2B2B2B"/>
                </a:solidFill>
              </a:rPr>
              <a:t> 和 </a:t>
            </a:r>
            <a:r>
              <a:rPr sz="1250" b="1">
                <a:solidFill>
                  <a:srgbClr val="001548"/>
                </a:solidFill>
              </a:rPr>
              <a:t>耐心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头衔不等于奖学金：评奖仍看 </a:t>
            </a:r>
            <a:r>
              <a:rPr sz="1250" b="1">
                <a:solidFill>
                  <a:srgbClr val="001548"/>
                </a:solidFill>
              </a:rPr>
              <a:t>成绩和综测</a:t>
            </a:r>
            <a:r>
              <a:rPr sz="1250" b="0">
                <a:solidFill>
                  <a:srgbClr val="2B2B2B"/>
                </a:solidFill>
              </a:rPr>
              <a:t>（学业奖学金要成绩班级前 9%）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受处分会被 </a:t>
            </a:r>
            <a:r>
              <a:rPr sz="1250" b="1">
                <a:solidFill>
                  <a:srgbClr val="001548"/>
                </a:solidFill>
              </a:rPr>
              <a:t>免去职务</a:t>
            </a:r>
            <a:r>
              <a:rPr sz="1250" b="0">
                <a:solidFill>
                  <a:srgbClr val="2B2B2B"/>
                </a:solidFill>
              </a:rPr>
              <a:t>，班委更要带头守规矩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4584" y="1261872"/>
            <a:ext cx="345643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74584" y="1261872"/>
            <a:ext cx="3456432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怎么选岗位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7736" y="1700784"/>
            <a:ext cx="3310128" cy="22677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想 </a:t>
            </a:r>
            <a:r>
              <a:rPr sz="1250" b="1">
                <a:solidFill>
                  <a:srgbClr val="001548"/>
                </a:solidFill>
              </a:rPr>
              <a:t>专升本 / 考证</a:t>
            </a:r>
            <a:r>
              <a:rPr sz="1250" b="0">
                <a:solidFill>
                  <a:srgbClr val="2B2B2B"/>
                </a:solidFill>
              </a:rPr>
              <a:t>、时间紧：选职责明确的岗位，先保学习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想练 </a:t>
            </a:r>
            <a:r>
              <a:rPr sz="1250" b="1">
                <a:solidFill>
                  <a:srgbClr val="001548"/>
                </a:solidFill>
              </a:rPr>
              <a:t>沟通组织</a:t>
            </a:r>
            <a:r>
              <a:rPr sz="1250" b="0">
                <a:solidFill>
                  <a:srgbClr val="2B2B2B"/>
                </a:solidFill>
              </a:rPr>
              <a:t>：班长、团支书，前提是愿意处理琐事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喜欢 </a:t>
            </a:r>
            <a:r>
              <a:rPr sz="1250" b="1">
                <a:solidFill>
                  <a:srgbClr val="001548"/>
                </a:solidFill>
              </a:rPr>
              <a:t>设计、拍照、剪辑</a:t>
            </a:r>
            <a:r>
              <a:rPr sz="1250" b="0">
                <a:solidFill>
                  <a:srgbClr val="2B2B2B"/>
                </a:solidFill>
              </a:rPr>
              <a:t>：宣传委员，兴趣变作品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竞选前想清楚：每周固定任务、最忙时段、任期怎么安排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5960" y="4206240"/>
            <a:ext cx="2562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5960" y="4206240"/>
            <a:ext cx="2562840" cy="54864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400" y="4315968"/>
            <a:ext cx="2379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500" b="1">
                <a:solidFill>
                  <a:srgbClr val="376FFF"/>
                </a:solidFill>
              </a:rPr>
              <a:t>① 报名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4663440"/>
            <a:ext cx="23799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现场举手或上台报名，可多人竞选同一岗位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1680" y="4206240"/>
            <a:ext cx="2562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41680" y="4206240"/>
            <a:ext cx="2562840" cy="54864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3120" y="4315968"/>
            <a:ext cx="2379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500" b="1">
                <a:solidFill>
                  <a:srgbClr val="376FFF"/>
                </a:solidFill>
              </a:rPr>
              <a:t>② 竞选发言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3120" y="4663440"/>
            <a:ext cx="23799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先把 </a:t>
            </a:r>
            <a:r>
              <a:rPr sz="1200" b="1">
                <a:solidFill>
                  <a:srgbClr val="001548"/>
                </a:solidFill>
              </a:rPr>
              <a:t>名字写在黑板上</a:t>
            </a:r>
            <a:r>
              <a:rPr sz="1200" b="0">
                <a:solidFill>
                  <a:srgbClr val="2B2B2B"/>
                </a:solidFill>
              </a:rPr>
              <a:t>，站到名字前面；1 分钟：我是谁、竞选什么、为什么合适、打算做什么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400" y="4206240"/>
            <a:ext cx="2562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400" y="4206240"/>
            <a:ext cx="2562840" cy="54864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78840" y="4315968"/>
            <a:ext cx="2379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500" b="1">
                <a:solidFill>
                  <a:srgbClr val="376FFF"/>
                </a:solidFill>
              </a:rPr>
              <a:t>③ 投票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840" y="4663440"/>
            <a:ext cx="23799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001548"/>
                </a:solidFill>
              </a:rPr>
              <a:t>QQ 群匿名投票</a:t>
            </a:r>
            <a:r>
              <a:rPr sz="1200" b="0">
                <a:solidFill>
                  <a:srgbClr val="2B2B2B"/>
                </a:solidFill>
              </a:rPr>
              <a:t>，得票高者当选；班主任、辅导员综合确定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33120" y="4206240"/>
            <a:ext cx="2562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120" y="4206240"/>
            <a:ext cx="2562840" cy="54864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4560" y="4315968"/>
            <a:ext cx="2379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500" b="1">
                <a:solidFill>
                  <a:srgbClr val="376FFF"/>
                </a:solidFill>
              </a:rPr>
              <a:t>④ 任期与改选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4560" y="4663440"/>
            <a:ext cx="23799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任期 </a:t>
            </a:r>
            <a:r>
              <a:rPr sz="1200" b="1">
                <a:solidFill>
                  <a:srgbClr val="001548"/>
                </a:solidFill>
              </a:rPr>
              <a:t>1 年，每年改选一次</a:t>
            </a:r>
            <a:r>
              <a:rPr sz="1200" b="0">
                <a:solidFill>
                  <a:srgbClr val="2B2B2B"/>
                </a:solidFill>
              </a:rPr>
              <a:t>，让更多同学得到锻炼；空缺岗位后续补选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学生手册带学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0" y="4990000"/>
            <a:ext cx="8640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5A6478"/>
                </a:solidFill>
              </a:rPr>
              <a:t>只讲精华 · 期末要考 · 请认真学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为什么要认真学《学生手册》：会考试，而且和你息息相关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10800000" cy="1234440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109728" cy="1234440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6000" y="1371600"/>
            <a:ext cx="292608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sz="1500" b="0">
                <a:solidFill>
                  <a:srgbClr val="BFD3FF"/>
                </a:solidFill>
              </a:rPr>
              <a:t>新生入学教育考核</a:t>
            </a:r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sz="2000" b="1">
                <a:solidFill>
                  <a:srgbClr val="FFFFFF"/>
                </a:solidFill>
              </a:rPr>
              <a:t>2027 年 1 月 · 易班线上开卷考试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9240" y="1371600"/>
            <a:ext cx="71424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FFFFFF"/>
                </a:solidFill>
              </a:rPr>
              <a:t>成绩 = </a:t>
            </a:r>
            <a:r>
              <a:rPr sz="1400" b="1">
                <a:solidFill>
                  <a:srgbClr val="FFD166"/>
                </a:solidFill>
              </a:rPr>
              <a:t>平时成绩 50%</a:t>
            </a:r>
            <a:r>
              <a:rPr sz="1400" b="0">
                <a:solidFill>
                  <a:srgbClr val="FFFFFF"/>
                </a:solidFill>
              </a:rPr>
              <a:t>（各模块出勤与表现，辅导员评分）+ </a:t>
            </a:r>
            <a:r>
              <a:rPr sz="1400" b="1">
                <a:solidFill>
                  <a:srgbClr val="FFD166"/>
                </a:solidFill>
              </a:rPr>
              <a:t>考试成绩 50%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DCE6FF"/>
                </a:solidFill>
              </a:rPr>
              <a:t>考试范围：学校《章程》、《学生手册》、《学生心理健康自助手册》、《宿舍入住管理》及各讲座内容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DCE6FF"/>
                </a:solidFill>
              </a:rPr>
              <a:t>2026 年 10 月底前完成全部入学教育模块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960" y="2724912"/>
            <a:ext cx="20502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5960" y="2724912"/>
            <a:ext cx="2050272" cy="457200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960" y="2724912"/>
            <a:ext cx="205027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第一部分 学生管理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112" y="3227832"/>
            <a:ext cx="190396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376FFF"/>
                </a:solidFill>
              </a:rPr>
              <a:t>P19–109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112" y="3502152"/>
            <a:ext cx="1903968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学生管理规定、违纪处分、考勤、公寓、综测、评优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3392" y="2724912"/>
            <a:ext cx="20502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3392" y="2724912"/>
            <a:ext cx="2050272" cy="457200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3392" y="2724912"/>
            <a:ext cx="205027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第二部分 教学管理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6544" y="3227832"/>
            <a:ext cx="190396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37AAFF"/>
                </a:solidFill>
              </a:rPr>
              <a:t>P110–261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6544" y="3502152"/>
            <a:ext cx="1903968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学籍、学业考核、转专业、考场规则、课堂纪律、实习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0824" y="2724912"/>
            <a:ext cx="20502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70824" y="2724912"/>
            <a:ext cx="2050272" cy="457200"/>
          </a:xfrm>
          <a:prstGeom prst="rect">
            <a:avLst/>
          </a:prstGeom>
          <a:solidFill>
            <a:srgbClr val="00C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0824" y="2724912"/>
            <a:ext cx="205027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第三部分 资助管理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976" y="3227832"/>
            <a:ext cx="190396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00C8B3"/>
                </a:solidFill>
              </a:rPr>
              <a:t>P262–303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976" y="3502152"/>
            <a:ext cx="1903968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困难认定、国奖、励志、助学金、政府奖学金、勤工助学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8256" y="2724912"/>
            <a:ext cx="20502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58256" y="2724912"/>
            <a:ext cx="2050272" cy="457200"/>
          </a:xfrm>
          <a:prstGeom prst="rect">
            <a:avLst/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8256" y="2724912"/>
            <a:ext cx="205027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第四部分 团学管理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1408" y="3227832"/>
            <a:ext cx="190396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00A9D6"/>
                </a:solidFill>
              </a:rPr>
              <a:t>P304–370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1408" y="3502152"/>
            <a:ext cx="1903968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社会实践、社团、推优入党、第二课堂成绩单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45688" y="2724912"/>
            <a:ext cx="20502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45688" y="2724912"/>
            <a:ext cx="2050272" cy="457200"/>
          </a:xfrm>
          <a:prstGeom prst="rect">
            <a:avLst/>
          </a:prstGeom>
          <a:solidFill>
            <a:srgbClr val="5B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45688" y="2724912"/>
            <a:ext cx="205027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第五部分 其他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840" y="3227832"/>
            <a:ext cx="190396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5B7BD5"/>
                </a:solidFill>
              </a:rPr>
              <a:t>P371–390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840" y="3502152"/>
            <a:ext cx="1903968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2B2B2B"/>
                </a:solidFill>
              </a:rPr>
              <a:t>学杂费、户籍、校园环境、教室卫生、热水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960" y="4690872"/>
            <a:ext cx="1080000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8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今天只讲 </a:t>
            </a:r>
            <a:r>
              <a:rPr sz="1300" b="1">
                <a:solidFill>
                  <a:srgbClr val="001548"/>
                </a:solidFill>
              </a:rPr>
              <a:t>精华和关键数字</a:t>
            </a:r>
            <a:r>
              <a:rPr sz="1300" b="0">
                <a:solidFill>
                  <a:srgbClr val="2B2B2B"/>
                </a:solidFill>
              </a:rPr>
              <a:t>，考前请把手册通读一遍。开卷考试考的是“知道在哪一章、哪一条能找到答案”。</a:t>
            </a:r>
          </a:p>
          <a:p>
            <a:pPr marL="164592" indent="-164592" algn="l">
              <a:lnSpc>
                <a:spcPct val="108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思政类课程（含 </a:t>
            </a:r>
            <a:r>
              <a:rPr sz="1300" b="1">
                <a:solidFill>
                  <a:srgbClr val="001548"/>
                </a:solidFill>
              </a:rPr>
              <a:t>新生入学教育、安全教育、军训、劳动教育</a:t>
            </a:r>
            <a:r>
              <a:rPr sz="1300" b="0">
                <a:solidFill>
                  <a:srgbClr val="2B2B2B"/>
                </a:solidFill>
              </a:rPr>
              <a:t>）考核不及格：综测思想品德每科 </a:t>
            </a:r>
            <a:r>
              <a:rPr sz="1300" b="1">
                <a:solidFill>
                  <a:srgbClr val="001548"/>
                </a:solidFill>
              </a:rPr>
              <a:t>扣 5 分</a:t>
            </a:r>
            <a:r>
              <a:rPr sz="1300" b="0">
                <a:solidFill>
                  <a:srgbClr val="2B2B2B"/>
                </a:solidFill>
              </a:rPr>
              <a:t>，还会影响评优。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手册出处：《信息工程学院新生入学教育安排》· 《学生个人综合素质考评办法》P92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学籍管理：记住这些数字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入学与注册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185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每学期开学后 </a:t>
            </a:r>
            <a:r>
              <a:rPr sz="1300" b="1">
                <a:solidFill>
                  <a:srgbClr val="001548"/>
                </a:solidFill>
              </a:rPr>
              <a:t>2 周内</a:t>
            </a:r>
            <a:r>
              <a:rPr sz="1300" b="0">
                <a:solidFill>
                  <a:srgbClr val="2B2B2B"/>
                </a:solidFill>
              </a:rPr>
              <a:t> 完成注册（先缴学费，或办好贷款后申请暂缓注册）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超过期限 </a:t>
            </a:r>
            <a:r>
              <a:rPr sz="1300" b="1">
                <a:solidFill>
                  <a:srgbClr val="001548"/>
                </a:solidFill>
              </a:rPr>
              <a:t>10 个工作日</a:t>
            </a:r>
            <a:r>
              <a:rPr sz="1300" b="0">
                <a:solidFill>
                  <a:srgbClr val="2B2B2B"/>
                </a:solidFill>
              </a:rPr>
              <a:t> 仍未注册：视为放弃学籍，退学处理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新生入学 </a:t>
            </a:r>
            <a:r>
              <a:rPr sz="1300" b="1">
                <a:solidFill>
                  <a:srgbClr val="001548"/>
                </a:solidFill>
              </a:rPr>
              <a:t>3 个月内</a:t>
            </a:r>
            <a:r>
              <a:rPr sz="1300" b="0">
                <a:solidFill>
                  <a:srgbClr val="2B2B2B"/>
                </a:solidFill>
              </a:rPr>
              <a:t> 学籍复查，弄虚作假者取消学籍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标准学制 </a:t>
            </a:r>
            <a:r>
              <a:rPr sz="1300" b="1">
                <a:solidFill>
                  <a:srgbClr val="001548"/>
                </a:solidFill>
              </a:rPr>
              <a:t>3 年</a:t>
            </a:r>
            <a:r>
              <a:rPr sz="1300" b="0">
                <a:solidFill>
                  <a:srgbClr val="2B2B2B"/>
                </a:solidFill>
              </a:rPr>
              <a:t>，弹性学制 </a:t>
            </a:r>
            <a:r>
              <a:rPr sz="1300" b="1">
                <a:solidFill>
                  <a:srgbClr val="001548"/>
                </a:solidFill>
              </a:rPr>
              <a:t>2–6 年</a:t>
            </a:r>
            <a:r>
              <a:rPr sz="1300" b="0">
                <a:solidFill>
                  <a:srgbClr val="2B2B2B"/>
                </a:solidFill>
              </a:rPr>
              <a:t>；休学每次 1 年，累计不超过 3 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留级与退学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185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300" b="1">
                <a:solidFill>
                  <a:srgbClr val="001548"/>
                </a:solidFill>
              </a:rPr>
              <a:t>留级</a:t>
            </a:r>
            <a:r>
              <a:rPr sz="1300" b="0">
                <a:solidFill>
                  <a:srgbClr val="2B2B2B"/>
                </a:solidFill>
              </a:rPr>
              <a:t>：第 2 学期末补考后累计 </a:t>
            </a:r>
            <a:r>
              <a:rPr sz="1300" b="1">
                <a:solidFill>
                  <a:srgbClr val="001548"/>
                </a:solidFill>
              </a:rPr>
              <a:t>5 门</a:t>
            </a:r>
            <a:r>
              <a:rPr sz="1300" b="0">
                <a:solidFill>
                  <a:srgbClr val="2B2B2B"/>
                </a:solidFill>
              </a:rPr>
              <a:t> 不及格，或第 4 学期末累计 </a:t>
            </a:r>
            <a:r>
              <a:rPr sz="1300" b="1">
                <a:solidFill>
                  <a:srgbClr val="001548"/>
                </a:solidFill>
              </a:rPr>
              <a:t>8 门</a:t>
            </a:r>
            <a:r>
              <a:rPr sz="1300" b="0">
                <a:solidFill>
                  <a:srgbClr val="2B2B2B"/>
                </a:solidFill>
              </a:rPr>
              <a:t> 不及格（公选课除外）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300" b="1">
                <a:solidFill>
                  <a:srgbClr val="001548"/>
                </a:solidFill>
              </a:rPr>
              <a:t>退学</a:t>
            </a:r>
            <a:r>
              <a:rPr sz="1300" b="0">
                <a:solidFill>
                  <a:srgbClr val="2B2B2B"/>
                </a:solidFill>
              </a:rPr>
              <a:t>：未经批准连续 </a:t>
            </a:r>
            <a:r>
              <a:rPr sz="1300" b="1">
                <a:solidFill>
                  <a:srgbClr val="001548"/>
                </a:solidFill>
              </a:rPr>
              <a:t>2 周</a:t>
            </a:r>
            <a:r>
              <a:rPr sz="1300" b="0">
                <a:solidFill>
                  <a:srgbClr val="2B2B2B"/>
                </a:solidFill>
              </a:rPr>
              <a:t> 不参加教学活动或离校；超期未注册；学业未达要求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成绩预警：大一累计不及格 </a:t>
            </a:r>
            <a:r>
              <a:rPr sz="1300" b="1">
                <a:solidFill>
                  <a:srgbClr val="001548"/>
                </a:solidFill>
              </a:rPr>
              <a:t>3 门以上</a:t>
            </a:r>
            <a:r>
              <a:rPr sz="1300" b="0">
                <a:solidFill>
                  <a:srgbClr val="2B2B2B"/>
                </a:solidFill>
              </a:rPr>
              <a:t>，学校通知家长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960" y="3776472"/>
            <a:ext cx="5303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5960" y="3776472"/>
            <a:ext cx="5303520" cy="384048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毕业 vs 结业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112" y="4215384"/>
            <a:ext cx="5157216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修完培养方案、成绩合格、达到毕业要求 → </a:t>
            </a:r>
            <a:r>
              <a:rPr sz="1300" b="1">
                <a:solidFill>
                  <a:srgbClr val="001548"/>
                </a:solidFill>
              </a:rPr>
              <a:t>毕业证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课程不及格、处分 </a:t>
            </a:r>
            <a:r>
              <a:rPr sz="1300" b="1">
                <a:solidFill>
                  <a:srgbClr val="001548"/>
                </a:solidFill>
              </a:rPr>
              <a:t>未解除</a:t>
            </a:r>
            <a:r>
              <a:rPr sz="1300" b="0">
                <a:solidFill>
                  <a:srgbClr val="2B2B2B"/>
                </a:solidFill>
              </a:rPr>
              <a:t>、操行综合评定不合格 → 只能 </a:t>
            </a:r>
            <a:r>
              <a:rPr sz="1300" b="1">
                <a:solidFill>
                  <a:srgbClr val="001548"/>
                </a:solidFill>
              </a:rPr>
              <a:t>结业证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结业后在学籍期限内补考合格 / 处分解除后可换发毕业证（每年最多 2 次补考机会）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第二课堂 </a:t>
            </a:r>
            <a:r>
              <a:rPr sz="1300" b="1">
                <a:solidFill>
                  <a:srgbClr val="001548"/>
                </a:solidFill>
              </a:rPr>
              <a:t>6 学分</a:t>
            </a:r>
            <a:r>
              <a:rPr sz="1300" b="0">
                <a:solidFill>
                  <a:srgbClr val="2B2B2B"/>
                </a:solidFill>
              </a:rPr>
              <a:t> 也是毕业条件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504" y="3776472"/>
            <a:ext cx="5303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504" y="3776472"/>
            <a:ext cx="5303520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转专业 / 休学 / 申诉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4656" y="4215384"/>
            <a:ext cx="5157216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转专业需符合条件（退役、疾病、特殊困难、确有专长等），按《转专业实施办法》申请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因病或特殊原因可申请休学，休学期间保留学籍但不享受在校生待遇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对处理、处分不服：收到决定 </a:t>
            </a:r>
            <a:r>
              <a:rPr sz="1300" b="1">
                <a:solidFill>
                  <a:srgbClr val="001548"/>
                </a:solidFill>
              </a:rPr>
              <a:t>10 日内</a:t>
            </a:r>
            <a:r>
              <a:rPr sz="1300" b="0">
                <a:solidFill>
                  <a:srgbClr val="2B2B2B"/>
                </a:solidFill>
              </a:rPr>
              <a:t> 向学校学生申诉处理委员会书面申诉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手册出处：《学生管理规定》P19 · 《学籍管理实施细则》P110 · 《学业考核工作管理办法》P122 · 《学生申诉处理办法》P53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考勤与请假：旷课是最常见的“踩线”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考勤范围与请假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1673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上课、早读、自习、团日、劳动课、军训、集体活动 </a:t>
            </a:r>
            <a:r>
              <a:rPr sz="1300" b="1">
                <a:solidFill>
                  <a:srgbClr val="001548"/>
                </a:solidFill>
              </a:rPr>
              <a:t>全部考勤</a:t>
            </a:r>
            <a:r>
              <a:rPr sz="1300" b="0">
                <a:solidFill>
                  <a:srgbClr val="2B2B2B"/>
                </a:solidFill>
              </a:rPr>
              <a:t>；未请假或超假 = 旷课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请假审批：</a:t>
            </a:r>
            <a:r>
              <a:rPr sz="1300" b="1">
                <a:solidFill>
                  <a:srgbClr val="001548"/>
                </a:solidFill>
              </a:rPr>
              <a:t>1–3 天</a:t>
            </a:r>
            <a:r>
              <a:rPr sz="1300" b="0">
                <a:solidFill>
                  <a:srgbClr val="2B2B2B"/>
                </a:solidFill>
              </a:rPr>
              <a:t> 辅导员 → </a:t>
            </a:r>
            <a:r>
              <a:rPr sz="1300" b="1">
                <a:solidFill>
                  <a:srgbClr val="001548"/>
                </a:solidFill>
              </a:rPr>
              <a:t>4–7 天</a:t>
            </a:r>
            <a:r>
              <a:rPr sz="1300" b="0">
                <a:solidFill>
                  <a:srgbClr val="2B2B2B"/>
                </a:solidFill>
              </a:rPr>
              <a:t> 二级学院 → </a:t>
            </a:r>
            <a:r>
              <a:rPr sz="1300" b="1">
                <a:solidFill>
                  <a:srgbClr val="001548"/>
                </a:solidFill>
              </a:rPr>
              <a:t>8–14 天</a:t>
            </a:r>
            <a:r>
              <a:rPr sz="1300" b="0">
                <a:solidFill>
                  <a:srgbClr val="2B2B2B"/>
                </a:solidFill>
              </a:rPr>
              <a:t> 学工处 → </a:t>
            </a:r>
            <a:r>
              <a:rPr sz="1300" b="1">
                <a:solidFill>
                  <a:srgbClr val="001548"/>
                </a:solidFill>
              </a:rPr>
              <a:t>15–30 天</a:t>
            </a:r>
            <a:r>
              <a:rPr sz="1300" b="0">
                <a:solidFill>
                  <a:srgbClr val="2B2B2B"/>
                </a:solidFill>
              </a:rPr>
              <a:t> 校领导 → 30 天以上办休学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请假要有证明（病历、凭证）；</a:t>
            </a:r>
            <a:r>
              <a:rPr sz="1300" b="1">
                <a:solidFill>
                  <a:srgbClr val="001548"/>
                </a:solidFill>
              </a:rPr>
              <a:t>伪造请假条 / 诊断书 → 记过以上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折算方式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1673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迟到、早退 </a:t>
            </a:r>
            <a:r>
              <a:rPr sz="1300" b="1">
                <a:solidFill>
                  <a:srgbClr val="001548"/>
                </a:solidFill>
              </a:rPr>
              <a:t>15 分钟以上</a:t>
            </a:r>
            <a:r>
              <a:rPr sz="1300" b="0">
                <a:solidFill>
                  <a:srgbClr val="2B2B2B"/>
                </a:solidFill>
              </a:rPr>
              <a:t> = 旷课 1 节；迟到早退累计 </a:t>
            </a:r>
            <a:r>
              <a:rPr sz="1300" b="1">
                <a:solidFill>
                  <a:srgbClr val="001548"/>
                </a:solidFill>
              </a:rPr>
              <a:t>2 次</a:t>
            </a:r>
            <a:r>
              <a:rPr sz="1300" b="0">
                <a:solidFill>
                  <a:srgbClr val="2B2B2B"/>
                </a:solidFill>
              </a:rPr>
              <a:t> = 旷课 1 节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旷课 </a:t>
            </a:r>
            <a:r>
              <a:rPr sz="1300" b="1">
                <a:solidFill>
                  <a:srgbClr val="001548"/>
                </a:solidFill>
              </a:rPr>
              <a:t>1 天 = 6 节</a:t>
            </a:r>
            <a:r>
              <a:rPr sz="1300" b="0">
                <a:solidFill>
                  <a:srgbClr val="2B2B2B"/>
                </a:solidFill>
              </a:rPr>
              <a:t>；实训课迟到 10 分钟以上按旷课论处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一门课累计旷课或早退 </a:t>
            </a:r>
            <a:r>
              <a:rPr sz="1300" b="1">
                <a:solidFill>
                  <a:srgbClr val="001548"/>
                </a:solidFill>
              </a:rPr>
              <a:t>6 节</a:t>
            </a:r>
            <a:r>
              <a:rPr sz="1300" b="0">
                <a:solidFill>
                  <a:srgbClr val="2B2B2B"/>
                </a:solidFill>
              </a:rPr>
              <a:t>、或请假缺课达学时 </a:t>
            </a:r>
            <a:r>
              <a:rPr sz="1300" b="1">
                <a:solidFill>
                  <a:srgbClr val="001548"/>
                </a:solidFill>
              </a:rPr>
              <a:t>1/6</a:t>
            </a:r>
            <a:r>
              <a:rPr sz="1300" b="0">
                <a:solidFill>
                  <a:srgbClr val="2B2B2B"/>
                </a:solidFill>
              </a:rPr>
              <a:t> → </a:t>
            </a:r>
            <a:r>
              <a:rPr sz="1300" b="1">
                <a:solidFill>
                  <a:srgbClr val="001548"/>
                </a:solidFill>
              </a:rPr>
              <a:t>取消考核资格，总评 0 分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300" b="0">
                <a:solidFill>
                  <a:srgbClr val="2B2B2B"/>
                </a:solidFill>
              </a:rPr>
              <a:t>综测：旷课 1 学时 </a:t>
            </a:r>
            <a:r>
              <a:rPr sz="1300" b="1">
                <a:solidFill>
                  <a:srgbClr val="001548"/>
                </a:solidFill>
              </a:rPr>
              <a:t>扣 1 分</a:t>
            </a:r>
            <a:r>
              <a:rPr sz="1300" b="0">
                <a:solidFill>
                  <a:srgbClr val="2B2B2B"/>
                </a:solidFill>
              </a:rPr>
              <a:t>，迟到早退 1 次 </a:t>
            </a:r>
            <a:r>
              <a:rPr sz="1300" b="1">
                <a:solidFill>
                  <a:srgbClr val="001548"/>
                </a:solidFill>
              </a:rPr>
              <a:t>扣 0.5 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960" y="3639312"/>
            <a:ext cx="10800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01548"/>
                </a:solidFill>
              </a:rPr>
              <a:t>一学期累计旷课学时对应的处分（连续两次因旷课受处分的，累计加重）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5960" y="4507992"/>
            <a:ext cx="2006380" cy="1005840"/>
          </a:xfrm>
          <a:prstGeom prst="rect">
            <a:avLst/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5960" y="4507992"/>
            <a:ext cx="200638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</a:rPr>
              <a:t>警告</a:t>
            </a:r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FFFFFF"/>
                </a:solidFill>
              </a:rPr>
              <a:t>10–19 学时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4364" y="4398264"/>
            <a:ext cx="2006380" cy="111556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4364" y="4398264"/>
            <a:ext cx="2006380" cy="11155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</a:rPr>
              <a:t>严重警告</a:t>
            </a:r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FFFFFF"/>
                </a:solidFill>
              </a:rPr>
              <a:t>20–29 学时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2768" y="4288536"/>
            <a:ext cx="2006380" cy="122529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2768" y="4288536"/>
            <a:ext cx="2006380" cy="12252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</a:rPr>
              <a:t>记过</a:t>
            </a:r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FFFFFF"/>
                </a:solidFill>
              </a:rPr>
              <a:t>30–49 学时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1172" y="4178808"/>
            <a:ext cx="2006380" cy="1335024"/>
          </a:xfrm>
          <a:prstGeom prst="rect">
            <a:avLst/>
          </a:prstGeom>
          <a:solidFill>
            <a:srgbClr val="E86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1172" y="4178808"/>
            <a:ext cx="2006380" cy="13350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</a:rPr>
              <a:t>留校察看</a:t>
            </a:r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FFFFFF"/>
                </a:solidFill>
              </a:rPr>
              <a:t>50–59 学时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9576" y="4069080"/>
            <a:ext cx="2006380" cy="1444752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9576" y="4069080"/>
            <a:ext cx="2006380" cy="14447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</a:rPr>
              <a:t>退学处理</a:t>
            </a:r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FFFFFF"/>
                </a:solidFill>
              </a:rPr>
              <a:t>60 学时以上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手册出处：《学生考勤办法》P60 · 《学生违纪处分规定》第二十四条 P36 · 《学业考核工作管理办法》第十一条 P122 · 《课堂教学管理规定》P151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考试、成绩与考场纪律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成绩怎么算、不及格怎么办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19019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考试课 = 平时 </a:t>
            </a:r>
            <a:r>
              <a:rPr sz="1250" b="1">
                <a:solidFill>
                  <a:srgbClr val="001548"/>
                </a:solidFill>
              </a:rPr>
              <a:t>30%</a:t>
            </a:r>
            <a:r>
              <a:rPr sz="1250" b="0">
                <a:solidFill>
                  <a:srgbClr val="2B2B2B"/>
                </a:solidFill>
              </a:rPr>
              <a:t> + 期中 </a:t>
            </a:r>
            <a:r>
              <a:rPr sz="1250" b="1">
                <a:solidFill>
                  <a:srgbClr val="001548"/>
                </a:solidFill>
              </a:rPr>
              <a:t>20%</a:t>
            </a:r>
            <a:r>
              <a:rPr sz="1250" b="0">
                <a:solidFill>
                  <a:srgbClr val="2B2B2B"/>
                </a:solidFill>
              </a:rPr>
              <a:t> + 期末 </a:t>
            </a:r>
            <a:r>
              <a:rPr sz="1250" b="1">
                <a:solidFill>
                  <a:srgbClr val="001548"/>
                </a:solidFill>
              </a:rPr>
              <a:t>50%</a:t>
            </a:r>
            <a:r>
              <a:rPr sz="1250" b="0">
                <a:solidFill>
                  <a:srgbClr val="2B2B2B"/>
                </a:solidFill>
              </a:rPr>
              <a:t>；考查课 = 平时 </a:t>
            </a:r>
            <a:r>
              <a:rPr sz="1250" b="1">
                <a:solidFill>
                  <a:srgbClr val="001548"/>
                </a:solidFill>
              </a:rPr>
              <a:t>50%</a:t>
            </a:r>
            <a:r>
              <a:rPr sz="1250" b="0">
                <a:solidFill>
                  <a:srgbClr val="2B2B2B"/>
                </a:solidFill>
              </a:rPr>
              <a:t> + 期末 </a:t>
            </a:r>
            <a:r>
              <a:rPr sz="1250" b="1">
                <a:solidFill>
                  <a:srgbClr val="001548"/>
                </a:solidFill>
              </a:rPr>
              <a:t>50%</a:t>
            </a:r>
            <a:r>
              <a:rPr sz="1250" b="0">
                <a:solidFill>
                  <a:srgbClr val="2B2B2B"/>
                </a:solidFill>
              </a:rPr>
              <a:t>（老师开课时会说明）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不及格 → 下学期开学初 </a:t>
            </a:r>
            <a:r>
              <a:rPr sz="1250" b="1">
                <a:solidFill>
                  <a:srgbClr val="001548"/>
                </a:solidFill>
              </a:rPr>
              <a:t>补考 1 次</a:t>
            </a:r>
            <a:r>
              <a:rPr sz="1250" b="0">
                <a:solidFill>
                  <a:srgbClr val="2B2B2B"/>
                </a:solidFill>
              </a:rPr>
              <a:t>（及格记 60 分）→ 仍不及格 </a:t>
            </a:r>
            <a:r>
              <a:rPr sz="1250" b="1">
                <a:solidFill>
                  <a:srgbClr val="001548"/>
                </a:solidFill>
              </a:rPr>
              <a:t>只能重修</a:t>
            </a:r>
            <a:r>
              <a:rPr sz="1250" b="0">
                <a:solidFill>
                  <a:srgbClr val="2B2B2B"/>
                </a:solidFill>
              </a:rPr>
              <a:t> → 重修不及格 </a:t>
            </a:r>
            <a:r>
              <a:rPr sz="1250" b="1">
                <a:solidFill>
                  <a:srgbClr val="001548"/>
                </a:solidFill>
              </a:rPr>
              <a:t>在校期间不得再重修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缓考必须 </a:t>
            </a:r>
            <a:r>
              <a:rPr sz="1250" b="1">
                <a:solidFill>
                  <a:srgbClr val="001548"/>
                </a:solidFill>
              </a:rPr>
              <a:t>考前申请</a:t>
            </a:r>
            <a:r>
              <a:rPr sz="1250" b="0">
                <a:solidFill>
                  <a:srgbClr val="2B2B2B"/>
                </a:solidFill>
              </a:rPr>
              <a:t>；缓考不及格不设补考直接重修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1">
                <a:solidFill>
                  <a:srgbClr val="001548"/>
                </a:solidFill>
              </a:rPr>
              <a:t>缺考、违纪、作弊：0 分，且不能补考只能重修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期末考试集中在第 19 周；开考迟到 15 分钟以上视为缺考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考场规则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19019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凭 </a:t>
            </a:r>
            <a:r>
              <a:rPr sz="1250" b="1">
                <a:solidFill>
                  <a:srgbClr val="001548"/>
                </a:solidFill>
              </a:rPr>
              <a:t>学生证 + 身份证</a:t>
            </a:r>
            <a:r>
              <a:rPr sz="1250" b="0">
                <a:solidFill>
                  <a:srgbClr val="2B2B2B"/>
                </a:solidFill>
              </a:rPr>
              <a:t> 提前 15 分钟入场，证件放桌面左上角；丢失学生证要提前到学院开考试证明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50" b="1">
                <a:solidFill>
                  <a:srgbClr val="001548"/>
                </a:solidFill>
              </a:rPr>
              <a:t>手机、电子手表 / 手环、资料、计算器（未允许）</a:t>
            </a:r>
            <a:r>
              <a:rPr sz="1250" b="0">
                <a:solidFill>
                  <a:srgbClr val="2B2B2B"/>
                </a:solidFill>
              </a:rPr>
              <a:t> 一律放物品放置处；开考后发现 → </a:t>
            </a:r>
            <a:r>
              <a:rPr sz="1250" b="1">
                <a:solidFill>
                  <a:srgbClr val="001548"/>
                </a:solidFill>
              </a:rPr>
              <a:t>按作弊论处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开考 </a:t>
            </a:r>
            <a:r>
              <a:rPr sz="1250" b="1">
                <a:solidFill>
                  <a:srgbClr val="001548"/>
                </a:solidFill>
              </a:rPr>
              <a:t>40 分钟后</a:t>
            </a:r>
            <a:r>
              <a:rPr sz="1250" b="0">
                <a:solidFill>
                  <a:srgbClr val="2B2B2B"/>
                </a:solidFill>
              </a:rPr>
              <a:t> 才能交卷；试卷不得做任何标记，不得带出草稿纸、答题卡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50" b="0">
                <a:solidFill>
                  <a:srgbClr val="2B2B2B"/>
                </a:solidFill>
              </a:rPr>
              <a:t>考试课用蓝黑色笔答题；服从监考安排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960" y="3867912"/>
            <a:ext cx="10800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01548"/>
                </a:solidFill>
              </a:rPr>
              <a:t>考试违纪、作弊的处分（成绩 0 分之外的纪律处分）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5960" y="4251960"/>
          <a:ext cx="1079999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3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行为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处分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带规定外物品未放指定位置、未按座位就坐、提前答题 / 结束后继续答题、擅自离场、带走试卷草稿纸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1548"/>
                          </a:solidFill>
                        </a:rPr>
                        <a:t>警告至严重警告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带与考试内容相关的资料或电子设备、抄袭或协助抄袭、带有收发信息功能的设备、旁窥、交头接耳、传接物品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1548"/>
                          </a:solidFill>
                        </a:rPr>
                        <a:t>留校察看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替考或被替考、组织团伙作弊、向考场外传题、用设备接收信息作弊、出售试题答案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1548"/>
                          </a:solidFill>
                        </a:rPr>
                        <a:t>开除学籍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手册出处：《学业考核工作管理办法》P122 · 《考场规则》P149 · 《学生违纪处分规定》第二十五条 P36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违纪处分：五档处分与常见“红线”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2072217" cy="658368"/>
          </a:xfrm>
          <a:prstGeom prst="rect">
            <a:avLst/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5960" y="1261872"/>
            <a:ext cx="2072217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警告</a:t>
            </a:r>
          </a:p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</a:rPr>
              <a:t>处分期 6 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2877905" y="1261872"/>
            <a:ext cx="2072217" cy="65836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77905" y="1261872"/>
            <a:ext cx="2072217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严重警告</a:t>
            </a:r>
          </a:p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</a:rPr>
              <a:t>处分期 6 个月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9850" y="1261872"/>
            <a:ext cx="2072217" cy="65836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59850" y="1261872"/>
            <a:ext cx="2072217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记过</a:t>
            </a:r>
          </a:p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</a:rPr>
              <a:t>处分期 9 个月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1795" y="1261872"/>
            <a:ext cx="2072217" cy="658368"/>
          </a:xfrm>
          <a:prstGeom prst="rect">
            <a:avLst/>
          </a:prstGeom>
          <a:solidFill>
            <a:srgbClr val="E86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41795" y="1261872"/>
            <a:ext cx="2072217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留校察看</a:t>
            </a:r>
          </a:p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</a:rPr>
              <a:t>处分期 1 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23740" y="1261872"/>
            <a:ext cx="2072217" cy="65836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23740" y="1261872"/>
            <a:ext cx="2072217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开除学籍</a:t>
            </a:r>
          </a:p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</a:rPr>
              <a:t>处分期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60" y="1975104"/>
            <a:ext cx="10800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2B2B2B"/>
                </a:solidFill>
              </a:rPr>
              <a:t>受处分期间：</a:t>
            </a:r>
            <a:r>
              <a:rPr sz="1250" b="1">
                <a:solidFill>
                  <a:srgbClr val="001548"/>
                </a:solidFill>
              </a:rPr>
              <a:t>取消所有奖助学金与荣誉评选资格、停发剩余奖助金、学生干部免职</a:t>
            </a:r>
            <a:r>
              <a:rPr sz="1250" b="0">
                <a:solidFill>
                  <a:srgbClr val="2B2B2B"/>
                </a:solidFill>
              </a:rPr>
              <a:t>；留校察看期间再违纪 → 开除；一学期 2 次通报批评 → 警告；两条以上违纪按最高一级加重一级。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95960" y="2542032"/>
          <a:ext cx="1079999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3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处分起点</a:t>
                      </a:r>
                    </a:p>
                  </a:txBody>
                  <a:tcPr marL="64008" marR="64008" marT="27432" marB="27432" anchor="ctr">
                    <a:solidFill>
                      <a:srgbClr val="0015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典型行为（节选）</a:t>
                      </a:r>
                    </a:p>
                  </a:txBody>
                  <a:tcPr marL="64008" marR="64008" marT="27432" marB="27432" anchor="ctr">
                    <a:solidFill>
                      <a:srgbClr val="0015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F86FF"/>
                          </a:solidFill>
                        </a:rPr>
                        <a:t>警告以上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校园内喝酒、在非吸烟区（含宿舍）吸烟；乱涂乱画、擅自张贴；未经允许在校内骑电动车、摩托车；破坏花草；不诚信、编造虚假信息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76FFF"/>
                          </a:solidFill>
                        </a:rPr>
                        <a:t>严重警告以上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扰乱课堂、食堂、宿舍秩序；宿舍打麻将、大声喧哗经教育不改；高空抛物；校内摆摊经营；携带易燃易爆物品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08C00"/>
                          </a:solidFill>
                        </a:rPr>
                        <a:t>记过以上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翻越围墙；酗酒闹事、猜码打砸；伪造证件、篡改成绩；参与赌博（含网络赌博）；传播淫秽、反动内容；发布代考代写信息；网络造谣、攻击系统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8642C"/>
                          </a:solidFill>
                        </a:rPr>
                        <a:t>留校察看以上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打架先动手或带头；出借、出租、买卖 </a:t>
                      </a:r>
                      <a:r>
                        <a:rPr sz="1250" b="1">
                          <a:solidFill>
                            <a:srgbClr val="001548"/>
                          </a:solidFill>
                        </a:rPr>
                        <a:t>银行卡、电话卡</a:t>
                      </a:r>
                      <a:r>
                        <a:rPr sz="1250" b="0">
                          <a:solidFill>
                            <a:srgbClr val="2B2B2B"/>
                          </a:solidFill>
                        </a:rPr>
                        <a:t>，参与传销、网贷、电信诈骗及提供技术帮助；受治安处罚（罚款、拘留）；携带管制刀具；抄袭剽窃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0483E"/>
                          </a:solidFill>
                        </a:rPr>
                        <a:t>开除学籍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刑事犯罪；治安处罚情节严重；替考、组织作弊；非法集会、加入非法组织；蓄意伤害他人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手册出处：《学生违纪处分规定》（桂水电院学〔2026〕45 号）P36 · 《学生管理规定》第五章 P19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宿舍管理：晚归、用电、留宿是三大高发问题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34564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3456432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作息与出入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3310128" cy="24048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归宿时间：</a:t>
            </a:r>
            <a:r>
              <a:rPr sz="1280" b="1">
                <a:solidFill>
                  <a:srgbClr val="001548"/>
                </a:solidFill>
              </a:rPr>
              <a:t>周日–周四 23:00 前</a:t>
            </a:r>
            <a:r>
              <a:rPr sz="1280" b="0">
                <a:solidFill>
                  <a:srgbClr val="2B2B2B"/>
                </a:solidFill>
              </a:rPr>
              <a:t>，</a:t>
            </a:r>
            <a:r>
              <a:rPr sz="1280" b="1">
                <a:solidFill>
                  <a:srgbClr val="001548"/>
                </a:solidFill>
              </a:rPr>
              <a:t>周五–周六 24:00 前</a:t>
            </a:r>
            <a:r>
              <a:rPr sz="1280" b="0">
                <a:solidFill>
                  <a:srgbClr val="2B2B2B"/>
                </a:solidFill>
              </a:rPr>
              <a:t>；超时即晚归，需登记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晚归：1 次 </a:t>
            </a:r>
            <a:r>
              <a:rPr sz="1280" b="1">
                <a:solidFill>
                  <a:srgbClr val="001548"/>
                </a:solidFill>
              </a:rPr>
              <a:t>警告</a:t>
            </a:r>
            <a:r>
              <a:rPr sz="1280" b="0">
                <a:solidFill>
                  <a:srgbClr val="2B2B2B"/>
                </a:solidFill>
              </a:rPr>
              <a:t> → 2 次 </a:t>
            </a:r>
            <a:r>
              <a:rPr sz="1280" b="1">
                <a:solidFill>
                  <a:srgbClr val="001548"/>
                </a:solidFill>
              </a:rPr>
              <a:t>严重警告</a:t>
            </a:r>
            <a:r>
              <a:rPr sz="1280" b="0">
                <a:solidFill>
                  <a:srgbClr val="2B2B2B"/>
                </a:solidFill>
              </a:rPr>
              <a:t> → 3 次以上 </a:t>
            </a:r>
            <a:r>
              <a:rPr sz="1280" b="1">
                <a:solidFill>
                  <a:srgbClr val="001548"/>
                </a:solidFill>
              </a:rPr>
              <a:t>记过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夜不归宿：1 次 </a:t>
            </a:r>
            <a:r>
              <a:rPr sz="1280" b="1">
                <a:solidFill>
                  <a:srgbClr val="001548"/>
                </a:solidFill>
              </a:rPr>
              <a:t>严重警告</a:t>
            </a:r>
            <a:r>
              <a:rPr sz="1280" b="0">
                <a:solidFill>
                  <a:srgbClr val="2B2B2B"/>
                </a:solidFill>
              </a:rPr>
              <a:t> → 2 次 </a:t>
            </a:r>
            <a:r>
              <a:rPr sz="1280" b="1">
                <a:solidFill>
                  <a:srgbClr val="001548"/>
                </a:solidFill>
              </a:rPr>
              <a:t>记过</a:t>
            </a:r>
            <a:r>
              <a:rPr sz="1280" b="0">
                <a:solidFill>
                  <a:srgbClr val="2B2B2B"/>
                </a:solidFill>
              </a:rPr>
              <a:t> → 3 次以上 </a:t>
            </a:r>
            <a:r>
              <a:rPr sz="1280" b="1">
                <a:solidFill>
                  <a:srgbClr val="001548"/>
                </a:solidFill>
              </a:rPr>
              <a:t>留校察看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随身携带学生证 / 校牌；禁止攀爬围墙、水管进出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5272" y="1261872"/>
            <a:ext cx="34564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5272" y="1261872"/>
            <a:ext cx="3456432" cy="38404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用电与消防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8424" y="1700784"/>
            <a:ext cx="3310128" cy="24048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禁止 </a:t>
            </a:r>
            <a:r>
              <a:rPr sz="1280" b="1">
                <a:solidFill>
                  <a:srgbClr val="001548"/>
                </a:solidFill>
              </a:rPr>
              <a:t>功率超 1000W</a:t>
            </a:r>
            <a:r>
              <a:rPr sz="1280" b="0">
                <a:solidFill>
                  <a:srgbClr val="2B2B2B"/>
                </a:solidFill>
              </a:rPr>
              <a:t> 电器及热得快、电炉、电磁炉、电饭锅、微波炉等炊具；禁明火、私拉电线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一经发现 </a:t>
            </a:r>
            <a:r>
              <a:rPr sz="1280" b="1">
                <a:solidFill>
                  <a:srgbClr val="001548"/>
                </a:solidFill>
              </a:rPr>
              <a:t>当即收缴</a:t>
            </a:r>
            <a:r>
              <a:rPr sz="1280" b="0">
                <a:solidFill>
                  <a:srgbClr val="2B2B2B"/>
                </a:solidFill>
              </a:rPr>
              <a:t>，严重警告以上；引发火警火灾 </a:t>
            </a:r>
            <a:r>
              <a:rPr sz="1280" b="1">
                <a:solidFill>
                  <a:srgbClr val="001548"/>
                </a:solidFill>
              </a:rPr>
              <a:t>记过以上</a:t>
            </a:r>
            <a:r>
              <a:rPr sz="1280" b="0">
                <a:solidFill>
                  <a:srgbClr val="2B2B2B"/>
                </a:solidFill>
              </a:rPr>
              <a:t> 并赔偿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禁止在宿舍 </a:t>
            </a:r>
            <a:r>
              <a:rPr sz="1280" b="1">
                <a:solidFill>
                  <a:srgbClr val="001548"/>
                </a:solidFill>
              </a:rPr>
              <a:t>吸烟、喝酒、猜码、打麻将</a:t>
            </a:r>
            <a:r>
              <a:rPr sz="1280" b="0">
                <a:solidFill>
                  <a:srgbClr val="2B2B2B"/>
                </a:solidFill>
              </a:rPr>
              <a:t>、焚烧物品、饲养宠物、囤货售卖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火情打 </a:t>
            </a:r>
            <a:r>
              <a:rPr sz="1280" b="1">
                <a:solidFill>
                  <a:srgbClr val="001548"/>
                </a:solidFill>
              </a:rPr>
              <a:t>119</a:t>
            </a:r>
            <a:r>
              <a:rPr sz="1280" b="0">
                <a:solidFill>
                  <a:srgbClr val="2B2B2B"/>
                </a:solidFill>
              </a:rPr>
              <a:t>，治安案件打 </a:t>
            </a:r>
            <a:r>
              <a:rPr sz="1280" b="1">
                <a:solidFill>
                  <a:srgbClr val="001548"/>
                </a:solidFill>
              </a:rPr>
              <a:t>110</a:t>
            </a:r>
            <a:r>
              <a:rPr sz="1280" b="0">
                <a:solidFill>
                  <a:srgbClr val="2B2B2B"/>
                </a:solidFill>
              </a:rPr>
              <a:t> 并报宿管、保卫处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4584" y="1261872"/>
            <a:ext cx="34564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74584" y="1261872"/>
            <a:ext cx="3456432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住宿与留宿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7736" y="1700784"/>
            <a:ext cx="3310128" cy="24048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不留宿外来人员（</a:t>
            </a:r>
            <a:r>
              <a:rPr sz="1280" b="1">
                <a:solidFill>
                  <a:srgbClr val="001548"/>
                </a:solidFill>
              </a:rPr>
              <a:t>严重警告以上</a:t>
            </a:r>
            <a:r>
              <a:rPr sz="1280" b="0">
                <a:solidFill>
                  <a:srgbClr val="2B2B2B"/>
                </a:solidFill>
              </a:rPr>
              <a:t>）；不进入异性宿舍、不留宿异性（</a:t>
            </a:r>
            <a:r>
              <a:rPr sz="1280" b="1">
                <a:solidFill>
                  <a:srgbClr val="001548"/>
                </a:solidFill>
              </a:rPr>
              <a:t>留校察看以上</a:t>
            </a:r>
            <a:r>
              <a:rPr sz="1280" b="0">
                <a:solidFill>
                  <a:srgbClr val="2B2B2B"/>
                </a:solidFill>
              </a:rPr>
              <a:t>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未经批准 </a:t>
            </a:r>
            <a:r>
              <a:rPr sz="1280" b="1">
                <a:solidFill>
                  <a:srgbClr val="001548"/>
                </a:solidFill>
              </a:rPr>
              <a:t>校外租房</a:t>
            </a:r>
            <a:r>
              <a:rPr sz="1280" b="0">
                <a:solidFill>
                  <a:srgbClr val="2B2B2B"/>
                </a:solidFill>
              </a:rPr>
              <a:t> → 严重警告以上；确有需要须开学 2 周内申请并由家长签字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不私自调换、占用、转让床位；爱护公物，损坏照价赔偿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离开宿舍 </a:t>
            </a:r>
            <a:r>
              <a:rPr sz="1280" b="1">
                <a:solidFill>
                  <a:srgbClr val="001548"/>
                </a:solidFill>
              </a:rPr>
              <a:t>关窗锁门</a:t>
            </a:r>
            <a:r>
              <a:rPr sz="1280" b="0">
                <a:solidFill>
                  <a:srgbClr val="2B2B2B"/>
                </a:solidFill>
              </a:rPr>
              <a:t>，贵重物品妥善保管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5960" y="4325112"/>
            <a:ext cx="1080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5960" y="4325112"/>
            <a:ext cx="73152" cy="1234440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8840" y="4370832"/>
            <a:ext cx="1052568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1FA16B"/>
                </a:solidFill>
              </a:rPr>
              <a:t>卫生与文明宿舍</a:t>
            </a:r>
          </a:p>
          <a:p>
            <a:pPr marL="164592" indent="-164592" algn="l">
              <a:lnSpc>
                <a:spcPct val="108000"/>
              </a:lnSpc>
              <a:spcAft>
                <a:spcPts val="2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宿舍内卫生自己负责：</a:t>
            </a:r>
            <a:r>
              <a:rPr sz="1280" b="1">
                <a:solidFill>
                  <a:srgbClr val="001548"/>
                </a:solidFill>
              </a:rPr>
              <a:t>每天一小扫，每周五下午大扫除</a:t>
            </a:r>
            <a:r>
              <a:rPr sz="1280" b="0">
                <a:solidFill>
                  <a:srgbClr val="2B2B2B"/>
                </a:solidFill>
              </a:rPr>
              <a:t>；垃圾放到指定分类点，不往走廊、窗外倒水扔物</a:t>
            </a:r>
          </a:p>
          <a:p>
            <a:pPr marL="164592" indent="-164592" algn="l">
              <a:lnSpc>
                <a:spcPct val="108000"/>
              </a:lnSpc>
              <a:spcAft>
                <a:spcPts val="2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文明宿舍每学期评选：内务 30 分 + 卫生 30 分 + 秩序 40 分；晚归、吸烟每人次扣 5 分，喝酒猜码、打麻将每次扣 10 分；聚众赌博、焚烧物品、偷水偷电直接取消资格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手册出处：《学生公寓管理办法》P75 · 《学生校外住宿管理规定》P80 · 《学生违纪处分规定》第十六条 P36 · 《学生评优评先及奖励办法》第十一条 P97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综合素质测评与评优：成绩不是唯一，但很关键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综测总分怎么算（每学年一次）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思想政治素质 45%</a:t>
            </a:r>
            <a:r>
              <a:rPr sz="1280" b="0">
                <a:solidFill>
                  <a:srgbClr val="2B2B2B"/>
                </a:solidFill>
              </a:rPr>
              <a:t>：思想品德 20% + 第二课堂（到梦空间学分班级排名换算）15% + 综合评价 10%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科学文化素质 50%</a:t>
            </a:r>
            <a:r>
              <a:rPr sz="1280" b="0">
                <a:solidFill>
                  <a:srgbClr val="2B2B2B"/>
                </a:solidFill>
              </a:rPr>
              <a:t>：本学年所有课程平均学分绩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体能素质 5%</a:t>
            </a:r>
            <a:r>
              <a:rPr sz="1280" b="0">
                <a:solidFill>
                  <a:srgbClr val="2B2B2B"/>
                </a:solidFill>
              </a:rPr>
              <a:t>：《学生体质健康标准》学年成绩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综测排名在班级 </a:t>
            </a:r>
            <a:r>
              <a:rPr sz="1280" b="1">
                <a:solidFill>
                  <a:srgbClr val="001548"/>
                </a:solidFill>
              </a:rPr>
              <a:t>前 50%</a:t>
            </a:r>
            <a:r>
              <a:rPr sz="1280" b="0">
                <a:solidFill>
                  <a:srgbClr val="2B2B2B"/>
                </a:solidFill>
              </a:rPr>
              <a:t> 且无不及格科目，才有评优评奖资格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思想品德分：基础 80 分，可加可扣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加分</a:t>
            </a:r>
            <a:r>
              <a:rPr sz="1280" b="0">
                <a:solidFill>
                  <a:srgbClr val="2B2B2B"/>
                </a:solidFill>
              </a:rPr>
              <a:t>：入党积极分子 +3、党校结业 +5、青马工程结业 +6 / +10 / +15；助人为乐等受表彰 +2 至 +30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扣分</a:t>
            </a:r>
            <a:r>
              <a:rPr sz="1280" b="0">
                <a:solidFill>
                  <a:srgbClr val="2B2B2B"/>
                </a:solidFill>
              </a:rPr>
              <a:t>：思政类课程不及格每科 −5；院通报 −3、校通报 −5；警告 −10、严重警告 −20、记过 −30、留校察看 −40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旷课 1 学时 −1 分，迟到早退 1 次 −0.5 分</a:t>
            </a:r>
            <a:r>
              <a:rPr sz="1280" b="0">
                <a:solidFill>
                  <a:srgbClr val="2B2B2B"/>
                </a:solidFill>
              </a:rPr>
              <a:t>，可重复扣到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5960" y="3730752"/>
          <a:ext cx="1080000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校级评优项目（每年 9–10 月评）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主要条件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比例 / 奖励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学业奖学金 一 / 二 / 三等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平均学分绩班级前 3% / 6% / 9%，综测前 50%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各 3%；400 / 300 / 200 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三好学生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均分 ≥75，成绩前 30%，综测前 30%，体测良好以上，第二课堂优秀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年级 7%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优秀学生干部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均分 ≥70，成绩前 40%，综测前 50%，工作效果好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每班 2 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优秀毕业生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前五学期均分专业前 10%，获得过校级荣誉，无处分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毕业生 5%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1548"/>
                          </a:solidFill>
                        </a:rPr>
                        <a:t>先进班集体 / 文明宿舍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到课率 90%+、易班注册 95%+、违纪率 &lt;6%；宿舍每学期评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</a:rPr>
                        <a:t>班集体 500 元 + 证书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5960" y="5650992"/>
            <a:ext cx="108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280" b="0">
                <a:solidFill>
                  <a:srgbClr val="2B2B2B"/>
                </a:solidFill>
              </a:rPr>
              <a:t>评优硬门槛：参评学年 </a:t>
            </a:r>
            <a:r>
              <a:rPr sz="1280" b="1">
                <a:solidFill>
                  <a:srgbClr val="001548"/>
                </a:solidFill>
              </a:rPr>
              <a:t>所有课程无不及格、补考、重修</a:t>
            </a:r>
            <a:r>
              <a:rPr sz="1280" b="0">
                <a:solidFill>
                  <a:srgbClr val="2B2B2B"/>
                </a:solidFill>
              </a:rPr>
              <a:t>，</a:t>
            </a:r>
            <a:r>
              <a:rPr sz="1280" b="1">
                <a:solidFill>
                  <a:srgbClr val="001548"/>
                </a:solidFill>
              </a:rPr>
              <a:t>无纪律处分</a:t>
            </a:r>
            <a:r>
              <a:rPr sz="1280" b="0">
                <a:solidFill>
                  <a:srgbClr val="2B2B2B"/>
                </a:solidFill>
              </a:rPr>
              <a:t>。受警告及以上处分当年直接取消所有评优评奖资格。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手册出处：《学生个人综合素质考评办法》P92 · 《学生评优评先及奖励办法》P97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奖助学金一览：钱从哪里来、条件是什么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95960" y="1261872"/>
          <a:ext cx="10799999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标准（每生每年）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关键条件</a:t>
                      </a:r>
                    </a:p>
                  </a:txBody>
                  <a:tcPr marL="64008" marR="64008" marT="27432" marB="27432" anchor="ctr">
                    <a:solidFill>
                      <a:srgbClr val="376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国家奖学金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10000 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大二以上；学习成绩优异，社会实践、创新能力、综合素质特别突出；差额评审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国家励志奖学金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6000 元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大二以上；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家庭经济困难认定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；综测班级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前 30%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；无补考、重修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自治区人民政府奖学金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5000 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含当年新生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；综测班级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前 20%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；无补考、重修（或高考成绩优秀）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国家助学金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一等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4700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 / 二等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3700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 / 三等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2700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 元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家庭经济困难认定；可与上述一项奖学金同时获得；退役士兵全部享受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中职升高职学费补助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2000 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中职毕业升入我校、家庭经济困难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服兵役国家教育资助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学费补偿 / 贷款代偿 / 学费减免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应征入伍、退役复学或入学</a:t>
                      </a:r>
                    </a:p>
                  </a:txBody>
                  <a:tcPr marL="64008" marR="64008" marT="27432" marB="27432" anchor="ctr">
                    <a:solidFill>
                      <a:srgbClr val="F3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1548"/>
                          </a:solidFill>
                        </a:rPr>
                        <a:t>勤工助学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临时岗 </a:t>
                      </a:r>
                      <a:r>
                        <a:rPr sz="1200" b="1">
                          <a:solidFill>
                            <a:srgbClr val="001548"/>
                          </a:solidFill>
                        </a:rPr>
                        <a:t>≥15 元 / 小时</a:t>
                      </a:r>
                      <a:r>
                        <a:rPr sz="1200" b="0">
                          <a:solidFill>
                            <a:srgbClr val="2B2B2B"/>
                          </a:solidFill>
                        </a:rPr>
                        <a:t>；固定岗按月计酬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每周 ≤8 小时、每月 ≤40 小时，不影响学习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95960" y="4507992"/>
            <a:ext cx="5303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5960" y="4507992"/>
            <a:ext cx="5303520" cy="384048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家庭经济困难认定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112" y="4946904"/>
            <a:ext cx="5157216" cy="9875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励志奖学金、助学金的前提，</a:t>
            </a:r>
            <a:r>
              <a:rPr sz="1280" b="1">
                <a:solidFill>
                  <a:srgbClr val="001548"/>
                </a:solidFill>
              </a:rPr>
              <a:t>每学年申请一次</a:t>
            </a:r>
            <a:r>
              <a:rPr sz="1280" b="0">
                <a:solidFill>
                  <a:srgbClr val="2B2B2B"/>
                </a:solidFill>
              </a:rPr>
              <a:t>，如实填写家庭情况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1FA16B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弄虚作假骗取资助：取消资格、收回资金，并 </a:t>
            </a:r>
            <a:r>
              <a:rPr sz="1280" b="1">
                <a:solidFill>
                  <a:srgbClr val="001548"/>
                </a:solidFill>
              </a:rPr>
              <a:t>记过以上</a:t>
            </a:r>
            <a:r>
              <a:rPr sz="1280" b="0">
                <a:solidFill>
                  <a:srgbClr val="2B2B2B"/>
                </a:solidFill>
              </a:rPr>
              <a:t> 处分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1504" y="4507992"/>
            <a:ext cx="5303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504" y="4507992"/>
            <a:ext cx="5303520" cy="384048"/>
          </a:xfrm>
          <a:prstGeom prst="rect">
            <a:avLst/>
          </a:prstGeom>
          <a:solidFill>
            <a:srgbClr val="37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评审流程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4656" y="4946904"/>
            <a:ext cx="5157216" cy="9875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本人申请 → 班级评议小组民主评议（公示 1 日）→ 学院初审（公示 3 日）→ 学校评审（公示 5 日）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37AAFF"/>
              </a:buClr>
              <a:buFont typeface="Arial"/>
              <a:buChar char="•"/>
            </a:pPr>
            <a:r>
              <a:rPr sz="1280" b="0">
                <a:solidFill>
                  <a:srgbClr val="2B2B2B"/>
                </a:solidFill>
              </a:rPr>
              <a:t>国家奖学金每年 </a:t>
            </a:r>
            <a:r>
              <a:rPr sz="1280" b="1">
                <a:solidFill>
                  <a:srgbClr val="001548"/>
                </a:solidFill>
              </a:rPr>
              <a:t>12 月 31 日前</a:t>
            </a:r>
            <a:r>
              <a:rPr sz="1280" b="0">
                <a:solidFill>
                  <a:srgbClr val="2B2B2B"/>
                </a:solidFill>
              </a:rPr>
              <a:t> 发放到个人银行卡；同年不能同时拿国奖、励志、政府奖学金中的两项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手册出处：《学生资助资金管理细则》P272 · 附件 1–6 P276–297 · 《家庭经济困难学生认定实施细则》P262 · 《学生勤工助学管理办法》P298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第二课堂成绩单与推优入党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第二课堂成绩单（到梦空间 APP）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327355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1">
                <a:solidFill>
                  <a:srgbClr val="001548"/>
                </a:solidFill>
              </a:rPr>
              <a:t>必修学分，修满 6 学分才能毕业</a:t>
            </a:r>
            <a:r>
              <a:rPr sz="1400" b="0">
                <a:solidFill>
                  <a:srgbClr val="2B2B2B"/>
                </a:solidFill>
              </a:rPr>
              <a:t>：大一 </a:t>
            </a:r>
            <a:r>
              <a:rPr sz="1400" b="1">
                <a:solidFill>
                  <a:srgbClr val="001548"/>
                </a:solidFill>
              </a:rPr>
              <a:t>2.9</a:t>
            </a:r>
            <a:r>
              <a:rPr sz="1400" b="0">
                <a:solidFill>
                  <a:srgbClr val="2B2B2B"/>
                </a:solidFill>
              </a:rPr>
              <a:t>（思想成长 1.5 + 实践志愿 0.8 + 文艺体育 0.6）、大二 </a:t>
            </a:r>
            <a:r>
              <a:rPr sz="1400" b="1">
                <a:solidFill>
                  <a:srgbClr val="001548"/>
                </a:solidFill>
              </a:rPr>
              <a:t>2.6</a:t>
            </a:r>
            <a:r>
              <a:rPr sz="1400" b="0">
                <a:solidFill>
                  <a:srgbClr val="2B2B2B"/>
                </a:solidFill>
              </a:rPr>
              <a:t>、大三 </a:t>
            </a:r>
            <a:r>
              <a:rPr sz="1400" b="1">
                <a:solidFill>
                  <a:srgbClr val="001548"/>
                </a:solidFill>
              </a:rPr>
              <a:t>0.5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6 分合格 / 9 分良好 / 12 分优秀；每年 4 月上旬核定，不达标 </a:t>
            </a:r>
            <a:r>
              <a:rPr sz="1400" b="1">
                <a:solidFill>
                  <a:srgbClr val="001548"/>
                </a:solidFill>
              </a:rPr>
              <a:t>学分警示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当年学分未修满 → </a:t>
            </a:r>
            <a:r>
              <a:rPr sz="1400" b="1">
                <a:solidFill>
                  <a:srgbClr val="001548"/>
                </a:solidFill>
              </a:rPr>
              <a:t>不能评优评先、不能推优入党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七大类：思想成长、实践实习与志愿公益、文艺体育、工作履历、科技学术与创新创业、专业技能特长、其他课程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1">
                <a:solidFill>
                  <a:srgbClr val="001548"/>
                </a:solidFill>
              </a:rPr>
              <a:t>担任班委、宿舍长、参加社团</a:t>
            </a:r>
            <a:r>
              <a:rPr sz="1400" b="0">
                <a:solidFill>
                  <a:srgbClr val="2B2B2B"/>
                </a:solidFill>
              </a:rPr>
              <a:t> 计入“工作履历”；志愿服务、献血、比赛、考取证书都可计分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报名活动 </a:t>
            </a:r>
            <a:r>
              <a:rPr sz="1400" b="1">
                <a:solidFill>
                  <a:srgbClr val="001548"/>
                </a:solidFill>
              </a:rPr>
              <a:t>3 次未签到或被签退</a:t>
            </a:r>
            <a:r>
              <a:rPr sz="1400" b="0">
                <a:solidFill>
                  <a:srgbClr val="2B2B2B"/>
                </a:solidFill>
              </a:rPr>
              <a:t> → 黑名单 168 小时不能报名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成绩单装入档案，是综测、</a:t>
            </a:r>
            <a:r>
              <a:rPr sz="1400" b="1">
                <a:solidFill>
                  <a:srgbClr val="001548"/>
                </a:solidFill>
              </a:rPr>
              <a:t>专升本</a:t>
            </a:r>
            <a:r>
              <a:rPr sz="1400" b="0">
                <a:solidFill>
                  <a:srgbClr val="2B2B2B"/>
                </a:solidFill>
              </a:rPr>
              <a:t>、推优入党、求职的重要依据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推优入党：团组织推荐是主要渠道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327355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推荐入党积极分子条件：</a:t>
            </a:r>
            <a:r>
              <a:rPr sz="1400" b="1">
                <a:solidFill>
                  <a:srgbClr val="001548"/>
                </a:solidFill>
              </a:rPr>
              <a:t>年满 18 周岁</a:t>
            </a:r>
            <a:r>
              <a:rPr sz="1400" b="0">
                <a:solidFill>
                  <a:srgbClr val="2B2B2B"/>
                </a:solidFill>
              </a:rPr>
              <a:t> 的优秀团员，</a:t>
            </a:r>
            <a:r>
              <a:rPr sz="1400" b="1">
                <a:solidFill>
                  <a:srgbClr val="001548"/>
                </a:solidFill>
              </a:rPr>
              <a:t>团龄 1 年以上</a:t>
            </a:r>
            <a:r>
              <a:rPr sz="1400" b="0">
                <a:solidFill>
                  <a:srgbClr val="2B2B2B"/>
                </a:solidFill>
              </a:rPr>
              <a:t>，</a:t>
            </a:r>
            <a:r>
              <a:rPr sz="1400" b="1">
                <a:solidFill>
                  <a:srgbClr val="001548"/>
                </a:solidFill>
              </a:rPr>
              <a:t>已递交入党申请书</a:t>
            </a:r>
            <a:r>
              <a:rPr sz="1400" b="0">
                <a:solidFill>
                  <a:srgbClr val="2B2B2B"/>
                </a:solidFill>
              </a:rPr>
              <a:t>；每次推荐有效期 2 年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团支部 </a:t>
            </a:r>
            <a:r>
              <a:rPr sz="1400" b="1">
                <a:solidFill>
                  <a:srgbClr val="001548"/>
                </a:solidFill>
              </a:rPr>
              <a:t>每学期至少推优一次</a:t>
            </a:r>
            <a:r>
              <a:rPr sz="1400" b="0">
                <a:solidFill>
                  <a:srgbClr val="2B2B2B"/>
                </a:solidFill>
              </a:rPr>
              <a:t>；需团支部大会无记名投票、公示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1">
                <a:solidFill>
                  <a:srgbClr val="001548"/>
                </a:solidFill>
              </a:rPr>
              <a:t>优先推荐</a:t>
            </a:r>
            <a:r>
              <a:rPr sz="1400" b="0">
                <a:solidFill>
                  <a:srgbClr val="2B2B2B"/>
                </a:solidFill>
              </a:rPr>
              <a:t>：思想成长、志愿公益、创新创业、技能特长等表现突出者；自治区及以上表彰；校级以上青马工程优秀学员；少数民族优秀团员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1">
                <a:solidFill>
                  <a:srgbClr val="001548"/>
                </a:solidFill>
              </a:rPr>
              <a:t>不得推荐</a:t>
            </a:r>
            <a:r>
              <a:rPr sz="1400" b="0">
                <a:solidFill>
                  <a:srgbClr val="2B2B2B"/>
                </a:solidFill>
              </a:rPr>
              <a:t>：存在违法违纪行为、受处分尚未撤销、传播错误言论等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想入党的同学现在就可以做：</a:t>
            </a:r>
            <a:r>
              <a:rPr sz="1400" b="1">
                <a:solidFill>
                  <a:srgbClr val="001548"/>
                </a:solidFill>
              </a:rPr>
              <a:t>尽早递交入党申请书</a:t>
            </a:r>
            <a:r>
              <a:rPr sz="1400" b="0">
                <a:solidFill>
                  <a:srgbClr val="2B2B2B"/>
                </a:solidFill>
              </a:rPr>
              <a:t>、参加党校 / 团校培训、积极参加团日活动与志愿服务、当好班委或宿舍长</a:t>
            </a: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E048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非团员同学：先了解入团条件，向团支书咨询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960" y="5175503"/>
            <a:ext cx="10800000" cy="914400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4560" y="5230367"/>
            <a:ext cx="104342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400" b="1">
                <a:solidFill>
                  <a:srgbClr val="FFD166"/>
                </a:solidFill>
              </a:rPr>
              <a:t>这学期就能做的三件事</a:t>
            </a:r>
          </a:p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</a:rPr>
              <a:t>① 下载“到梦空间”并完成认证，报名活动记得 </a:t>
            </a:r>
            <a:r>
              <a:rPr sz="1300" b="1">
                <a:solidFill>
                  <a:srgbClr val="FFFFFF"/>
                </a:solidFill>
              </a:rPr>
              <a:t>签到签退</a:t>
            </a:r>
            <a:r>
              <a:rPr sz="1300" b="0">
                <a:solidFill>
                  <a:srgbClr val="FFFFFF"/>
                </a:solidFill>
              </a:rPr>
              <a:t>　② 想入党的同学写好 </a:t>
            </a:r>
            <a:r>
              <a:rPr sz="1300" b="1">
                <a:solidFill>
                  <a:srgbClr val="FFFFFF"/>
                </a:solidFill>
              </a:rPr>
              <a:t>入党申请书</a:t>
            </a:r>
            <a:r>
              <a:rPr sz="1300" b="0">
                <a:solidFill>
                  <a:srgbClr val="FFFFFF"/>
                </a:solidFill>
              </a:rPr>
              <a:t> 交给团支书　③ 迎新志愿、社团招新、班级活动都去参加，第一学期就开始攒学分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手册出处：《“第二课堂成绩单”管理和实施办法》P356 · 《共青团推优入党工作实施方案（试行）》P327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班主任交代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0" y="4990000"/>
            <a:ext cx="8640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lnSpc>
                <a:spcPct val="108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5A6478"/>
                </a:solidFill>
              </a:rPr>
              <a:t>几句掏心窝的话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校园网使用：上网不是匿名的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先了解规则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21762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001548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校园网 </a:t>
            </a:r>
            <a:r>
              <a:rPr sz="1350" b="1">
                <a:solidFill>
                  <a:srgbClr val="001548"/>
                </a:solidFill>
              </a:rPr>
              <a:t>实名认证</a:t>
            </a:r>
            <a:r>
              <a:rPr sz="1350" b="0">
                <a:solidFill>
                  <a:srgbClr val="2B2B2B"/>
                </a:solidFill>
              </a:rPr>
              <a:t>，上网账号与你的身份 </a:t>
            </a:r>
            <a:r>
              <a:rPr sz="1350" b="1">
                <a:solidFill>
                  <a:srgbClr val="001548"/>
                </a:solidFill>
              </a:rPr>
              <a:t>一一绑定</a:t>
            </a:r>
            <a:r>
              <a:rPr sz="1350" b="0">
                <a:solidFill>
                  <a:srgbClr val="2B2B2B"/>
                </a:solidFill>
              </a:rPr>
              <a:t>，做了什么都对应到人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001548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学校按规定 </a:t>
            </a:r>
            <a:r>
              <a:rPr sz="1350" b="1">
                <a:solidFill>
                  <a:srgbClr val="001548"/>
                </a:solidFill>
              </a:rPr>
              <a:t>定期将上网日志上报广西信息中心检测</a:t>
            </a:r>
            <a:r>
              <a:rPr sz="1350" b="0">
                <a:solidFill>
                  <a:srgbClr val="2B2B2B"/>
                </a:solidFill>
              </a:rPr>
              <a:t>，访问记录学校党委领导都能看到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001548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《学生管理规定》第六十六条：不得登录 </a:t>
            </a:r>
            <a:r>
              <a:rPr sz="1350" b="1">
                <a:solidFill>
                  <a:srgbClr val="001548"/>
                </a:solidFill>
              </a:rPr>
              <a:t>非法网站</a:t>
            </a:r>
            <a:r>
              <a:rPr sz="1350" b="0">
                <a:solidFill>
                  <a:srgbClr val="2B2B2B"/>
                </a:solidFill>
              </a:rPr>
              <a:t>，不得传播非法、虚假、有害信息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001548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《违纪处分规定》第十七条：危害网络安全、造谣传谣、传播不良信息 → </a:t>
            </a:r>
            <a:r>
              <a:rPr sz="1350" b="1">
                <a:solidFill>
                  <a:srgbClr val="001548"/>
                </a:solidFill>
              </a:rPr>
              <a:t>记过以上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校园网下请做到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21762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E0483E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不访问 </a:t>
            </a:r>
            <a:r>
              <a:rPr sz="1350" b="1">
                <a:solidFill>
                  <a:srgbClr val="001548"/>
                </a:solidFill>
              </a:rPr>
              <a:t>不良网站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E0483E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不访问未经许可的 </a:t>
            </a:r>
            <a:r>
              <a:rPr sz="1350" b="1">
                <a:solidFill>
                  <a:srgbClr val="001548"/>
                </a:solidFill>
              </a:rPr>
              <a:t>境外网站和服务</a:t>
            </a:r>
            <a:r>
              <a:rPr sz="1350" b="0">
                <a:solidFill>
                  <a:srgbClr val="2B2B2B"/>
                </a:solidFill>
              </a:rPr>
              <a:t>（如 ChatGPT 等），也不要尝试用任何“特殊方式”去访问——</a:t>
            </a:r>
            <a:r>
              <a:rPr sz="1350" b="1">
                <a:solidFill>
                  <a:srgbClr val="001548"/>
                </a:solidFill>
              </a:rPr>
              <a:t>痕迹比你想的多</a:t>
            </a:r>
            <a:r>
              <a:rPr sz="1350" b="0">
                <a:solidFill>
                  <a:srgbClr val="2B2B2B"/>
                </a:solidFill>
              </a:rPr>
              <a:t>，被查到就是处分甚至法律责任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E0483E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不在网上 </a:t>
            </a:r>
            <a:r>
              <a:rPr sz="1350" b="1">
                <a:solidFill>
                  <a:srgbClr val="001548"/>
                </a:solidFill>
              </a:rPr>
              <a:t>造谣、传谣、人肉、骂战</a:t>
            </a:r>
            <a:r>
              <a:rPr sz="1350" b="0">
                <a:solidFill>
                  <a:srgbClr val="2B2B2B"/>
                </a:solidFill>
              </a:rPr>
              <a:t>；不点不明链接、不下盗版破解软件</a:t>
            </a:r>
          </a:p>
          <a:p>
            <a:pPr marL="164592" indent="-164592" algn="l">
              <a:lnSpc>
                <a:spcPct val="106000"/>
              </a:lnSpc>
              <a:spcAft>
                <a:spcPts val="500"/>
              </a:spcAft>
              <a:buClr>
                <a:srgbClr val="E0483E"/>
              </a:buClr>
              <a:buFont typeface="Arial"/>
              <a:buChar char="•"/>
            </a:pPr>
            <a:r>
              <a:rPr sz="1350" b="0">
                <a:solidFill>
                  <a:srgbClr val="2B2B2B"/>
                </a:solidFill>
              </a:rPr>
              <a:t>个人信息、账号密码、校园卡 </a:t>
            </a:r>
            <a:r>
              <a:rPr sz="1350" b="1">
                <a:solidFill>
                  <a:srgbClr val="001548"/>
                </a:solidFill>
              </a:rPr>
              <a:t>不外借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960" y="4096512"/>
            <a:ext cx="10800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5960" y="4096512"/>
            <a:ext cx="73152" cy="1508760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8840" y="4151376"/>
            <a:ext cx="10525680" cy="10613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400" b="1" dirty="0" err="1">
                <a:solidFill>
                  <a:srgbClr val="1FA16B"/>
                </a:solidFill>
              </a:rPr>
              <a:t>合规工具完全够用</a:t>
            </a:r>
            <a:endParaRPr sz="1400" b="1" dirty="0">
              <a:solidFill>
                <a:srgbClr val="1FA16B"/>
              </a:solidFill>
            </a:endParaRPr>
          </a:p>
          <a:p>
            <a:pPr marL="164592" indent="-164592" algn="l">
              <a:lnSpc>
                <a:spcPct val="108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50" b="0" dirty="0">
                <a:solidFill>
                  <a:srgbClr val="2B2B2B"/>
                </a:solidFill>
              </a:rPr>
              <a:t>AI </a:t>
            </a:r>
            <a:r>
              <a:rPr sz="1350" b="0" dirty="0" err="1">
                <a:solidFill>
                  <a:srgbClr val="2B2B2B"/>
                </a:solidFill>
              </a:rPr>
              <a:t>助手：</a:t>
            </a:r>
            <a:r>
              <a:rPr lang="en-US" sz="1350" b="1" dirty="0" err="1">
                <a:solidFill>
                  <a:srgbClr val="001548"/>
                </a:solidFill>
              </a:rPr>
              <a:t>Kimi</a:t>
            </a:r>
            <a:r>
              <a:rPr sz="1350" b="1" dirty="0" err="1">
                <a:solidFill>
                  <a:srgbClr val="001548"/>
                </a:solidFill>
              </a:rPr>
              <a:t>、</a:t>
            </a:r>
            <a:r>
              <a:rPr lang="en-US" sz="1350" b="1" dirty="0" err="1">
                <a:solidFill>
                  <a:srgbClr val="001548"/>
                </a:solidFill>
              </a:rPr>
              <a:t>Qwen</a:t>
            </a:r>
            <a:r>
              <a:rPr sz="1350" b="1" dirty="0" err="1">
                <a:solidFill>
                  <a:srgbClr val="001548"/>
                </a:solidFill>
              </a:rPr>
              <a:t>、</a:t>
            </a:r>
            <a:r>
              <a:rPr lang="en-US" sz="1350" b="1" dirty="0" err="1">
                <a:solidFill>
                  <a:srgbClr val="001548"/>
                </a:solidFill>
              </a:rPr>
              <a:t>DeepSeek</a:t>
            </a:r>
            <a:r>
              <a:rPr sz="1350" b="1" dirty="0" err="1">
                <a:solidFill>
                  <a:srgbClr val="001548"/>
                </a:solidFill>
              </a:rPr>
              <a:t>、</a:t>
            </a:r>
            <a:r>
              <a:rPr lang="en-US" sz="1350" b="1" dirty="0" err="1">
                <a:solidFill>
                  <a:srgbClr val="001548"/>
                </a:solidFill>
              </a:rPr>
              <a:t>GLM</a:t>
            </a:r>
            <a:r>
              <a:rPr sz="1350" b="1" dirty="0" err="1">
                <a:solidFill>
                  <a:srgbClr val="001548"/>
                </a:solidFill>
              </a:rPr>
              <a:t>、</a:t>
            </a:r>
            <a:r>
              <a:rPr lang="en-US" sz="1350" b="1" dirty="0" err="1">
                <a:solidFill>
                  <a:srgbClr val="001548"/>
                </a:solidFill>
              </a:rPr>
              <a:t>豆包</a:t>
            </a:r>
            <a:r>
              <a:rPr sz="1350" b="0" dirty="0">
                <a:solidFill>
                  <a:srgbClr val="2B2B2B"/>
                </a:solidFill>
              </a:rPr>
              <a:t> </a:t>
            </a:r>
            <a:r>
              <a:rPr sz="1350" b="0" dirty="0" err="1">
                <a:solidFill>
                  <a:srgbClr val="2B2B2B"/>
                </a:solidFill>
              </a:rPr>
              <a:t>等国内产品，写代码、查资料、改文章都能用</a:t>
            </a:r>
            <a:endParaRPr sz="135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8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50" b="0" dirty="0" err="1">
                <a:solidFill>
                  <a:srgbClr val="2B2B2B"/>
                </a:solidFill>
              </a:rPr>
              <a:t>学习资源：</a:t>
            </a:r>
            <a:r>
              <a:rPr sz="1350" b="1" dirty="0" err="1">
                <a:solidFill>
                  <a:srgbClr val="001548"/>
                </a:solidFill>
              </a:rPr>
              <a:t>中国大学</a:t>
            </a:r>
            <a:r>
              <a:rPr sz="1350" b="1" dirty="0">
                <a:solidFill>
                  <a:srgbClr val="001548"/>
                </a:solidFill>
              </a:rPr>
              <a:t> MOOC、学习通、B </a:t>
            </a:r>
            <a:r>
              <a:rPr sz="1350" b="1" dirty="0" err="1">
                <a:solidFill>
                  <a:srgbClr val="001548"/>
                </a:solidFill>
              </a:rPr>
              <a:t>站、学校图书馆数字资源</a:t>
            </a:r>
            <a:r>
              <a:rPr sz="1350" b="0" dirty="0" err="1">
                <a:solidFill>
                  <a:srgbClr val="2B2B2B"/>
                </a:solidFill>
              </a:rPr>
              <a:t>（知网、超星等</a:t>
            </a:r>
            <a:r>
              <a:rPr sz="1350" b="0" dirty="0">
                <a:solidFill>
                  <a:srgbClr val="2B2B2B"/>
                </a:solidFill>
              </a:rPr>
              <a:t>）</a:t>
            </a:r>
          </a:p>
          <a:p>
            <a:pPr marL="164592" indent="-164592" algn="l">
              <a:lnSpc>
                <a:spcPct val="108000"/>
              </a:lnSpc>
              <a:spcAft>
                <a:spcPts val="300"/>
              </a:spcAft>
              <a:buClr>
                <a:srgbClr val="376FFF"/>
              </a:buClr>
              <a:buFont typeface="Arial"/>
              <a:buChar char="•"/>
            </a:pPr>
            <a:r>
              <a:rPr sz="1350" b="0" dirty="0" err="1">
                <a:solidFill>
                  <a:srgbClr val="2B2B2B"/>
                </a:solidFill>
              </a:rPr>
              <a:t>记住一句话：</a:t>
            </a:r>
            <a:r>
              <a:rPr sz="1350" b="1" dirty="0" err="1">
                <a:solidFill>
                  <a:srgbClr val="001548"/>
                </a:solidFill>
              </a:rPr>
              <a:t>能不能访问是技术问题，该不该访问是纪律问题</a:t>
            </a:r>
            <a:r>
              <a:rPr sz="1350" b="1" dirty="0">
                <a:solidFill>
                  <a:srgbClr val="001548"/>
                </a:solidFill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手册出处：《学生管理规定》第六十六条 P19 · 《学生违纪处分规定》第十七条 P36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防范电信网络诈骗：大学生是重点目标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345643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3456432" cy="384048"/>
          </a:xfrm>
          <a:prstGeom prst="rect">
            <a:avLst/>
          </a:prstGeom>
          <a:solidFill>
            <a:srgbClr val="E0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常见套路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3310128" cy="2587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刷单返利</a:t>
            </a:r>
            <a:r>
              <a:rPr sz="1280" b="0">
                <a:solidFill>
                  <a:srgbClr val="2B2B2B"/>
                </a:solidFill>
              </a:rPr>
              <a:t>：先返小额再让你大额垫付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冒充客服 / 公检法 / 老师</a:t>
            </a:r>
            <a:r>
              <a:rPr sz="1280" b="0">
                <a:solidFill>
                  <a:srgbClr val="2B2B2B"/>
                </a:solidFill>
              </a:rPr>
              <a:t>：说你涉案、账号异常、要“注销校园贷”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兼职押金、培训贷、免费送</a:t>
            </a:r>
            <a:r>
              <a:rPr sz="1280" b="0">
                <a:solidFill>
                  <a:srgbClr val="2B2B2B"/>
                </a:solidFill>
              </a:rPr>
              <a:t>：先交钱再消失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游戏皮肤 / 账号交易、代练</a:t>
            </a:r>
            <a:r>
              <a:rPr sz="1280" b="0">
                <a:solidFill>
                  <a:srgbClr val="2B2B2B"/>
                </a:solidFill>
              </a:rPr>
              <a:t>：私聊转账后拉黑</a:t>
            </a: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E0483E"/>
              </a:buClr>
              <a:buFont typeface="Arial"/>
              <a:buChar char="•"/>
            </a:pPr>
            <a:r>
              <a:rPr sz="1280" b="1">
                <a:solidFill>
                  <a:srgbClr val="001548"/>
                </a:solidFill>
              </a:rPr>
              <a:t>冒充同学借钱、领导下命令</a:t>
            </a:r>
            <a:r>
              <a:rPr sz="1280" b="0">
                <a:solidFill>
                  <a:srgbClr val="2B2B2B"/>
                </a:solidFill>
              </a:rPr>
              <a:t>：视频也可能是 AI 换脸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5272" y="1261872"/>
            <a:ext cx="345643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5272" y="1261872"/>
            <a:ext cx="3456432" cy="38404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闲鱼等二手平台的低价陷阱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8424" y="1700784"/>
            <a:ext cx="3310128" cy="2587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0" dirty="0" err="1">
                <a:solidFill>
                  <a:srgbClr val="2B2B2B"/>
                </a:solidFill>
              </a:rPr>
              <a:t>远低于市场价的</a:t>
            </a:r>
            <a:r>
              <a:rPr sz="1280" b="0" dirty="0">
                <a:solidFill>
                  <a:srgbClr val="2B2B2B"/>
                </a:solidFill>
              </a:rPr>
              <a:t> </a:t>
            </a:r>
            <a:r>
              <a:rPr sz="1280" b="1" dirty="0" err="1">
                <a:solidFill>
                  <a:srgbClr val="001548"/>
                </a:solidFill>
              </a:rPr>
              <a:t>手机、电动车、演唱会票、球鞋</a:t>
            </a:r>
            <a:r>
              <a:rPr sz="1280" b="0" dirty="0">
                <a:solidFill>
                  <a:srgbClr val="2B2B2B"/>
                </a:solidFill>
              </a:rPr>
              <a:t> —— </a:t>
            </a:r>
            <a:r>
              <a:rPr sz="1280" b="0" dirty="0" err="1">
                <a:solidFill>
                  <a:srgbClr val="2B2B2B"/>
                </a:solidFill>
              </a:rPr>
              <a:t>先想想为什么便宜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0" dirty="0" err="1">
                <a:solidFill>
                  <a:srgbClr val="2B2B2B"/>
                </a:solidFill>
              </a:rPr>
              <a:t>对方要求</a:t>
            </a:r>
            <a:r>
              <a:rPr sz="1280" b="0" dirty="0">
                <a:solidFill>
                  <a:srgbClr val="2B2B2B"/>
                </a:solidFill>
              </a:rPr>
              <a:t> </a:t>
            </a:r>
            <a:r>
              <a:rPr sz="1280" b="1" dirty="0" err="1">
                <a:solidFill>
                  <a:srgbClr val="001548"/>
                </a:solidFill>
              </a:rPr>
              <a:t>脱离平台私聊、直接转账、扫码、点链接、加</a:t>
            </a:r>
            <a:r>
              <a:rPr sz="1280" b="1" dirty="0">
                <a:solidFill>
                  <a:srgbClr val="001548"/>
                </a:solidFill>
              </a:rPr>
              <a:t> QQ </a:t>
            </a:r>
            <a:r>
              <a:rPr sz="1280" b="1" dirty="0" err="1">
                <a:solidFill>
                  <a:srgbClr val="001548"/>
                </a:solidFill>
              </a:rPr>
              <a:t>微信付款</a:t>
            </a:r>
            <a:r>
              <a:rPr sz="1280" b="0" dirty="0">
                <a:solidFill>
                  <a:srgbClr val="2B2B2B"/>
                </a:solidFill>
              </a:rPr>
              <a:t> → </a:t>
            </a:r>
            <a:r>
              <a:rPr sz="1280" b="0" dirty="0" err="1">
                <a:solidFill>
                  <a:srgbClr val="2B2B2B"/>
                </a:solidFill>
              </a:rPr>
              <a:t>百分之百是诈骗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0" dirty="0">
                <a:solidFill>
                  <a:srgbClr val="2B2B2B"/>
                </a:solidFill>
              </a:rPr>
              <a:t>“</a:t>
            </a:r>
            <a:r>
              <a:rPr sz="1280" b="0" dirty="0" err="1">
                <a:solidFill>
                  <a:srgbClr val="2B2B2B"/>
                </a:solidFill>
              </a:rPr>
              <a:t>先付定金锁货</a:t>
            </a:r>
            <a:r>
              <a:rPr sz="1280" b="0" dirty="0">
                <a:solidFill>
                  <a:srgbClr val="2B2B2B"/>
                </a:solidFill>
              </a:rPr>
              <a:t>”“</a:t>
            </a:r>
            <a:r>
              <a:rPr sz="1280" b="0" dirty="0" err="1">
                <a:solidFill>
                  <a:srgbClr val="2B2B2B"/>
                </a:solidFill>
              </a:rPr>
              <a:t>走平台有手续费</a:t>
            </a:r>
            <a:r>
              <a:rPr sz="1280" b="0" dirty="0">
                <a:solidFill>
                  <a:srgbClr val="2B2B2B"/>
                </a:solidFill>
              </a:rPr>
              <a:t>” </a:t>
            </a:r>
            <a:r>
              <a:rPr sz="1280" b="0" dirty="0" err="1">
                <a:solidFill>
                  <a:srgbClr val="2B2B2B"/>
                </a:solidFill>
              </a:rPr>
              <a:t>都是话术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F08C00"/>
              </a:buClr>
              <a:buFont typeface="Arial"/>
              <a:buChar char="•"/>
            </a:pPr>
            <a:r>
              <a:rPr sz="1280" b="0" dirty="0" err="1">
                <a:solidFill>
                  <a:srgbClr val="2B2B2B"/>
                </a:solidFill>
              </a:rPr>
              <a:t>只在平台内下单，</a:t>
            </a:r>
            <a:r>
              <a:rPr sz="1280" b="1" dirty="0" err="1">
                <a:solidFill>
                  <a:srgbClr val="001548"/>
                </a:solidFill>
              </a:rPr>
              <a:t>用担保交易</a:t>
            </a:r>
            <a:r>
              <a:rPr sz="1280" b="0" dirty="0" err="1">
                <a:solidFill>
                  <a:srgbClr val="2B2B2B"/>
                </a:solidFill>
              </a:rPr>
              <a:t>，当面验货再确认收货</a:t>
            </a:r>
            <a:endParaRPr sz="1280" b="0" dirty="0">
              <a:solidFill>
                <a:srgbClr val="2B2B2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74584" y="1261872"/>
            <a:ext cx="345643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74584" y="1261872"/>
            <a:ext cx="3456432" cy="384048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自己不能踩的线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7736" y="1700784"/>
            <a:ext cx="3310128" cy="2587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001548"/>
              </a:buClr>
              <a:buFont typeface="Arial"/>
              <a:buChar char="•"/>
            </a:pPr>
            <a:r>
              <a:rPr sz="1280" b="1" dirty="0" err="1">
                <a:solidFill>
                  <a:srgbClr val="001548"/>
                </a:solidFill>
              </a:rPr>
              <a:t>不出借、出租、买卖银行卡、电话卡、微信</a:t>
            </a:r>
            <a:r>
              <a:rPr sz="1280" b="1" dirty="0">
                <a:solidFill>
                  <a:srgbClr val="001548"/>
                </a:solidFill>
              </a:rPr>
              <a:t> / </a:t>
            </a:r>
            <a:r>
              <a:rPr sz="1280" b="1" dirty="0" err="1">
                <a:solidFill>
                  <a:srgbClr val="001548"/>
                </a:solidFill>
              </a:rPr>
              <a:t>支付宝账号</a:t>
            </a:r>
            <a:r>
              <a:rPr sz="1280" b="0" dirty="0" err="1">
                <a:solidFill>
                  <a:srgbClr val="2B2B2B"/>
                </a:solidFill>
              </a:rPr>
              <a:t>：手册规定</a:t>
            </a:r>
            <a:r>
              <a:rPr sz="1280" b="0" dirty="0">
                <a:solidFill>
                  <a:srgbClr val="2B2B2B"/>
                </a:solidFill>
              </a:rPr>
              <a:t> </a:t>
            </a:r>
            <a:r>
              <a:rPr sz="1280" b="1" dirty="0" err="1">
                <a:solidFill>
                  <a:srgbClr val="001548"/>
                </a:solidFill>
              </a:rPr>
              <a:t>留校察看以上</a:t>
            </a:r>
            <a:r>
              <a:rPr sz="1280" b="0" dirty="0" err="1">
                <a:solidFill>
                  <a:srgbClr val="2B2B2B"/>
                </a:solidFill>
              </a:rPr>
              <a:t>，还可能触犯帮信罪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001548"/>
              </a:buClr>
              <a:buFont typeface="Arial"/>
              <a:buChar char="•"/>
            </a:pPr>
            <a:r>
              <a:rPr sz="1280" b="1" dirty="0" err="1">
                <a:solidFill>
                  <a:srgbClr val="001548"/>
                </a:solidFill>
              </a:rPr>
              <a:t>远离校园贷、网贷</a:t>
            </a:r>
            <a:r>
              <a:rPr sz="1280" b="1" dirty="0">
                <a:solidFill>
                  <a:srgbClr val="001548"/>
                </a:solidFill>
              </a:rPr>
              <a:t>、“</a:t>
            </a:r>
            <a:r>
              <a:rPr sz="1280" b="1" dirty="0" err="1">
                <a:solidFill>
                  <a:srgbClr val="001548"/>
                </a:solidFill>
              </a:rPr>
              <a:t>分期免息</a:t>
            </a:r>
            <a:r>
              <a:rPr sz="1280" b="1" dirty="0">
                <a:solidFill>
                  <a:srgbClr val="001548"/>
                </a:solidFill>
              </a:rPr>
              <a:t>”</a:t>
            </a:r>
            <a:r>
              <a:rPr sz="1280" b="0" dirty="0">
                <a:solidFill>
                  <a:srgbClr val="2B2B2B"/>
                </a:solidFill>
              </a:rPr>
              <a:t>，</a:t>
            </a:r>
            <a:r>
              <a:rPr sz="1280" b="0" dirty="0" err="1">
                <a:solidFill>
                  <a:srgbClr val="2B2B2B"/>
                </a:solidFill>
              </a:rPr>
              <a:t>不给别人担保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001548"/>
              </a:buClr>
              <a:buFont typeface="Arial"/>
              <a:buChar char="•"/>
            </a:pPr>
            <a:r>
              <a:rPr sz="1280" b="0" dirty="0" err="1">
                <a:solidFill>
                  <a:srgbClr val="2B2B2B"/>
                </a:solidFill>
              </a:rPr>
              <a:t>不帮人</a:t>
            </a:r>
            <a:r>
              <a:rPr sz="1280" b="0" dirty="0">
                <a:solidFill>
                  <a:srgbClr val="2B2B2B"/>
                </a:solidFill>
              </a:rPr>
              <a:t> </a:t>
            </a:r>
            <a:r>
              <a:rPr sz="1280" b="1" dirty="0" err="1">
                <a:solidFill>
                  <a:srgbClr val="001548"/>
                </a:solidFill>
              </a:rPr>
              <a:t>收款转账、跑分、开卡</a:t>
            </a:r>
            <a:r>
              <a:rPr sz="1280" b="0" dirty="0">
                <a:solidFill>
                  <a:srgbClr val="2B2B2B"/>
                </a:solidFill>
              </a:rPr>
              <a:t>，“</a:t>
            </a:r>
            <a:r>
              <a:rPr sz="1280" b="0" dirty="0" err="1">
                <a:solidFill>
                  <a:srgbClr val="2B2B2B"/>
                </a:solidFill>
              </a:rPr>
              <a:t>轻松日入几百”都是犯罪</a:t>
            </a:r>
            <a:endParaRPr sz="128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300"/>
              </a:spcAft>
              <a:buClr>
                <a:srgbClr val="001548"/>
              </a:buClr>
              <a:buFont typeface="Arial"/>
              <a:buChar char="•"/>
            </a:pPr>
            <a:r>
              <a:rPr sz="1280" b="0" dirty="0" err="1">
                <a:solidFill>
                  <a:srgbClr val="2B2B2B"/>
                </a:solidFill>
              </a:rPr>
              <a:t>个人信息（身份证、学生证照片）不随便发</a:t>
            </a:r>
            <a:endParaRPr sz="1280" b="0" dirty="0">
              <a:solidFill>
                <a:srgbClr val="2B2B2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5960" y="4507992"/>
            <a:ext cx="10800000" cy="1188720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560" y="4581144"/>
            <a:ext cx="10434240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400" b="1">
                <a:solidFill>
                  <a:srgbClr val="FFD166"/>
                </a:solidFill>
              </a:rPr>
              <a:t>记住三个动作</a:t>
            </a:r>
          </a:p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转账前先停 10 分钟</a:t>
            </a:r>
            <a:r>
              <a:rPr sz="1300" b="0">
                <a:solidFill>
                  <a:srgbClr val="FFFFFF"/>
                </a:solidFill>
              </a:rPr>
              <a:t>，打电话问班主任 / 辅导员 / 家长；下载 </a:t>
            </a:r>
            <a:r>
              <a:rPr sz="1300" b="1">
                <a:solidFill>
                  <a:srgbClr val="FFFFFF"/>
                </a:solidFill>
              </a:rPr>
              <a:t>“国家反诈中心” APP</a:t>
            </a:r>
            <a:r>
              <a:rPr sz="1300" b="0">
                <a:solidFill>
                  <a:srgbClr val="FFFFFF"/>
                </a:solidFill>
              </a:rPr>
              <a:t> 并开启预警；被骗立即打 </a:t>
            </a:r>
            <a:r>
              <a:rPr sz="1300" b="1">
                <a:solidFill>
                  <a:srgbClr val="FFFFFF"/>
                </a:solidFill>
              </a:rPr>
              <a:t>110</a:t>
            </a:r>
            <a:r>
              <a:rPr sz="1300" b="0">
                <a:solidFill>
                  <a:srgbClr val="FFFFFF"/>
                </a:solidFill>
              </a:rPr>
              <a:t>，反诈咨询 </a:t>
            </a:r>
            <a:r>
              <a:rPr sz="1300" b="1">
                <a:solidFill>
                  <a:srgbClr val="FFFFFF"/>
                </a:solidFill>
              </a:rPr>
              <a:t>96110</a:t>
            </a:r>
            <a:r>
              <a:rPr sz="1300" b="0">
                <a:solidFill>
                  <a:srgbClr val="FFFFFF"/>
                </a:solidFill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60" y="6199632"/>
            <a:ext cx="10800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5A6478"/>
                </a:solidFill>
              </a:rPr>
              <a:t>手册出处：《学生违纪处分规定》第十四条第（八）项 P36 · 《学生管理规定》第五十二条 P19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尽快适应大学：先锚定方向，再往前走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53035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5303520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路线 A：专升本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5157216" cy="2587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前两年打好基础</a:t>
            </a:r>
            <a:r>
              <a:rPr sz="1400" b="0" dirty="0" err="1">
                <a:solidFill>
                  <a:srgbClr val="2B2B2B"/>
                </a:solidFill>
              </a:rPr>
              <a:t>：高数、英语、专业核心课一门不落，绩点越高越有底气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第三年冲刺</a:t>
            </a:r>
            <a:r>
              <a:rPr sz="1400" b="0" dirty="0" err="1">
                <a:solidFill>
                  <a:srgbClr val="2B2B2B"/>
                </a:solidFill>
              </a:rPr>
              <a:t>：系统复习</a:t>
            </a:r>
            <a:r>
              <a:rPr sz="1400" b="0" dirty="0">
                <a:solidFill>
                  <a:srgbClr val="2B2B2B"/>
                </a:solidFill>
              </a:rPr>
              <a:t> + </a:t>
            </a:r>
            <a:r>
              <a:rPr sz="1400" b="0" dirty="0" err="1">
                <a:solidFill>
                  <a:srgbClr val="2B2B2B"/>
                </a:solidFill>
              </a:rPr>
              <a:t>刷题，同时兼顾岗位实习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好处：本科学历可以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考公、考编、考研</a:t>
            </a:r>
            <a:r>
              <a:rPr sz="1400" b="0" dirty="0" err="1">
                <a:solidFill>
                  <a:srgbClr val="2B2B2B"/>
                </a:solidFill>
              </a:rPr>
              <a:t>，就业选择面更宽，起薪和晋升空间更大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>
                <a:solidFill>
                  <a:srgbClr val="2B2B2B"/>
                </a:solidFill>
              </a:rPr>
              <a:t>手册里的“</a:t>
            </a:r>
            <a:r>
              <a:rPr sz="1400" b="0" dirty="0" err="1">
                <a:solidFill>
                  <a:srgbClr val="2B2B2B"/>
                </a:solidFill>
              </a:rPr>
              <a:t>加分项</a:t>
            </a:r>
            <a:r>
              <a:rPr sz="1400" b="0" dirty="0">
                <a:solidFill>
                  <a:srgbClr val="2B2B2B"/>
                </a:solidFill>
              </a:rPr>
              <a:t>”：</a:t>
            </a:r>
            <a:r>
              <a:rPr sz="1400" b="0" dirty="0" err="1">
                <a:solidFill>
                  <a:srgbClr val="2B2B2B"/>
                </a:solidFill>
              </a:rPr>
              <a:t>成绩、综测、</a:t>
            </a:r>
            <a:r>
              <a:rPr sz="1400" b="1" dirty="0" err="1">
                <a:solidFill>
                  <a:srgbClr val="001548"/>
                </a:solidFill>
              </a:rPr>
              <a:t>第二课堂成绩单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0" dirty="0" err="1">
                <a:solidFill>
                  <a:srgbClr val="2B2B2B"/>
                </a:solidFill>
              </a:rPr>
              <a:t>都是专升本的重要依据；</a:t>
            </a:r>
            <a:r>
              <a:rPr sz="1400" b="1" dirty="0" err="1">
                <a:solidFill>
                  <a:srgbClr val="001548"/>
                </a:solidFill>
              </a:rPr>
              <a:t>处分记录会拖后腿</a:t>
            </a:r>
            <a:endParaRPr sz="1400" b="1" dirty="0">
              <a:solidFill>
                <a:srgbClr val="001548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现在就能做：养成上课坐前排、当天复习、周末总结的习惯</a:t>
            </a:r>
            <a:endParaRPr sz="1400" b="0" dirty="0">
              <a:solidFill>
                <a:srgbClr val="2B2B2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91504" y="1261872"/>
            <a:ext cx="53035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504" y="1261872"/>
            <a:ext cx="5303520" cy="384048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路线 B：就业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4656" y="1700784"/>
            <a:ext cx="5157216" cy="194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寒暑假多投简历、多实习</a:t>
            </a:r>
            <a:r>
              <a:rPr sz="1400" b="0" dirty="0" err="1">
                <a:solidFill>
                  <a:srgbClr val="2B2B2B"/>
                </a:solidFill>
              </a:rPr>
              <a:t>：从大一暑假开始，哪怕从助理岗做起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实习要找本专业方向</a:t>
            </a:r>
            <a:r>
              <a:rPr sz="1400" b="0" dirty="0" err="1">
                <a:solidFill>
                  <a:srgbClr val="2B2B2B"/>
                </a:solidFill>
              </a:rPr>
              <a:t>（软件开发、网络运维、数据、测试等</a:t>
            </a:r>
            <a:r>
              <a:rPr sz="1400" b="0" dirty="0">
                <a:solidFill>
                  <a:srgbClr val="2B2B2B"/>
                </a:solidFill>
              </a:rPr>
              <a:t>），</a:t>
            </a:r>
            <a:r>
              <a:rPr sz="1400" b="0" dirty="0" err="1">
                <a:solidFill>
                  <a:srgbClr val="2B2B2B"/>
                </a:solidFill>
              </a:rPr>
              <a:t>学到企业真正需要的技能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没有实习经历的同学，到毕业时找工作会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非常困难</a:t>
            </a:r>
            <a:endParaRPr sz="1400" b="1" dirty="0">
              <a:solidFill>
                <a:srgbClr val="001548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积累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作品集</a:t>
            </a:r>
            <a:r>
              <a:rPr sz="1400" b="1" dirty="0">
                <a:solidFill>
                  <a:srgbClr val="001548"/>
                </a:solidFill>
              </a:rPr>
              <a:t> + </a:t>
            </a:r>
            <a:r>
              <a:rPr sz="1400" b="1" dirty="0" err="1">
                <a:solidFill>
                  <a:srgbClr val="001548"/>
                </a:solidFill>
              </a:rPr>
              <a:t>证书</a:t>
            </a:r>
            <a:r>
              <a:rPr sz="1400" b="0" dirty="0" err="1">
                <a:solidFill>
                  <a:srgbClr val="2B2B2B"/>
                </a:solidFill>
              </a:rPr>
              <a:t>：项目代码、计算机等级、软考等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第三年岗位实习按学校要求完成，实习不合格只能结业</a:t>
            </a:r>
            <a:endParaRPr sz="1400" b="0" dirty="0">
              <a:solidFill>
                <a:srgbClr val="2B2B2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5960" y="4489704"/>
            <a:ext cx="10800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5960" y="4489704"/>
            <a:ext cx="73152" cy="1051560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8840" y="4526280"/>
            <a:ext cx="1052568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F08C00"/>
                </a:solidFill>
              </a:rPr>
              <a:t>两条路的共同点</a:t>
            </a:r>
          </a:p>
          <a:p>
            <a:pPr marL="164592" indent="-164592" algn="l">
              <a:lnSpc>
                <a:spcPct val="108000"/>
              </a:lnSpc>
              <a:spcAft>
                <a:spcPts val="200"/>
              </a:spcAft>
              <a:buClr>
                <a:srgbClr val="376FFF"/>
              </a:buClr>
              <a:buFont typeface="Arial"/>
              <a:buChar char="•"/>
            </a:pPr>
            <a:r>
              <a:rPr sz="1350" b="1">
                <a:solidFill>
                  <a:srgbClr val="001548"/>
                </a:solidFill>
              </a:rPr>
              <a:t>不挂科、不违纪、修满第二课堂学分</a:t>
            </a:r>
            <a:r>
              <a:rPr sz="1350" b="0">
                <a:solidFill>
                  <a:srgbClr val="2B2B2B"/>
                </a:solidFill>
              </a:rPr>
              <a:t>是底线；</a:t>
            </a:r>
            <a:r>
              <a:rPr sz="1350" b="1">
                <a:solidFill>
                  <a:srgbClr val="001548"/>
                </a:solidFill>
              </a:rPr>
              <a:t>成绩和综测</a:t>
            </a:r>
            <a:r>
              <a:rPr sz="1350" b="0">
                <a:solidFill>
                  <a:srgbClr val="2B2B2B"/>
                </a:solidFill>
              </a:rPr>
              <a:t> 是通行证；方向可以调整，但不能一直不选。这学期内想清楚，写下来，告诉班主任。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1548"/>
                </a:solidFill>
              </a:rPr>
              <a:t>养成好习惯：身体、学习、环境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695960" y="1261872"/>
            <a:ext cx="345643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960" y="1261872"/>
            <a:ext cx="3456432" cy="384048"/>
          </a:xfrm>
          <a:prstGeom prst="rect">
            <a:avLst/>
          </a:prstGeom>
          <a:solidFill>
            <a:srgbClr val="1F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多锻炼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12" y="1700784"/>
            <a:ext cx="3310128" cy="2542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每天去操场跑一跑，用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Keep、悦跑圈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0" dirty="0" err="1">
                <a:solidFill>
                  <a:srgbClr val="2B2B2B"/>
                </a:solidFill>
              </a:rPr>
              <a:t>等</a:t>
            </a:r>
            <a:r>
              <a:rPr sz="1400" b="0" dirty="0">
                <a:solidFill>
                  <a:srgbClr val="2B2B2B"/>
                </a:solidFill>
              </a:rPr>
              <a:t> APP </a:t>
            </a:r>
            <a:r>
              <a:rPr sz="1400" b="0" dirty="0" err="1">
                <a:solidFill>
                  <a:srgbClr val="2B2B2B"/>
                </a:solidFill>
              </a:rPr>
              <a:t>记录，坚持一个月就有感觉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体测成绩计入综测</a:t>
            </a:r>
            <a:r>
              <a:rPr sz="1400" b="1" dirty="0">
                <a:solidFill>
                  <a:srgbClr val="001548"/>
                </a:solidFill>
              </a:rPr>
              <a:t> 5%</a:t>
            </a:r>
            <a:r>
              <a:rPr sz="1400" b="0" dirty="0">
                <a:solidFill>
                  <a:srgbClr val="2B2B2B"/>
                </a:solidFill>
              </a:rPr>
              <a:t>，</a:t>
            </a:r>
            <a:r>
              <a:rPr sz="1400" b="0" dirty="0" err="1">
                <a:solidFill>
                  <a:srgbClr val="2B2B2B"/>
                </a:solidFill>
              </a:rPr>
              <a:t>三好学生要求体测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良好以上</a:t>
            </a:r>
            <a:endParaRPr sz="1400" b="1" dirty="0">
              <a:solidFill>
                <a:srgbClr val="001548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球类、健身、社团活动都算；晚上</a:t>
            </a:r>
            <a:r>
              <a:rPr sz="1400" b="0" dirty="0">
                <a:solidFill>
                  <a:srgbClr val="2B2B2B"/>
                </a:solidFill>
              </a:rPr>
              <a:t> 23:00 </a:t>
            </a:r>
            <a:r>
              <a:rPr sz="1400" b="0" dirty="0" err="1">
                <a:solidFill>
                  <a:srgbClr val="2B2B2B"/>
                </a:solidFill>
              </a:rPr>
              <a:t>前回宿舍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1FA16B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身体好，学习效率和情绪都会好</a:t>
            </a:r>
            <a:endParaRPr sz="1400" b="0" dirty="0">
              <a:solidFill>
                <a:srgbClr val="2B2B2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35272" y="1261872"/>
            <a:ext cx="345643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5272" y="1261872"/>
            <a:ext cx="3456432" cy="384048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少玩游戏，多学习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8424" y="1700784"/>
            <a:ext cx="3310128" cy="2542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游戏可以玩，但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先完成当天任务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0" dirty="0" err="1">
                <a:solidFill>
                  <a:srgbClr val="2B2B2B"/>
                </a:solidFill>
              </a:rPr>
              <a:t>再玩，设好时间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1" dirty="0" err="1">
                <a:solidFill>
                  <a:srgbClr val="001548"/>
                </a:solidFill>
              </a:rPr>
              <a:t>提高效率</a:t>
            </a:r>
            <a:r>
              <a:rPr sz="1400" b="0" dirty="0" err="1">
                <a:solidFill>
                  <a:srgbClr val="2B2B2B"/>
                </a:solidFill>
              </a:rPr>
              <a:t>：上课坐前排、手机放手机袋、课后</a:t>
            </a:r>
            <a:r>
              <a:rPr sz="1400" b="0" dirty="0">
                <a:solidFill>
                  <a:srgbClr val="2B2B2B"/>
                </a:solidFill>
              </a:rPr>
              <a:t> 10 </a:t>
            </a:r>
            <a:r>
              <a:rPr sz="1400" b="0" dirty="0" err="1">
                <a:solidFill>
                  <a:srgbClr val="2B2B2B"/>
                </a:solidFill>
              </a:rPr>
              <a:t>分钟整理笔记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用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>
                <a:solidFill>
                  <a:srgbClr val="001548"/>
                </a:solidFill>
              </a:rPr>
              <a:t>番茄钟</a:t>
            </a:r>
            <a:r>
              <a:rPr sz="1400" b="0" dirty="0">
                <a:solidFill>
                  <a:srgbClr val="2B2B2B"/>
                </a:solidFill>
              </a:rPr>
              <a:t>（25 </a:t>
            </a:r>
            <a:r>
              <a:rPr sz="1400" b="0" dirty="0" err="1">
                <a:solidFill>
                  <a:srgbClr val="2B2B2B"/>
                </a:solidFill>
              </a:rPr>
              <a:t>分钟专注</a:t>
            </a:r>
            <a:r>
              <a:rPr sz="1400" b="0" dirty="0">
                <a:solidFill>
                  <a:srgbClr val="2B2B2B"/>
                </a:solidFill>
              </a:rPr>
              <a:t> + 5 </a:t>
            </a:r>
            <a:r>
              <a:rPr sz="1400" b="0" dirty="0" err="1">
                <a:solidFill>
                  <a:srgbClr val="2B2B2B"/>
                </a:solidFill>
              </a:rPr>
              <a:t>分钟休息</a:t>
            </a:r>
            <a:r>
              <a:rPr sz="1400" b="0" dirty="0">
                <a:solidFill>
                  <a:srgbClr val="2B2B2B"/>
                </a:solidFill>
              </a:rPr>
              <a:t>），</a:t>
            </a:r>
            <a:r>
              <a:rPr sz="1400" b="0" dirty="0" err="1">
                <a:solidFill>
                  <a:srgbClr val="2B2B2B"/>
                </a:solidFill>
              </a:rPr>
              <a:t>碎片时间背单词、看专业视频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376FFF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别熬夜：晚睡影响第二天出勤，迟到早退都扣综测分</a:t>
            </a:r>
            <a:endParaRPr sz="1400" b="0" dirty="0">
              <a:solidFill>
                <a:srgbClr val="2B2B2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74584" y="1261872"/>
            <a:ext cx="345643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74584" y="1261872"/>
            <a:ext cx="3456432" cy="38404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多泡图书馆，少呆宿舍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7736" y="1700784"/>
            <a:ext cx="3310128" cy="2542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F08C00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宿舍人多、干扰多，</a:t>
            </a:r>
            <a:r>
              <a:rPr sz="1400" b="1" dirty="0" err="1">
                <a:solidFill>
                  <a:srgbClr val="001548"/>
                </a:solidFill>
              </a:rPr>
              <a:t>学习容易分心</a:t>
            </a:r>
            <a:r>
              <a:rPr sz="1400" b="0" dirty="0" err="1">
                <a:solidFill>
                  <a:srgbClr val="2B2B2B"/>
                </a:solidFill>
              </a:rPr>
              <a:t>；把宿舍留给休息和社交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F08C00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图书馆、自习室、空教室是你的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主战场</a:t>
            </a:r>
            <a:r>
              <a:rPr sz="1400" b="0" dirty="0" err="1">
                <a:solidFill>
                  <a:srgbClr val="2B2B2B"/>
                </a:solidFill>
              </a:rPr>
              <a:t>，入馆教育后尽快熟悉资源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F08C00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找</a:t>
            </a:r>
            <a:r>
              <a:rPr sz="1400" b="0" dirty="0">
                <a:solidFill>
                  <a:srgbClr val="2B2B2B"/>
                </a:solidFill>
              </a:rPr>
              <a:t> 2–3 </a:t>
            </a:r>
            <a:r>
              <a:rPr sz="1400" b="0" dirty="0" err="1">
                <a:solidFill>
                  <a:srgbClr val="2B2B2B"/>
                </a:solidFill>
              </a:rPr>
              <a:t>个学习伙伴</a:t>
            </a:r>
            <a:r>
              <a:rPr sz="1400" b="0" dirty="0">
                <a:solidFill>
                  <a:srgbClr val="2B2B2B"/>
                </a:solidFill>
              </a:rPr>
              <a:t> </a:t>
            </a:r>
            <a:r>
              <a:rPr sz="1400" b="1" dirty="0" err="1">
                <a:solidFill>
                  <a:srgbClr val="001548"/>
                </a:solidFill>
              </a:rPr>
              <a:t>一起自习</a:t>
            </a:r>
            <a:r>
              <a:rPr sz="1400" b="0" dirty="0" err="1">
                <a:solidFill>
                  <a:srgbClr val="2B2B2B"/>
                </a:solidFill>
              </a:rPr>
              <a:t>，互相监督</a:t>
            </a:r>
            <a:endParaRPr sz="1400" b="0" dirty="0">
              <a:solidFill>
                <a:srgbClr val="2B2B2B"/>
              </a:solidFill>
            </a:endParaRPr>
          </a:p>
          <a:p>
            <a:pPr marL="164592" indent="-164592" algn="l">
              <a:lnSpc>
                <a:spcPct val="106000"/>
              </a:lnSpc>
              <a:spcAft>
                <a:spcPts val="600"/>
              </a:spcAft>
              <a:buClr>
                <a:srgbClr val="F08C00"/>
              </a:buClr>
              <a:buFont typeface="Arial"/>
              <a:buChar char="•"/>
            </a:pPr>
            <a:r>
              <a:rPr sz="1400" b="0" dirty="0" err="1">
                <a:solidFill>
                  <a:srgbClr val="2B2B2B"/>
                </a:solidFill>
              </a:rPr>
              <a:t>周末别整天躺床上：运动、图书馆、社团、兼职实习，任选一样</a:t>
            </a:r>
            <a:endParaRPr sz="1400" b="0" dirty="0">
              <a:solidFill>
                <a:srgbClr val="2B2B2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5960" y="4462272"/>
            <a:ext cx="10800000" cy="1005840"/>
          </a:xfrm>
          <a:prstGeom prst="rect">
            <a:avLst/>
          </a:prstGeom>
          <a:solidFill>
            <a:srgbClr val="00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560" y="4480560"/>
            <a:ext cx="10434240" cy="96926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500" b="1" dirty="0" err="1">
                <a:solidFill>
                  <a:srgbClr val="FFD166"/>
                </a:solidFill>
              </a:rPr>
              <a:t>三年很短，习惯决定终点</a:t>
            </a:r>
            <a:endParaRPr sz="1500" b="1" dirty="0">
              <a:solidFill>
                <a:srgbClr val="FFD166"/>
              </a:solidFill>
            </a:endParaRPr>
          </a:p>
          <a:p>
            <a:pPr marL="0" indent="0" algn="l">
              <a:lnSpc>
                <a:spcPct val="108000"/>
              </a:lnSpc>
              <a:spcAft>
                <a:spcPts val="300"/>
              </a:spcAft>
              <a:buNone/>
            </a:pPr>
            <a:r>
              <a:rPr sz="1300" b="0" dirty="0" err="1">
                <a:solidFill>
                  <a:srgbClr val="FFFFFF"/>
                </a:solidFill>
              </a:rPr>
              <a:t>有困难随时找班主任、辅导员、班助；宿舍矛盾、情绪低落、经济困难都可以说，学校有心理中心和资助中心。</a:t>
            </a:r>
            <a:r>
              <a:rPr sz="1300" b="1" dirty="0" err="1">
                <a:solidFill>
                  <a:srgbClr val="FFFFFF"/>
                </a:solidFill>
              </a:rPr>
              <a:t>不要一个人扛</a:t>
            </a:r>
            <a:r>
              <a:rPr sz="1300" b="1" dirty="0">
                <a:solidFill>
                  <a:srgbClr val="FFFFFF"/>
                </a:solidFill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r">
              <a:lnSpc>
                <a:spcPct val="108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5A6478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谢谢大家</a:t>
            </a:r>
          </a:p>
          <a:p>
            <a:r>
              <a:t>祝三年顺利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108800" y="828000"/>
            <a:ext cx="7863840" cy="504000"/>
          </a:xfrm>
        </p:spPr>
        <p:txBody>
          <a:bodyPr/>
          <a:lstStyle/>
          <a:p>
            <a:r>
              <a:t>广西水利电力职业技术学院 · 信息工程学院 · 计算机应用技术6班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1108800" y="4093200"/>
            <a:ext cx="5943600" cy="504000"/>
          </a:xfrm>
        </p:spPr>
        <p:txBody>
          <a:bodyPr/>
          <a:lstStyle/>
          <a:p>
            <a:r>
              <a:t>班主任 顾佳凯  ·  2026年9月13日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KSO_WPP_MARK_KEY" val="abc6a601-e99f-4f63-a645-2e01033bbbfd"/>
  <p:tag name="COMMONDATA" val="eyJoZGlkIjoiNWU0Y2RkOTE2OTJlMDlmYzdjMmJjNjNkMTYxYWQy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59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859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599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6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0"/>
  <p:tag name="KSO_WM_UNIT_TYPE" val="f"/>
  <p:tag name="KSO_WM_UNIT_INDEX" val="6"/>
  <p:tag name="KSO_WM_UNIT_SUBTYPE" val="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599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859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599_4*a*1"/>
  <p:tag name="KSO_WM_TEMPLATE_CATEGORY" val="custom"/>
  <p:tag name="KSO_WM_TEMPLATE_INDEX" val="2023859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_INDEX" val="0"/>
  <p:tag name="KSO_WM_UNIT_PRESET_TEXT_LEN" val="0"/>
  <p:tag name="KSO_WM_UNIT_TEXT_FILL_FORE_SCHEMECOLOR_INDEX" val="5"/>
  <p:tag name="KSO_WM_UNIT_TEXT_FILL_TYPE" val="1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8599_4*l_h_i*1_1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custom20238599_4*l_h_f*1_1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UNIT_SUBTYPE" val="a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FILL_FORE_SCHEMECOLOR_INDEX" val="13"/>
  <p:tag name="KSO_WM_UNIT_TEXT_FILL_TYPE" val="1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8599_4*l_h_i*1_2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custom20238599_4*l_h_f*1_2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UNIT_SUBTYPE" val="a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FILL_FORE_SCHEMECOLOR_INDEX" val="13"/>
  <p:tag name="KSO_WM_UNIT_TEXT_FILL_TYPE" val="1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8599_4*l_h_i*1_3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custom20238599_4*l_h_f*1_3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UNIT_SUBTYPE" val="a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8599_4*l_h_i*1_4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custom20238599_4*l_h_f*1_4_1"/>
  <p:tag name="KSO_WM_TEMPLATE_CATEGORY" val="custom"/>
  <p:tag name="KSO_WM_TEMPLATE_INDEX" val="20238599"/>
  <p:tag name="KSO_WM_UNIT_LAYERLEVEL" val="1_1_1"/>
  <p:tag name="KSO_WM_TAG_VERSION" val="3.0"/>
  <p:tag name="KSO_WM_BEAUTIFY_FLAG" val="#wm#"/>
  <p:tag name="KSO_WM_UNIT_SUBTYPE" val="a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242.8167724609375,&quot;width&quot;:718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主题​​">
  <a:themeElements>
    <a:clrScheme name="自定义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3448C"/>
      </a:accent1>
      <a:accent2>
        <a:srgbClr val="03448C"/>
      </a:accent2>
      <a:accent3>
        <a:srgbClr val="03448C"/>
      </a:accent3>
      <a:accent4>
        <a:srgbClr val="03448C"/>
      </a:accent4>
      <a:accent5>
        <a:srgbClr val="03448C"/>
      </a:accent5>
      <a:accent6>
        <a:srgbClr val="03448C"/>
      </a:accent6>
      <a:hlink>
        <a:srgbClr val="009999"/>
      </a:hlink>
      <a:folHlink>
        <a:srgbClr val="99CC00"/>
      </a:folHlink>
    </a:clrScheme>
    <a:fontScheme name="evv32p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浅色背景职场办公">
  <a:themeElements>
    <a:clrScheme name="简约风浅色背景">
      <a:dk1>
        <a:srgbClr val="000000"/>
      </a:dk1>
      <a:lt1>
        <a:srgbClr val="FFFFFF"/>
      </a:lt1>
      <a:dk2>
        <a:srgbClr val="001548"/>
      </a:dk2>
      <a:lt2>
        <a:srgbClr val="E5ECFF"/>
      </a:lt2>
      <a:accent1>
        <a:srgbClr val="376FFF"/>
      </a:accent1>
      <a:accent2>
        <a:srgbClr val="37AAFF"/>
      </a:accent2>
      <a:accent3>
        <a:srgbClr val="00CAEE"/>
      </a:accent3>
      <a:accent4>
        <a:srgbClr val="00C8B3"/>
      </a:accent4>
      <a:accent5>
        <a:srgbClr val="00DC87"/>
      </a:accent5>
      <a:accent6>
        <a:srgbClr val="00D213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3126</Words>
  <Application>Microsoft Macintosh PowerPoint</Application>
  <PresentationFormat>Widescreen</PresentationFormat>
  <Paragraphs>450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等线</vt:lpstr>
      <vt:lpstr>微软雅黑</vt:lpstr>
      <vt:lpstr>Arial</vt:lpstr>
      <vt:lpstr>Calibri</vt:lpstr>
      <vt:lpstr>Office 主题​​</vt:lpstr>
      <vt:lpstr>简约风浅色背景职场办公</vt:lpstr>
      <vt:lpstr>PowerPoint Presentation</vt:lpstr>
      <vt:lpstr>目录</vt:lpstr>
      <vt:lpstr>自我介绍</vt:lpstr>
      <vt:lpstr>自我介绍：每人 1 分钟，说清这几件事</vt:lpstr>
      <vt:lpstr>班委竞选</vt:lpstr>
      <vt:lpstr>班委岗位一览：你适合哪一个？</vt:lpstr>
      <vt:lpstr>当班委：能收获什么、要付出什么、怎么选</vt:lpstr>
      <vt:lpstr>学生手册带学</vt:lpstr>
      <vt:lpstr>为什么要认真学《学生手册》：会考试，而且和你息息相关</vt:lpstr>
      <vt:lpstr>学籍管理：记住这些数字</vt:lpstr>
      <vt:lpstr>考勤与请假：旷课是最常见的“踩线”</vt:lpstr>
      <vt:lpstr>考试、成绩与考场纪律</vt:lpstr>
      <vt:lpstr>违纪处分：五档处分与常见“红线”</vt:lpstr>
      <vt:lpstr>宿舍管理：晚归、用电、留宿是三大高发问题</vt:lpstr>
      <vt:lpstr>综合素质测评与评优：成绩不是唯一，但很关键</vt:lpstr>
      <vt:lpstr>奖助学金一览：钱从哪里来、条件是什么</vt:lpstr>
      <vt:lpstr>第二课堂成绩单与推优入党</vt:lpstr>
      <vt:lpstr>班主任交代</vt:lpstr>
      <vt:lpstr>校园网使用：上网不是匿名的</vt:lpstr>
      <vt:lpstr>防范电信网络诈骗：大学生是重点目标</vt:lpstr>
      <vt:lpstr>尽快适应大学：先锚定方向，再往前走</vt:lpstr>
      <vt:lpstr>养成好习惯：身体、学习、环境</vt:lpstr>
      <vt:lpstr>谢谢大家 祝三年顺利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jiakai</cp:lastModifiedBy>
  <cp:revision>378</cp:revision>
  <cp:lastPrinted>2021-11-22T08:51:00Z</cp:lastPrinted>
  <dcterms:created xsi:type="dcterms:W3CDTF">2021-11-22T07:08:00Z</dcterms:created>
  <dcterms:modified xsi:type="dcterms:W3CDTF">2026-09-13T06:17:19Z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A0EA79232555475D98CBAC3555324667_13</vt:lpwstr>
  </property>
  <property fmtid="{D5CDD505-2E9C-101B-9397-08002B2CF9AE}" pid="3" name="KSOProductBuildVer">
    <vt:lpwstr>2052-12.1.0.21915</vt:lpwstr>
  </property>
</Properties>
</file>